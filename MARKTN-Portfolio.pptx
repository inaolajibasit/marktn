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the21mag.com/beauty-hut-hosts-its-first-ever-brand-trip/" TargetMode="External"/><Relationship Id="rId2" Type="http://schemas.openxmlformats.org/officeDocument/2006/relationships/hyperlink" Target="https://marieclaire.ng/breathe-in-beguile-debut-event/" TargetMode="External"/><Relationship Id="rId3" Type="http://schemas.openxmlformats.org/officeDocument/2006/relationships/hyperlink" Target="https://marieclaire.ng/loreal-professionnel-paris-launches-at-beauty-hut-africa-bringing-world-class-haircare-to-lagos-leading-beauty-destination/" TargetMode="External"/><Relationship Id="rId4" Type="http://schemas.openxmlformats.org/officeDocument/2006/relationships/hyperlink" Target="https://www.prnewswire.com/news-releases/beguile-introduces-golden-kiss" TargetMode="External"/><Relationship Id="rId5" Type="http://schemas.openxmlformats.org/officeDocument/2006/relationships/hyperlink" Target="https://www.businessoffashion.com" TargetMode="External"/><Relationship Id="rId6" Type="http://schemas.openxmlformats.org/officeDocument/2006/relationships/hyperlink" Target="https://marieclaire.ng/danessa-myricks-debuts-in-nigeria-with-beauty-hut/" TargetMode="External"/><Relationship Id="rId7" Type="http://schemas.openxmlformats.org/officeDocument/2006/relationships/hyperlink" Target="https://beautymatter.com" TargetMode="External"/><Relationship Id="rId8" Type="http://schemas.openxmlformats.org/officeDocument/2006/relationships/hyperlink" Target="https://culturecustodian.com/ayra-starr-and-tyla-are-soundtracking-our-summer/" TargetMode="External"/><Relationship Id="rId9" Type="http://schemas.openxmlformats.org/officeDocument/2006/relationships/hyperlink" Target="https://medium.com/the-redrick-gazette/why-is-everyone-so-obsessed-with-gen-zs-0fb51abe225c" TargetMode="External"/><Relationship Id="rId10" Type="http://schemas.openxmlformats.org/officeDocument/2006/relationships/slideLayout" Target="../slideLayouts/slideLayout1.xml"/><Relationship Id="rId11"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0810"/>
        </a:solidFill>
      </p:bgPr>
    </p:bg>
    <p:spTree>
      <p:nvGrpSpPr>
        <p:cNvPr id="1" name=""/>
        <p:cNvGrpSpPr/>
        <p:nvPr/>
      </p:nvGrpSpPr>
      <p:grpSpPr>
        <a:xfrm>
          <a:off x="0" y="0"/>
          <a:ext cx="0" cy="0"/>
          <a:chOff x="0" y="0"/>
          <a:chExt cx="0" cy="0"/>
        </a:xfrm>
      </p:grpSpPr>
      <p:sp>
        <p:nvSpPr>
          <p:cNvPr id="2" name="Shape 0"/>
          <p:cNvSpPr/>
          <p:nvPr/>
        </p:nvSpPr>
        <p:spPr>
          <a:xfrm>
            <a:off x="0" y="0"/>
            <a:ext cx="5029200" cy="5143500"/>
          </a:xfrm>
          <a:prstGeom prst="rect">
            <a:avLst/>
          </a:prstGeom>
          <a:solidFill>
            <a:srgbClr val="9E4F6B"/>
          </a:solidFill>
          <a:ln w="12700">
            <a:solidFill>
              <a:srgbClr val="9E4F6B"/>
            </a:solidFill>
            <a:prstDash val="solid"/>
          </a:ln>
        </p:spPr>
      </p:sp>
      <p:sp>
        <p:nvSpPr>
          <p:cNvPr id="3" name="Shape 1"/>
          <p:cNvSpPr/>
          <p:nvPr/>
        </p:nvSpPr>
        <p:spPr>
          <a:xfrm>
            <a:off x="0" y="4389120"/>
            <a:ext cx="5029200" cy="754380"/>
          </a:xfrm>
          <a:prstGeom prst="rect">
            <a:avLst/>
          </a:prstGeom>
          <a:solidFill>
            <a:srgbClr val="7A3B53"/>
          </a:solidFill>
          <a:ln w="12700">
            <a:solidFill>
              <a:srgbClr val="7A3B53"/>
            </a:solidFill>
            <a:prstDash val="solid"/>
          </a:ln>
        </p:spPr>
      </p:sp>
      <p:sp>
        <p:nvSpPr>
          <p:cNvPr id="4" name="Shape 2"/>
          <p:cNvSpPr/>
          <p:nvPr/>
        </p:nvSpPr>
        <p:spPr>
          <a:xfrm>
            <a:off x="3474720" y="-182880"/>
            <a:ext cx="2011680" cy="2011680"/>
          </a:xfrm>
          <a:prstGeom prst="ellipse">
            <a:avLst/>
          </a:prstGeom>
          <a:solidFill>
            <a:srgbClr val="7A3B53">
              <a:alpha val="35000"/>
            </a:srgbClr>
          </a:solidFill>
          <a:ln w="12700">
            <a:solidFill>
              <a:srgbClr val="7A3B53">
                <a:alpha val="35000"/>
              </a:srgbClr>
            </a:solidFill>
            <a:prstDash val="solid"/>
          </a:ln>
        </p:spPr>
      </p:sp>
      <p:sp>
        <p:nvSpPr>
          <p:cNvPr id="5" name="Shape 3"/>
          <p:cNvSpPr/>
          <p:nvPr/>
        </p:nvSpPr>
        <p:spPr>
          <a:xfrm>
            <a:off x="-548640" y="3657600"/>
            <a:ext cx="1645920" cy="1645920"/>
          </a:xfrm>
          <a:prstGeom prst="ellipse">
            <a:avLst/>
          </a:prstGeom>
          <a:solidFill>
            <a:srgbClr val="7A3B53">
              <a:alpha val="40000"/>
            </a:srgbClr>
          </a:solidFill>
          <a:ln w="12700">
            <a:solidFill>
              <a:srgbClr val="7A3B53">
                <a:alpha val="40000"/>
              </a:srgbClr>
            </a:solidFill>
            <a:prstDash val="solid"/>
          </a:ln>
        </p:spPr>
      </p:sp>
      <p:sp>
        <p:nvSpPr>
          <p:cNvPr id="6" name="Shape 4"/>
          <p:cNvSpPr/>
          <p:nvPr/>
        </p:nvSpPr>
        <p:spPr>
          <a:xfrm>
            <a:off x="6583680" y="4114800"/>
            <a:ext cx="2286000" cy="2286000"/>
          </a:xfrm>
          <a:prstGeom prst="ellipse">
            <a:avLst/>
          </a:prstGeom>
          <a:solidFill>
            <a:srgbClr val="9E4F6B">
              <a:alpha val="30000"/>
            </a:srgbClr>
          </a:solidFill>
          <a:ln w="12700">
            <a:solidFill>
              <a:srgbClr val="9E4F6B">
                <a:alpha val="30000"/>
              </a:srgbClr>
            </a:solidFill>
            <a:prstDash val="solid"/>
          </a:ln>
        </p:spPr>
      </p:sp>
      <p:sp>
        <p:nvSpPr>
          <p:cNvPr id="7" name="Shape 5"/>
          <p:cNvSpPr/>
          <p:nvPr/>
        </p:nvSpPr>
        <p:spPr>
          <a:xfrm>
            <a:off x="4389120" y="2377440"/>
            <a:ext cx="274320" cy="274320"/>
          </a:xfrm>
          <a:prstGeom prst="ellipse">
            <a:avLst/>
          </a:prstGeom>
          <a:solidFill>
            <a:srgbClr val="B8923A"/>
          </a:solidFill>
          <a:ln w="12700">
            <a:solidFill>
              <a:srgbClr val="B8923A"/>
            </a:solidFill>
            <a:prstDash val="solid"/>
          </a:ln>
        </p:spPr>
      </p:sp>
      <p:sp>
        <p:nvSpPr>
          <p:cNvPr id="8" name="Shape 6"/>
          <p:cNvSpPr/>
          <p:nvPr/>
        </p:nvSpPr>
        <p:spPr>
          <a:xfrm>
            <a:off x="7772400" y="731520"/>
            <a:ext cx="164592" cy="164592"/>
          </a:xfrm>
          <a:prstGeom prst="ellipse">
            <a:avLst/>
          </a:prstGeom>
          <a:solidFill>
            <a:srgbClr val="B8923A"/>
          </a:solidFill>
          <a:ln w="12700">
            <a:solidFill>
              <a:srgbClr val="B8923A"/>
            </a:solidFill>
            <a:prstDash val="solid"/>
          </a:ln>
        </p:spPr>
      </p:sp>
      <p:pic>
        <p:nvPicPr>
          <p:cNvPr id="9" name="Image 0" descr="preencoded.png">    </p:cNvPr>
          <p:cNvPicPr>
            <a:picLocks noChangeAspect="1"/>
          </p:cNvPicPr>
          <p:nvPr/>
        </p:nvPicPr>
        <p:blipFill>
          <a:blip r:embed="rId1"/>
          <a:stretch>
            <a:fillRect/>
          </a:stretch>
        </p:blipFill>
        <p:spPr>
          <a:xfrm>
            <a:off x="411480" y="347472"/>
            <a:ext cx="3017520" cy="960120"/>
          </a:xfrm>
          <a:prstGeom prst="rect">
            <a:avLst/>
          </a:prstGeom>
        </p:spPr>
      </p:pic>
      <p:sp>
        <p:nvSpPr>
          <p:cNvPr id="10" name="Text 7"/>
          <p:cNvSpPr/>
          <p:nvPr/>
        </p:nvSpPr>
        <p:spPr>
          <a:xfrm>
            <a:off x="411480" y="1389888"/>
            <a:ext cx="3017520" cy="274320"/>
          </a:xfrm>
          <a:prstGeom prst="rect">
            <a:avLst/>
          </a:prstGeom>
          <a:noFill/>
          <a:ln/>
        </p:spPr>
        <p:txBody>
          <a:bodyPr wrap="square" rtlCol="0" anchor="t"/>
          <a:lstStyle/>
          <a:p>
            <a:pPr algn="ctr" indent="0" marL="0">
              <a:buNone/>
            </a:pPr>
            <a:r>
              <a:rPr lang="en-US" sz="900" i="1" dirty="0">
                <a:solidFill>
                  <a:srgbClr val="E0D4BC"/>
                </a:solidFill>
                <a:latin typeface="Georgia" pitchFamily="34" charset="0"/>
                <a:ea typeface="Georgia" pitchFamily="34" charset="-122"/>
                <a:cs typeface="Georgia" pitchFamily="34" charset="-120"/>
              </a:rPr>
              <a:t>Perception is Different</a:t>
            </a:r>
            <a:endParaRPr lang="en-US" sz="900" dirty="0"/>
          </a:p>
        </p:txBody>
      </p:sp>
      <p:sp>
        <p:nvSpPr>
          <p:cNvPr id="11" name="Shape 8"/>
          <p:cNvSpPr/>
          <p:nvPr/>
        </p:nvSpPr>
        <p:spPr>
          <a:xfrm>
            <a:off x="594360" y="1737360"/>
            <a:ext cx="2743200" cy="0"/>
          </a:xfrm>
          <a:prstGeom prst="line">
            <a:avLst/>
          </a:prstGeom>
          <a:noFill/>
          <a:ln w="5080">
            <a:solidFill>
              <a:srgbClr val="E0D4BC"/>
            </a:solidFill>
            <a:prstDash val="solid"/>
          </a:ln>
        </p:spPr>
      </p:sp>
      <p:sp>
        <p:nvSpPr>
          <p:cNvPr id="12" name="Text 9"/>
          <p:cNvSpPr/>
          <p:nvPr/>
        </p:nvSpPr>
        <p:spPr>
          <a:xfrm>
            <a:off x="347472" y="1847088"/>
            <a:ext cx="3474720" cy="502920"/>
          </a:xfrm>
          <a:prstGeom prst="rect">
            <a:avLst/>
          </a:prstGeom>
          <a:noFill/>
          <a:ln/>
        </p:spPr>
        <p:txBody>
          <a:bodyPr wrap="square" rtlCol="0" anchor="t"/>
          <a:lstStyle/>
          <a:p>
            <a:pPr algn="ctr" indent="0" marL="0">
              <a:buNone/>
            </a:pPr>
            <a:r>
              <a:rPr lang="en-US" sz="2800" b="1" spc="400" kern="0" dirty="0">
                <a:solidFill>
                  <a:srgbClr val="F5EFE0"/>
                </a:solidFill>
                <a:latin typeface="Calibri" pitchFamily="34" charset="0"/>
                <a:ea typeface="Calibri" pitchFamily="34" charset="-122"/>
                <a:cs typeface="Calibri" pitchFamily="34" charset="-120"/>
              </a:rPr>
              <a:t>ONYEKA</a:t>
            </a:r>
            <a:endParaRPr lang="en-US" sz="2800" dirty="0"/>
          </a:p>
        </p:txBody>
      </p:sp>
      <p:sp>
        <p:nvSpPr>
          <p:cNvPr id="13" name="Text 10"/>
          <p:cNvSpPr/>
          <p:nvPr/>
        </p:nvSpPr>
        <p:spPr>
          <a:xfrm>
            <a:off x="347472" y="2331720"/>
            <a:ext cx="3474720" cy="502920"/>
          </a:xfrm>
          <a:prstGeom prst="rect">
            <a:avLst/>
          </a:prstGeom>
          <a:noFill/>
          <a:ln/>
        </p:spPr>
        <p:txBody>
          <a:bodyPr wrap="square" rtlCol="0" anchor="t"/>
          <a:lstStyle/>
          <a:p>
            <a:pPr algn="ctr" indent="0" marL="0">
              <a:buNone/>
            </a:pPr>
            <a:r>
              <a:rPr lang="en-US" sz="2800" b="1" spc="400" kern="0" dirty="0">
                <a:solidFill>
                  <a:srgbClr val="F5EFE0"/>
                </a:solidFill>
                <a:latin typeface="Calibri" pitchFamily="34" charset="0"/>
                <a:ea typeface="Calibri" pitchFamily="34" charset="-122"/>
                <a:cs typeface="Calibri" pitchFamily="34" charset="-120"/>
              </a:rPr>
              <a:t>NWONAH</a:t>
            </a:r>
            <a:endParaRPr lang="en-US" sz="2800" dirty="0"/>
          </a:p>
        </p:txBody>
      </p:sp>
      <p:sp>
        <p:nvSpPr>
          <p:cNvPr id="14" name="Text 11"/>
          <p:cNvSpPr/>
          <p:nvPr/>
        </p:nvSpPr>
        <p:spPr>
          <a:xfrm>
            <a:off x="347472" y="2889504"/>
            <a:ext cx="3474720" cy="228600"/>
          </a:xfrm>
          <a:prstGeom prst="rect">
            <a:avLst/>
          </a:prstGeom>
          <a:noFill/>
          <a:ln/>
        </p:spPr>
        <p:txBody>
          <a:bodyPr wrap="square" rtlCol="0" anchor="t"/>
          <a:lstStyle/>
          <a:p>
            <a:pPr algn="ctr" indent="0" marL="0">
              <a:buNone/>
            </a:pPr>
            <a:r>
              <a:rPr lang="en-US" sz="800" dirty="0">
                <a:solidFill>
                  <a:srgbClr val="E8C8D5"/>
                </a:solidFill>
                <a:latin typeface="Calibri" pitchFamily="34" charset="0"/>
                <a:ea typeface="Calibri" pitchFamily="34" charset="-122"/>
                <a:cs typeface="Calibri" pitchFamily="34" charset="-120"/>
              </a:rPr>
              <a:t>PR &amp; Brand Strategist  ·  Founder, marktn PR</a:t>
            </a:r>
            <a:endParaRPr lang="en-US" sz="800" dirty="0"/>
          </a:p>
        </p:txBody>
      </p:sp>
      <p:sp>
        <p:nvSpPr>
          <p:cNvPr id="15" name="Text 12"/>
          <p:cNvSpPr/>
          <p:nvPr/>
        </p:nvSpPr>
        <p:spPr>
          <a:xfrm>
            <a:off x="475488" y="3291840"/>
            <a:ext cx="960120" cy="438912"/>
          </a:xfrm>
          <a:prstGeom prst="rect">
            <a:avLst/>
          </a:prstGeom>
          <a:noFill/>
          <a:ln/>
        </p:spPr>
        <p:txBody>
          <a:bodyPr wrap="square" rtlCol="0" anchor="t"/>
          <a:lstStyle/>
          <a:p>
            <a:pPr algn="ctr" indent="0" marL="0">
              <a:buNone/>
            </a:pPr>
            <a:r>
              <a:rPr lang="en-US" sz="2600" b="1" dirty="0">
                <a:solidFill>
                  <a:srgbClr val="D4A84B"/>
                </a:solidFill>
                <a:latin typeface="Georgia" pitchFamily="34" charset="0"/>
                <a:ea typeface="Georgia" pitchFamily="34" charset="-122"/>
                <a:cs typeface="Georgia" pitchFamily="34" charset="-120"/>
              </a:rPr>
              <a:t> 5+</a:t>
            </a:r>
            <a:endParaRPr lang="en-US" sz="2600" dirty="0"/>
          </a:p>
        </p:txBody>
      </p:sp>
      <p:sp>
        <p:nvSpPr>
          <p:cNvPr id="16" name="Text 13"/>
          <p:cNvSpPr/>
          <p:nvPr/>
        </p:nvSpPr>
        <p:spPr>
          <a:xfrm>
            <a:off x="475488" y="3730752"/>
            <a:ext cx="960120" cy="292608"/>
          </a:xfrm>
          <a:prstGeom prst="rect">
            <a:avLst/>
          </a:prstGeom>
          <a:noFill/>
          <a:ln/>
        </p:spPr>
        <p:txBody>
          <a:bodyPr wrap="square" rtlCol="0" anchor="t"/>
          <a:lstStyle/>
          <a:p>
            <a:pPr algn="ctr" indent="0" marL="0">
              <a:buNone/>
            </a:pPr>
            <a:r>
              <a:rPr lang="en-US" sz="650" spc="100" kern="0" dirty="0">
                <a:solidFill>
                  <a:srgbClr val="E0D4BC"/>
                </a:solidFill>
                <a:latin typeface="Calibri" pitchFamily="34" charset="0"/>
                <a:ea typeface="Calibri" pitchFamily="34" charset="-122"/>
                <a:cs typeface="Calibri" pitchFamily="34" charset="-120"/>
              </a:rPr>
              <a:t>Years</a:t>
            </a:r>
            <a:endParaRPr lang="en-US" sz="650" dirty="0"/>
          </a:p>
        </p:txBody>
      </p:sp>
      <p:sp>
        <p:nvSpPr>
          <p:cNvPr id="17" name="Text 14"/>
          <p:cNvSpPr/>
          <p:nvPr/>
        </p:nvSpPr>
        <p:spPr>
          <a:xfrm>
            <a:off x="1572768" y="3291840"/>
            <a:ext cx="960120" cy="438912"/>
          </a:xfrm>
          <a:prstGeom prst="rect">
            <a:avLst/>
          </a:prstGeom>
          <a:noFill/>
          <a:ln/>
        </p:spPr>
        <p:txBody>
          <a:bodyPr wrap="square" rtlCol="0" anchor="t"/>
          <a:lstStyle/>
          <a:p>
            <a:pPr algn="ctr" indent="0" marL="0">
              <a:buNone/>
            </a:pPr>
            <a:r>
              <a:rPr lang="en-US" sz="2600" b="1" dirty="0">
                <a:solidFill>
                  <a:srgbClr val="D4A84B"/>
                </a:solidFill>
                <a:latin typeface="Georgia" pitchFamily="34" charset="0"/>
                <a:ea typeface="Georgia" pitchFamily="34" charset="-122"/>
                <a:cs typeface="Georgia" pitchFamily="34" charset="-120"/>
              </a:rPr>
              <a:t> 40+</a:t>
            </a:r>
            <a:endParaRPr lang="en-US" sz="2600" dirty="0"/>
          </a:p>
        </p:txBody>
      </p:sp>
      <p:sp>
        <p:nvSpPr>
          <p:cNvPr id="18" name="Text 15"/>
          <p:cNvSpPr/>
          <p:nvPr/>
        </p:nvSpPr>
        <p:spPr>
          <a:xfrm>
            <a:off x="1572768" y="3730752"/>
            <a:ext cx="960120" cy="292608"/>
          </a:xfrm>
          <a:prstGeom prst="rect">
            <a:avLst/>
          </a:prstGeom>
          <a:noFill/>
          <a:ln/>
        </p:spPr>
        <p:txBody>
          <a:bodyPr wrap="square" rtlCol="0" anchor="t"/>
          <a:lstStyle/>
          <a:p>
            <a:pPr algn="ctr" indent="0" marL="0">
              <a:buNone/>
            </a:pPr>
            <a:r>
              <a:rPr lang="en-US" sz="650" spc="100" kern="0" dirty="0">
                <a:solidFill>
                  <a:srgbClr val="E0D4BC"/>
                </a:solidFill>
                <a:latin typeface="Calibri" pitchFamily="34" charset="0"/>
                <a:ea typeface="Calibri" pitchFamily="34" charset="-122"/>
                <a:cs typeface="Calibri" pitchFamily="34" charset="-120"/>
              </a:rPr>
              <a:t>Campaigns</a:t>
            </a:r>
            <a:endParaRPr lang="en-US" sz="650" dirty="0"/>
          </a:p>
        </p:txBody>
      </p:sp>
      <p:sp>
        <p:nvSpPr>
          <p:cNvPr id="19" name="Text 16"/>
          <p:cNvSpPr/>
          <p:nvPr/>
        </p:nvSpPr>
        <p:spPr>
          <a:xfrm>
            <a:off x="2670048" y="3291840"/>
            <a:ext cx="960120" cy="438912"/>
          </a:xfrm>
          <a:prstGeom prst="rect">
            <a:avLst/>
          </a:prstGeom>
          <a:noFill/>
          <a:ln/>
        </p:spPr>
        <p:txBody>
          <a:bodyPr wrap="square" rtlCol="0" anchor="t"/>
          <a:lstStyle/>
          <a:p>
            <a:pPr algn="ctr" indent="0" marL="0">
              <a:buNone/>
            </a:pPr>
            <a:r>
              <a:rPr lang="en-US" sz="2600" b="1" dirty="0">
                <a:solidFill>
                  <a:srgbClr val="D4A84B"/>
                </a:solidFill>
                <a:latin typeface="Georgia" pitchFamily="34" charset="0"/>
                <a:ea typeface="Georgia" pitchFamily="34" charset="-122"/>
                <a:cs typeface="Georgia" pitchFamily="34" charset="-120"/>
              </a:rPr>
              <a:t>  3</a:t>
            </a:r>
            <a:endParaRPr lang="en-US" sz="2600" dirty="0"/>
          </a:p>
        </p:txBody>
      </p:sp>
      <p:sp>
        <p:nvSpPr>
          <p:cNvPr id="20" name="Text 17"/>
          <p:cNvSpPr/>
          <p:nvPr/>
        </p:nvSpPr>
        <p:spPr>
          <a:xfrm>
            <a:off x="2670048" y="3730752"/>
            <a:ext cx="960120" cy="292608"/>
          </a:xfrm>
          <a:prstGeom prst="rect">
            <a:avLst/>
          </a:prstGeom>
          <a:noFill/>
          <a:ln/>
        </p:spPr>
        <p:txBody>
          <a:bodyPr wrap="square" rtlCol="0" anchor="t"/>
          <a:lstStyle/>
          <a:p>
            <a:pPr algn="ctr" indent="0" marL="0">
              <a:buNone/>
            </a:pPr>
            <a:r>
              <a:rPr lang="en-US" sz="650" spc="100" kern="0" dirty="0">
                <a:solidFill>
                  <a:srgbClr val="E0D4BC"/>
                </a:solidFill>
                <a:latin typeface="Calibri" pitchFamily="34" charset="0"/>
                <a:ea typeface="Calibri" pitchFamily="34" charset="-122"/>
                <a:cs typeface="Calibri" pitchFamily="34" charset="-120"/>
              </a:rPr>
              <a:t>Brand</a:t>
            </a:r>
            <a:endParaRPr lang="en-US" sz="650" dirty="0"/>
          </a:p>
          <a:p>
            <a:pPr algn="ctr" indent="0" marL="0">
              <a:buNone/>
            </a:pPr>
            <a:r>
              <a:rPr lang="en-US" sz="650" spc="100" kern="0" dirty="0">
                <a:solidFill>
                  <a:srgbClr val="E0D4BC"/>
                </a:solidFill>
                <a:latin typeface="Calibri" pitchFamily="34" charset="0"/>
                <a:ea typeface="Calibri" pitchFamily="34" charset="-122"/>
                <a:cs typeface="Calibri" pitchFamily="34" charset="-120"/>
              </a:rPr>
              <a:t>Groups</a:t>
            </a:r>
            <a:endParaRPr lang="en-US" sz="650" dirty="0"/>
          </a:p>
        </p:txBody>
      </p:sp>
      <p:sp>
        <p:nvSpPr>
          <p:cNvPr id="21" name="Text 18"/>
          <p:cNvSpPr/>
          <p:nvPr/>
        </p:nvSpPr>
        <p:spPr>
          <a:xfrm>
            <a:off x="347472" y="4160520"/>
            <a:ext cx="3474720" cy="201168"/>
          </a:xfrm>
          <a:prstGeom prst="rect">
            <a:avLst/>
          </a:prstGeom>
          <a:noFill/>
          <a:ln/>
        </p:spPr>
        <p:txBody>
          <a:bodyPr wrap="square" rtlCol="0" anchor="t"/>
          <a:lstStyle/>
          <a:p>
            <a:pPr algn="ctr" indent="0" marL="0">
              <a:buNone/>
            </a:pPr>
            <a:r>
              <a:rPr lang="en-US" sz="750" dirty="0">
                <a:solidFill>
                  <a:srgbClr val="E0D4BC"/>
                </a:solidFill>
                <a:latin typeface="Calibri" pitchFamily="34" charset="0"/>
                <a:ea typeface="Calibri" pitchFamily="34" charset="-122"/>
                <a:cs typeface="Calibri" pitchFamily="34" charset="-120"/>
              </a:rPr>
              <a:t>Onyekachukwunwonah@gmail.com  ·  +234 815 750 1696</a:t>
            </a:r>
            <a:endParaRPr lang="en-US" sz="750" dirty="0"/>
          </a:p>
        </p:txBody>
      </p:sp>
      <p:sp>
        <p:nvSpPr>
          <p:cNvPr id="22" name="Text 19"/>
          <p:cNvSpPr/>
          <p:nvPr/>
        </p:nvSpPr>
        <p:spPr>
          <a:xfrm>
            <a:off x="5303520" y="164592"/>
            <a:ext cx="3657600" cy="1005840"/>
          </a:xfrm>
          <a:prstGeom prst="rect">
            <a:avLst/>
          </a:prstGeom>
          <a:noFill/>
          <a:ln/>
        </p:spPr>
        <p:txBody>
          <a:bodyPr wrap="square" rtlCol="0" anchor="t"/>
          <a:lstStyle/>
          <a:p>
            <a:pPr algn="l" indent="0" marL="0">
              <a:buNone/>
            </a:pPr>
            <a:r>
              <a:rPr lang="en-US" sz="6800" i="1" dirty="0">
                <a:solidFill>
                  <a:srgbClr val="F5EFE0"/>
                </a:solidFill>
                <a:latin typeface="Georgia" pitchFamily="34" charset="0"/>
                <a:ea typeface="Georgia" pitchFamily="34" charset="-122"/>
                <a:cs typeface="Georgia" pitchFamily="34" charset="-120"/>
              </a:rPr>
              <a:t>Port</a:t>
            </a:r>
            <a:endParaRPr lang="en-US" sz="6800" dirty="0"/>
          </a:p>
        </p:txBody>
      </p:sp>
      <p:sp>
        <p:nvSpPr>
          <p:cNvPr id="23" name="Text 20"/>
          <p:cNvSpPr/>
          <p:nvPr/>
        </p:nvSpPr>
        <p:spPr>
          <a:xfrm>
            <a:off x="5303520" y="1051560"/>
            <a:ext cx="3657600" cy="914400"/>
          </a:xfrm>
          <a:prstGeom prst="rect">
            <a:avLst/>
          </a:prstGeom>
          <a:noFill/>
          <a:ln/>
        </p:spPr>
        <p:txBody>
          <a:bodyPr wrap="square" rtlCol="0" anchor="t"/>
          <a:lstStyle/>
          <a:p>
            <a:pPr algn="l" indent="0" marL="0">
              <a:buNone/>
            </a:pPr>
            <a:r>
              <a:rPr lang="en-US" sz="6800" i="1" dirty="0">
                <a:solidFill>
                  <a:srgbClr val="D4A84B"/>
                </a:solidFill>
                <a:latin typeface="Georgia" pitchFamily="34" charset="0"/>
                <a:ea typeface="Georgia" pitchFamily="34" charset="-122"/>
                <a:cs typeface="Georgia" pitchFamily="34" charset="-120"/>
              </a:rPr>
              <a:t>folio</a:t>
            </a:r>
            <a:endParaRPr lang="en-US" sz="6800" dirty="0"/>
          </a:p>
        </p:txBody>
      </p:sp>
      <p:sp>
        <p:nvSpPr>
          <p:cNvPr id="24" name="Text 21"/>
          <p:cNvSpPr/>
          <p:nvPr/>
        </p:nvSpPr>
        <p:spPr>
          <a:xfrm>
            <a:off x="5303520" y="1993392"/>
            <a:ext cx="3657600" cy="292608"/>
          </a:xfrm>
          <a:prstGeom prst="rect">
            <a:avLst/>
          </a:prstGeom>
          <a:noFill/>
          <a:ln/>
        </p:spPr>
        <p:txBody>
          <a:bodyPr wrap="square" rtlCol="0" anchor="t"/>
          <a:lstStyle/>
          <a:p>
            <a:pPr algn="l" indent="0" marL="0">
              <a:buNone/>
            </a:pPr>
            <a:r>
              <a:rPr lang="en-US" sz="1200" dirty="0">
                <a:solidFill>
                  <a:srgbClr val="8A7A82"/>
                </a:solidFill>
                <a:latin typeface="Calibri" pitchFamily="34" charset="0"/>
                <a:ea typeface="Calibri" pitchFamily="34" charset="-122"/>
                <a:cs typeface="Calibri" pitchFamily="34" charset="-120"/>
              </a:rPr>
              <a:t>2025 — 2026</a:t>
            </a:r>
            <a:endParaRPr lang="en-US" sz="1200" dirty="0"/>
          </a:p>
        </p:txBody>
      </p:sp>
      <p:sp>
        <p:nvSpPr>
          <p:cNvPr id="25" name="Shape 22"/>
          <p:cNvSpPr/>
          <p:nvPr/>
        </p:nvSpPr>
        <p:spPr>
          <a:xfrm>
            <a:off x="5303520" y="2359152"/>
            <a:ext cx="3657600" cy="0"/>
          </a:xfrm>
          <a:prstGeom prst="line">
            <a:avLst/>
          </a:prstGeom>
          <a:noFill/>
          <a:ln w="15240">
            <a:solidFill>
              <a:srgbClr val="B8923A"/>
            </a:solidFill>
            <a:prstDash val="solid"/>
          </a:ln>
        </p:spPr>
      </p:sp>
      <p:sp>
        <p:nvSpPr>
          <p:cNvPr id="26" name="Text 23"/>
          <p:cNvSpPr/>
          <p:nvPr/>
        </p:nvSpPr>
        <p:spPr>
          <a:xfrm>
            <a:off x="5303520" y="2487168"/>
            <a:ext cx="3657600" cy="749808"/>
          </a:xfrm>
          <a:prstGeom prst="rect">
            <a:avLst/>
          </a:prstGeom>
          <a:noFill/>
          <a:ln/>
        </p:spPr>
        <p:txBody>
          <a:bodyPr wrap="square" rtlCol="0" anchor="t"/>
          <a:lstStyle/>
          <a:p>
            <a:pPr algn="l" indent="0" marL="0">
              <a:buNone/>
            </a:pPr>
            <a:r>
              <a:rPr lang="en-US" sz="1050" dirty="0">
                <a:solidFill>
                  <a:srgbClr val="E0D4BC"/>
                </a:solidFill>
                <a:latin typeface="Calibri" pitchFamily="34" charset="0"/>
                <a:ea typeface="Calibri" pitchFamily="34" charset="-122"/>
                <a:cs typeface="Calibri" pitchFamily="34" charset="-120"/>
              </a:rPr>
              <a:t>PR &amp; Brand Strategist with 5+ years building some of Nigeria's most culturally resonant campaigns — across luxury, beauty, FMCG, and entertainment.</a:t>
            </a:r>
            <a:endParaRPr lang="en-US" sz="1050" dirty="0"/>
          </a:p>
        </p:txBody>
      </p:sp>
      <p:sp>
        <p:nvSpPr>
          <p:cNvPr id="27" name="Text 24"/>
          <p:cNvSpPr/>
          <p:nvPr/>
        </p:nvSpPr>
        <p:spPr>
          <a:xfrm>
            <a:off x="5303520" y="3246120"/>
            <a:ext cx="3657600" cy="182880"/>
          </a:xfrm>
          <a:prstGeom prst="rect">
            <a:avLst/>
          </a:prstGeom>
          <a:noFill/>
          <a:ln/>
        </p:spPr>
        <p:txBody>
          <a:bodyPr wrap="square" rtlCol="0" anchor="t"/>
          <a:lstStyle/>
          <a:p>
            <a:pPr algn="l" indent="0" marL="0">
              <a:buNone/>
            </a:pPr>
            <a:r>
              <a:rPr lang="en-US" sz="700" b="1" spc="300" kern="0" dirty="0">
                <a:solidFill>
                  <a:srgbClr val="B8923A"/>
                </a:solidFill>
                <a:latin typeface="Calibri" pitchFamily="34" charset="0"/>
                <a:ea typeface="Calibri" pitchFamily="34" charset="-122"/>
                <a:cs typeface="Calibri" pitchFamily="34" charset="-120"/>
              </a:rPr>
              <a:t>BRANDS &amp; PARTNERS</a:t>
            </a:r>
            <a:endParaRPr lang="en-US" sz="700" dirty="0"/>
          </a:p>
        </p:txBody>
      </p:sp>
      <p:sp>
        <p:nvSpPr>
          <p:cNvPr id="28" name="Shape 25"/>
          <p:cNvSpPr/>
          <p:nvPr/>
        </p:nvSpPr>
        <p:spPr>
          <a:xfrm>
            <a:off x="5303520" y="3456432"/>
            <a:ext cx="896112" cy="256032"/>
          </a:xfrm>
          <a:prstGeom prst="rect">
            <a:avLst/>
          </a:prstGeom>
          <a:solidFill>
            <a:srgbClr val="7A3B53"/>
          </a:solidFill>
          <a:ln w="12700">
            <a:solidFill>
              <a:srgbClr val="B8923A"/>
            </a:solidFill>
            <a:prstDash val="solid"/>
          </a:ln>
        </p:spPr>
      </p:sp>
      <p:sp>
        <p:nvSpPr>
          <p:cNvPr id="29" name="Text 26"/>
          <p:cNvSpPr/>
          <p:nvPr/>
        </p:nvSpPr>
        <p:spPr>
          <a:xfrm>
            <a:off x="5303520" y="3456432"/>
            <a:ext cx="896112" cy="256032"/>
          </a:xfrm>
          <a:prstGeom prst="rect">
            <a:avLst/>
          </a:prstGeom>
          <a:noFill/>
          <a:ln/>
        </p:spPr>
        <p:txBody>
          <a:bodyPr wrap="square" rtlCol="0" anchor="ctr"/>
          <a:lstStyle/>
          <a:p>
            <a:pPr algn="ctr" indent="0" marL="0">
              <a:buNone/>
            </a:pPr>
            <a:r>
              <a:rPr lang="en-US" sz="650" b="1" dirty="0">
                <a:solidFill>
                  <a:srgbClr val="D4A84B"/>
                </a:solidFill>
                <a:latin typeface="Calibri" pitchFamily="34" charset="0"/>
                <a:ea typeface="Calibri" pitchFamily="34" charset="-122"/>
                <a:cs typeface="Calibri" pitchFamily="34" charset="-120"/>
              </a:rPr>
              <a:t>LVMH Group</a:t>
            </a:r>
            <a:endParaRPr lang="en-US" sz="650" dirty="0"/>
          </a:p>
        </p:txBody>
      </p:sp>
      <p:sp>
        <p:nvSpPr>
          <p:cNvPr id="30" name="Shape 27"/>
          <p:cNvSpPr/>
          <p:nvPr/>
        </p:nvSpPr>
        <p:spPr>
          <a:xfrm>
            <a:off x="6236208" y="3456432"/>
            <a:ext cx="896112" cy="256032"/>
          </a:xfrm>
          <a:prstGeom prst="rect">
            <a:avLst/>
          </a:prstGeom>
          <a:solidFill>
            <a:srgbClr val="7A3B53"/>
          </a:solidFill>
          <a:ln w="12700">
            <a:solidFill>
              <a:srgbClr val="B8923A"/>
            </a:solidFill>
            <a:prstDash val="solid"/>
          </a:ln>
        </p:spPr>
      </p:sp>
      <p:sp>
        <p:nvSpPr>
          <p:cNvPr id="31" name="Text 28"/>
          <p:cNvSpPr/>
          <p:nvPr/>
        </p:nvSpPr>
        <p:spPr>
          <a:xfrm>
            <a:off x="6236208" y="3456432"/>
            <a:ext cx="896112" cy="256032"/>
          </a:xfrm>
          <a:prstGeom prst="rect">
            <a:avLst/>
          </a:prstGeom>
          <a:noFill/>
          <a:ln/>
        </p:spPr>
        <p:txBody>
          <a:bodyPr wrap="square" rtlCol="0" anchor="ctr"/>
          <a:lstStyle/>
          <a:p>
            <a:pPr algn="ctr" indent="0" marL="0">
              <a:buNone/>
            </a:pPr>
            <a:r>
              <a:rPr lang="en-US" sz="650" b="1" dirty="0">
                <a:solidFill>
                  <a:srgbClr val="D4A84B"/>
                </a:solidFill>
                <a:latin typeface="Calibri" pitchFamily="34" charset="0"/>
                <a:ea typeface="Calibri" pitchFamily="34" charset="-122"/>
                <a:cs typeface="Calibri" pitchFamily="34" charset="-120"/>
              </a:rPr>
              <a:t>L'Oreal Group</a:t>
            </a:r>
            <a:endParaRPr lang="en-US" sz="650" dirty="0"/>
          </a:p>
        </p:txBody>
      </p:sp>
      <p:sp>
        <p:nvSpPr>
          <p:cNvPr id="32" name="Shape 29"/>
          <p:cNvSpPr/>
          <p:nvPr/>
        </p:nvSpPr>
        <p:spPr>
          <a:xfrm>
            <a:off x="7168896" y="3456432"/>
            <a:ext cx="896112" cy="256032"/>
          </a:xfrm>
          <a:prstGeom prst="rect">
            <a:avLst/>
          </a:prstGeom>
          <a:solidFill>
            <a:srgbClr val="1A0812"/>
          </a:solidFill>
          <a:ln w="12700">
            <a:solidFill>
              <a:srgbClr val="7A3B53"/>
            </a:solidFill>
            <a:prstDash val="solid"/>
          </a:ln>
        </p:spPr>
      </p:sp>
      <p:sp>
        <p:nvSpPr>
          <p:cNvPr id="33" name="Text 30"/>
          <p:cNvSpPr/>
          <p:nvPr/>
        </p:nvSpPr>
        <p:spPr>
          <a:xfrm>
            <a:off x="7168896" y="3456432"/>
            <a:ext cx="896112" cy="256032"/>
          </a:xfrm>
          <a:prstGeom prst="rect">
            <a:avLst/>
          </a:prstGeom>
          <a:noFill/>
          <a:ln/>
        </p:spPr>
        <p:txBody>
          <a:bodyPr wrap="square" rtlCol="0" anchor="ctr"/>
          <a:lstStyle/>
          <a:p>
            <a:pPr algn="ctr" indent="0" marL="0">
              <a:buNone/>
            </a:pPr>
            <a:r>
              <a:rPr lang="en-US" sz="650" dirty="0">
                <a:solidFill>
                  <a:srgbClr val="E0D4BC"/>
                </a:solidFill>
                <a:latin typeface="Calibri" pitchFamily="34" charset="0"/>
                <a:ea typeface="Calibri" pitchFamily="34" charset="-122"/>
                <a:cs typeface="Calibri" pitchFamily="34" charset="-120"/>
              </a:rPr>
              <a:t>Prime Video</a:t>
            </a:r>
            <a:endParaRPr lang="en-US" sz="650" dirty="0"/>
          </a:p>
        </p:txBody>
      </p:sp>
      <p:sp>
        <p:nvSpPr>
          <p:cNvPr id="34" name="Shape 31"/>
          <p:cNvSpPr/>
          <p:nvPr/>
        </p:nvSpPr>
        <p:spPr>
          <a:xfrm>
            <a:off x="8101584" y="3456432"/>
            <a:ext cx="896112" cy="256032"/>
          </a:xfrm>
          <a:prstGeom prst="rect">
            <a:avLst/>
          </a:prstGeom>
          <a:solidFill>
            <a:srgbClr val="1A0812"/>
          </a:solidFill>
          <a:ln w="12700">
            <a:solidFill>
              <a:srgbClr val="7A3B53"/>
            </a:solidFill>
            <a:prstDash val="solid"/>
          </a:ln>
        </p:spPr>
      </p:sp>
      <p:sp>
        <p:nvSpPr>
          <p:cNvPr id="35" name="Text 32"/>
          <p:cNvSpPr/>
          <p:nvPr/>
        </p:nvSpPr>
        <p:spPr>
          <a:xfrm>
            <a:off x="8101584" y="3456432"/>
            <a:ext cx="896112" cy="256032"/>
          </a:xfrm>
          <a:prstGeom prst="rect">
            <a:avLst/>
          </a:prstGeom>
          <a:noFill/>
          <a:ln/>
        </p:spPr>
        <p:txBody>
          <a:bodyPr wrap="square" rtlCol="0" anchor="ctr"/>
          <a:lstStyle/>
          <a:p>
            <a:pPr algn="ctr" indent="0" marL="0">
              <a:buNone/>
            </a:pPr>
            <a:r>
              <a:rPr lang="en-US" sz="650" dirty="0">
                <a:solidFill>
                  <a:srgbClr val="E0D4BC"/>
                </a:solidFill>
                <a:latin typeface="Calibri" pitchFamily="34" charset="0"/>
                <a:ea typeface="Calibri" pitchFamily="34" charset="-122"/>
                <a:cs typeface="Calibri" pitchFamily="34" charset="-120"/>
              </a:rPr>
              <a:t>Veuve Clicquot</a:t>
            </a:r>
            <a:endParaRPr lang="en-US" sz="650" dirty="0"/>
          </a:p>
        </p:txBody>
      </p:sp>
      <p:sp>
        <p:nvSpPr>
          <p:cNvPr id="36" name="Shape 33"/>
          <p:cNvSpPr/>
          <p:nvPr/>
        </p:nvSpPr>
        <p:spPr>
          <a:xfrm>
            <a:off x="5303520" y="3767328"/>
            <a:ext cx="896112" cy="256032"/>
          </a:xfrm>
          <a:prstGeom prst="rect">
            <a:avLst/>
          </a:prstGeom>
          <a:solidFill>
            <a:srgbClr val="1A0812"/>
          </a:solidFill>
          <a:ln w="12700">
            <a:solidFill>
              <a:srgbClr val="7A3B53"/>
            </a:solidFill>
            <a:prstDash val="solid"/>
          </a:ln>
        </p:spPr>
      </p:sp>
      <p:sp>
        <p:nvSpPr>
          <p:cNvPr id="37" name="Text 34"/>
          <p:cNvSpPr/>
          <p:nvPr/>
        </p:nvSpPr>
        <p:spPr>
          <a:xfrm>
            <a:off x="5303520" y="3767328"/>
            <a:ext cx="896112" cy="256032"/>
          </a:xfrm>
          <a:prstGeom prst="rect">
            <a:avLst/>
          </a:prstGeom>
          <a:noFill/>
          <a:ln/>
        </p:spPr>
        <p:txBody>
          <a:bodyPr wrap="square" rtlCol="0" anchor="ctr"/>
          <a:lstStyle/>
          <a:p>
            <a:pPr algn="ctr" indent="0" marL="0">
              <a:buNone/>
            </a:pPr>
            <a:r>
              <a:rPr lang="en-US" sz="650" dirty="0">
                <a:solidFill>
                  <a:srgbClr val="E0D4BC"/>
                </a:solidFill>
                <a:latin typeface="Calibri" pitchFamily="34" charset="0"/>
                <a:ea typeface="Calibri" pitchFamily="34" charset="-122"/>
                <a:cs typeface="Calibri" pitchFamily="34" charset="-120"/>
              </a:rPr>
              <a:t>Hennessy</a:t>
            </a:r>
            <a:endParaRPr lang="en-US" sz="650" dirty="0"/>
          </a:p>
        </p:txBody>
      </p:sp>
      <p:sp>
        <p:nvSpPr>
          <p:cNvPr id="38" name="Shape 35"/>
          <p:cNvSpPr/>
          <p:nvPr/>
        </p:nvSpPr>
        <p:spPr>
          <a:xfrm>
            <a:off x="6236208" y="3767328"/>
            <a:ext cx="896112" cy="256032"/>
          </a:xfrm>
          <a:prstGeom prst="rect">
            <a:avLst/>
          </a:prstGeom>
          <a:solidFill>
            <a:srgbClr val="1A0812"/>
          </a:solidFill>
          <a:ln w="12700">
            <a:solidFill>
              <a:srgbClr val="7A3B53"/>
            </a:solidFill>
            <a:prstDash val="solid"/>
          </a:ln>
        </p:spPr>
      </p:sp>
      <p:sp>
        <p:nvSpPr>
          <p:cNvPr id="39" name="Text 36"/>
          <p:cNvSpPr/>
          <p:nvPr/>
        </p:nvSpPr>
        <p:spPr>
          <a:xfrm>
            <a:off x="6236208" y="3767328"/>
            <a:ext cx="896112" cy="256032"/>
          </a:xfrm>
          <a:prstGeom prst="rect">
            <a:avLst/>
          </a:prstGeom>
          <a:noFill/>
          <a:ln/>
        </p:spPr>
        <p:txBody>
          <a:bodyPr wrap="square" rtlCol="0" anchor="ctr"/>
          <a:lstStyle/>
          <a:p>
            <a:pPr algn="ctr" indent="0" marL="0">
              <a:buNone/>
            </a:pPr>
            <a:r>
              <a:rPr lang="en-US" sz="650" dirty="0">
                <a:solidFill>
                  <a:srgbClr val="E0D4BC"/>
                </a:solidFill>
                <a:latin typeface="Calibri" pitchFamily="34" charset="0"/>
                <a:ea typeface="Calibri" pitchFamily="34" charset="-122"/>
                <a:cs typeface="Calibri" pitchFamily="34" charset="-120"/>
              </a:rPr>
              <a:t>Maybelline NY</a:t>
            </a:r>
            <a:endParaRPr lang="en-US" sz="650" dirty="0"/>
          </a:p>
        </p:txBody>
      </p:sp>
      <p:sp>
        <p:nvSpPr>
          <p:cNvPr id="40" name="Shape 37"/>
          <p:cNvSpPr/>
          <p:nvPr/>
        </p:nvSpPr>
        <p:spPr>
          <a:xfrm>
            <a:off x="7168896" y="3767328"/>
            <a:ext cx="896112" cy="256032"/>
          </a:xfrm>
          <a:prstGeom prst="rect">
            <a:avLst/>
          </a:prstGeom>
          <a:solidFill>
            <a:srgbClr val="1A0812"/>
          </a:solidFill>
          <a:ln w="12700">
            <a:solidFill>
              <a:srgbClr val="7A3B53"/>
            </a:solidFill>
            <a:prstDash val="solid"/>
          </a:ln>
        </p:spPr>
      </p:sp>
      <p:sp>
        <p:nvSpPr>
          <p:cNvPr id="41" name="Text 38"/>
          <p:cNvSpPr/>
          <p:nvPr/>
        </p:nvSpPr>
        <p:spPr>
          <a:xfrm>
            <a:off x="7168896" y="3767328"/>
            <a:ext cx="896112" cy="256032"/>
          </a:xfrm>
          <a:prstGeom prst="rect">
            <a:avLst/>
          </a:prstGeom>
          <a:noFill/>
          <a:ln/>
        </p:spPr>
        <p:txBody>
          <a:bodyPr wrap="square" rtlCol="0" anchor="ctr"/>
          <a:lstStyle/>
          <a:p>
            <a:pPr algn="ctr" indent="0" marL="0">
              <a:buNone/>
            </a:pPr>
            <a:r>
              <a:rPr lang="en-US" sz="650" dirty="0">
                <a:solidFill>
                  <a:srgbClr val="E0D4BC"/>
                </a:solidFill>
                <a:latin typeface="Calibri" pitchFamily="34" charset="0"/>
                <a:ea typeface="Calibri" pitchFamily="34" charset="-122"/>
                <a:cs typeface="Calibri" pitchFamily="34" charset="-120"/>
              </a:rPr>
              <a:t>Ralph Lauren</a:t>
            </a:r>
            <a:endParaRPr lang="en-US" sz="650" dirty="0"/>
          </a:p>
        </p:txBody>
      </p:sp>
      <p:sp>
        <p:nvSpPr>
          <p:cNvPr id="42" name="Shape 39"/>
          <p:cNvSpPr/>
          <p:nvPr/>
        </p:nvSpPr>
        <p:spPr>
          <a:xfrm>
            <a:off x="8101584" y="3767328"/>
            <a:ext cx="896112" cy="256032"/>
          </a:xfrm>
          <a:prstGeom prst="rect">
            <a:avLst/>
          </a:prstGeom>
          <a:solidFill>
            <a:srgbClr val="1A0812"/>
          </a:solidFill>
          <a:ln w="12700">
            <a:solidFill>
              <a:srgbClr val="7A3B53"/>
            </a:solidFill>
            <a:prstDash val="solid"/>
          </a:ln>
        </p:spPr>
      </p:sp>
      <p:sp>
        <p:nvSpPr>
          <p:cNvPr id="43" name="Text 40"/>
          <p:cNvSpPr/>
          <p:nvPr/>
        </p:nvSpPr>
        <p:spPr>
          <a:xfrm>
            <a:off x="8101584" y="3767328"/>
            <a:ext cx="896112" cy="256032"/>
          </a:xfrm>
          <a:prstGeom prst="rect">
            <a:avLst/>
          </a:prstGeom>
          <a:noFill/>
          <a:ln/>
        </p:spPr>
        <p:txBody>
          <a:bodyPr wrap="square" rtlCol="0" anchor="ctr"/>
          <a:lstStyle/>
          <a:p>
            <a:pPr algn="ctr" indent="0" marL="0">
              <a:buNone/>
            </a:pPr>
            <a:r>
              <a:rPr lang="en-US" sz="650" dirty="0">
                <a:solidFill>
                  <a:srgbClr val="E0D4BC"/>
                </a:solidFill>
                <a:latin typeface="Calibri" pitchFamily="34" charset="0"/>
                <a:ea typeface="Calibri" pitchFamily="34" charset="-122"/>
                <a:cs typeface="Calibri" pitchFamily="34" charset="-120"/>
              </a:rPr>
              <a:t>CeraVe</a:t>
            </a:r>
            <a:endParaRPr lang="en-US" sz="650" dirty="0"/>
          </a:p>
        </p:txBody>
      </p:sp>
      <p:sp>
        <p:nvSpPr>
          <p:cNvPr id="44" name="Shape 41"/>
          <p:cNvSpPr/>
          <p:nvPr/>
        </p:nvSpPr>
        <p:spPr>
          <a:xfrm>
            <a:off x="5303520" y="4078224"/>
            <a:ext cx="896112" cy="256032"/>
          </a:xfrm>
          <a:prstGeom prst="rect">
            <a:avLst/>
          </a:prstGeom>
          <a:solidFill>
            <a:srgbClr val="1A0812"/>
          </a:solidFill>
          <a:ln w="12700">
            <a:solidFill>
              <a:srgbClr val="7A3B53"/>
            </a:solidFill>
            <a:prstDash val="solid"/>
          </a:ln>
        </p:spPr>
      </p:sp>
      <p:sp>
        <p:nvSpPr>
          <p:cNvPr id="45" name="Text 42"/>
          <p:cNvSpPr/>
          <p:nvPr/>
        </p:nvSpPr>
        <p:spPr>
          <a:xfrm>
            <a:off x="5303520" y="4078224"/>
            <a:ext cx="896112" cy="256032"/>
          </a:xfrm>
          <a:prstGeom prst="rect">
            <a:avLst/>
          </a:prstGeom>
          <a:noFill/>
          <a:ln/>
        </p:spPr>
        <p:txBody>
          <a:bodyPr wrap="square" rtlCol="0" anchor="ctr"/>
          <a:lstStyle/>
          <a:p>
            <a:pPr algn="ctr" indent="0" marL="0">
              <a:buNone/>
            </a:pPr>
            <a:r>
              <a:rPr lang="en-US" sz="650" dirty="0">
                <a:solidFill>
                  <a:srgbClr val="E0D4BC"/>
                </a:solidFill>
                <a:latin typeface="Calibri" pitchFamily="34" charset="0"/>
                <a:ea typeface="Calibri" pitchFamily="34" charset="-122"/>
                <a:cs typeface="Calibri" pitchFamily="34" charset="-120"/>
              </a:rPr>
              <a:t>La Roche-Posay</a:t>
            </a:r>
            <a:endParaRPr lang="en-US" sz="650" dirty="0"/>
          </a:p>
        </p:txBody>
      </p:sp>
      <p:sp>
        <p:nvSpPr>
          <p:cNvPr id="46" name="Shape 43"/>
          <p:cNvSpPr/>
          <p:nvPr/>
        </p:nvSpPr>
        <p:spPr>
          <a:xfrm>
            <a:off x="6236208" y="4078224"/>
            <a:ext cx="896112" cy="256032"/>
          </a:xfrm>
          <a:prstGeom prst="rect">
            <a:avLst/>
          </a:prstGeom>
          <a:solidFill>
            <a:srgbClr val="1A0812"/>
          </a:solidFill>
          <a:ln w="12700">
            <a:solidFill>
              <a:srgbClr val="7A3B53"/>
            </a:solidFill>
            <a:prstDash val="solid"/>
          </a:ln>
        </p:spPr>
      </p:sp>
      <p:sp>
        <p:nvSpPr>
          <p:cNvPr id="47" name="Text 44"/>
          <p:cNvSpPr/>
          <p:nvPr/>
        </p:nvSpPr>
        <p:spPr>
          <a:xfrm>
            <a:off x="6236208" y="4078224"/>
            <a:ext cx="896112" cy="256032"/>
          </a:xfrm>
          <a:prstGeom prst="rect">
            <a:avLst/>
          </a:prstGeom>
          <a:noFill/>
          <a:ln/>
        </p:spPr>
        <p:txBody>
          <a:bodyPr wrap="square" rtlCol="0" anchor="ctr"/>
          <a:lstStyle/>
          <a:p>
            <a:pPr algn="ctr" indent="0" marL="0">
              <a:buNone/>
            </a:pPr>
            <a:r>
              <a:rPr lang="en-US" sz="650" dirty="0">
                <a:solidFill>
                  <a:srgbClr val="E0D4BC"/>
                </a:solidFill>
                <a:latin typeface="Calibri" pitchFamily="34" charset="0"/>
                <a:ea typeface="Calibri" pitchFamily="34" charset="-122"/>
                <a:cs typeface="Calibri" pitchFamily="34" charset="-120"/>
              </a:rPr>
              <a:t>818 Spirits</a:t>
            </a:r>
            <a:endParaRPr lang="en-US" sz="650" dirty="0"/>
          </a:p>
        </p:txBody>
      </p:sp>
      <p:sp>
        <p:nvSpPr>
          <p:cNvPr id="48" name="Shape 45"/>
          <p:cNvSpPr/>
          <p:nvPr/>
        </p:nvSpPr>
        <p:spPr>
          <a:xfrm>
            <a:off x="7168896" y="4078224"/>
            <a:ext cx="896112" cy="256032"/>
          </a:xfrm>
          <a:prstGeom prst="rect">
            <a:avLst/>
          </a:prstGeom>
          <a:solidFill>
            <a:srgbClr val="7A3B53"/>
          </a:solidFill>
          <a:ln w="12700">
            <a:solidFill>
              <a:srgbClr val="B8923A"/>
            </a:solidFill>
            <a:prstDash val="solid"/>
          </a:ln>
        </p:spPr>
      </p:sp>
      <p:sp>
        <p:nvSpPr>
          <p:cNvPr id="49" name="Text 46"/>
          <p:cNvSpPr/>
          <p:nvPr/>
        </p:nvSpPr>
        <p:spPr>
          <a:xfrm>
            <a:off x="7168896" y="4078224"/>
            <a:ext cx="896112" cy="256032"/>
          </a:xfrm>
          <a:prstGeom prst="rect">
            <a:avLst/>
          </a:prstGeom>
          <a:noFill/>
          <a:ln/>
        </p:spPr>
        <p:txBody>
          <a:bodyPr wrap="square" rtlCol="0" anchor="ctr"/>
          <a:lstStyle/>
          <a:p>
            <a:pPr algn="ctr" indent="0" marL="0">
              <a:buNone/>
            </a:pPr>
            <a:r>
              <a:rPr lang="en-US" sz="650" b="1" dirty="0">
                <a:solidFill>
                  <a:srgbClr val="D4A84B"/>
                </a:solidFill>
                <a:latin typeface="Calibri" pitchFamily="34" charset="0"/>
                <a:ea typeface="Calibri" pitchFamily="34" charset="-122"/>
                <a:cs typeface="Calibri" pitchFamily="34" charset="-120"/>
              </a:rPr>
              <a:t>Beauty Hut Africa</a:t>
            </a:r>
            <a:endParaRPr lang="en-US" sz="650" dirty="0"/>
          </a:p>
        </p:txBody>
      </p:sp>
      <p:sp>
        <p:nvSpPr>
          <p:cNvPr id="50" name="Shape 47"/>
          <p:cNvSpPr/>
          <p:nvPr/>
        </p:nvSpPr>
        <p:spPr>
          <a:xfrm>
            <a:off x="8101584" y="4078224"/>
            <a:ext cx="896112" cy="256032"/>
          </a:xfrm>
          <a:prstGeom prst="rect">
            <a:avLst/>
          </a:prstGeom>
          <a:solidFill>
            <a:srgbClr val="7A3B53"/>
          </a:solidFill>
          <a:ln w="12700">
            <a:solidFill>
              <a:srgbClr val="B8923A"/>
            </a:solidFill>
            <a:prstDash val="solid"/>
          </a:ln>
        </p:spPr>
      </p:sp>
      <p:sp>
        <p:nvSpPr>
          <p:cNvPr id="51" name="Text 48"/>
          <p:cNvSpPr/>
          <p:nvPr/>
        </p:nvSpPr>
        <p:spPr>
          <a:xfrm>
            <a:off x="8101584" y="4078224"/>
            <a:ext cx="896112" cy="256032"/>
          </a:xfrm>
          <a:prstGeom prst="rect">
            <a:avLst/>
          </a:prstGeom>
          <a:noFill/>
          <a:ln/>
        </p:spPr>
        <p:txBody>
          <a:bodyPr wrap="square" rtlCol="0" anchor="ctr"/>
          <a:lstStyle/>
          <a:p>
            <a:pPr algn="ctr" indent="0" marL="0">
              <a:buNone/>
            </a:pPr>
            <a:r>
              <a:rPr lang="en-US" sz="650" b="1" dirty="0">
                <a:solidFill>
                  <a:srgbClr val="D4A84B"/>
                </a:solidFill>
                <a:latin typeface="Calibri" pitchFamily="34" charset="0"/>
                <a:ea typeface="Calibri" pitchFamily="34" charset="-122"/>
                <a:cs typeface="Calibri" pitchFamily="34" charset="-120"/>
              </a:rPr>
              <a:t>Beguile by Omaa</a:t>
            </a:r>
            <a:endParaRPr lang="en-US" sz="6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F1"/>
        </a:solidFill>
      </p:bgPr>
    </p:bg>
    <p:spTree>
      <p:nvGrpSpPr>
        <p:cNvPr id="1" name=""/>
        <p:cNvGrpSpPr/>
        <p:nvPr/>
      </p:nvGrpSpPr>
      <p:grpSpPr>
        <a:xfrm>
          <a:off x="0" y="0"/>
          <a:ext cx="0" cy="0"/>
          <a:chOff x="0" y="0"/>
          <a:chExt cx="0" cy="0"/>
        </a:xfrm>
      </p:grpSpPr>
      <p:sp>
        <p:nvSpPr>
          <p:cNvPr id="2" name="Shape 0"/>
          <p:cNvSpPr/>
          <p:nvPr/>
        </p:nvSpPr>
        <p:spPr>
          <a:xfrm>
            <a:off x="0" y="0"/>
            <a:ext cx="548640" cy="5143500"/>
          </a:xfrm>
          <a:prstGeom prst="rect">
            <a:avLst/>
          </a:prstGeom>
          <a:solidFill>
            <a:srgbClr val="9E4F6B"/>
          </a:solidFill>
          <a:ln w="12700">
            <a:solidFill>
              <a:srgbClr val="9E4F6B"/>
            </a:solidFill>
            <a:prstDash val="solid"/>
          </a:ln>
        </p:spPr>
      </p:sp>
      <p:sp>
        <p:nvSpPr>
          <p:cNvPr id="3" name="Shape 1"/>
          <p:cNvSpPr/>
          <p:nvPr/>
        </p:nvSpPr>
        <p:spPr>
          <a:xfrm>
            <a:off x="0" y="0"/>
            <a:ext cx="9144000" cy="73152"/>
          </a:xfrm>
          <a:prstGeom prst="rect">
            <a:avLst/>
          </a:prstGeom>
          <a:solidFill>
            <a:srgbClr val="B8923A"/>
          </a:solidFill>
          <a:ln w="12700">
            <a:solidFill>
              <a:srgbClr val="B8923A"/>
            </a:solidFill>
            <a:prstDash val="solid"/>
          </a:ln>
        </p:spPr>
      </p:sp>
      <p:pic>
        <p:nvPicPr>
          <p:cNvPr id="4" name="Image 0" descr="preencoded.png">    </p:cNvPr>
          <p:cNvPicPr>
            <a:picLocks noChangeAspect="1"/>
          </p:cNvPicPr>
          <p:nvPr/>
        </p:nvPicPr>
        <p:blipFill>
          <a:blip r:embed="rId1"/>
          <a:stretch>
            <a:fillRect/>
          </a:stretch>
        </p:blipFill>
        <p:spPr>
          <a:xfrm>
            <a:off x="685800" y="164592"/>
            <a:ext cx="1371600" cy="438912"/>
          </a:xfrm>
          <a:prstGeom prst="rect">
            <a:avLst/>
          </a:prstGeom>
        </p:spPr>
      </p:pic>
      <p:sp>
        <p:nvSpPr>
          <p:cNvPr id="5" name="Text 2"/>
          <p:cNvSpPr/>
          <p:nvPr/>
        </p:nvSpPr>
        <p:spPr>
          <a:xfrm>
            <a:off x="457200" y="146304"/>
            <a:ext cx="8412480" cy="201168"/>
          </a:xfrm>
          <a:prstGeom prst="rect">
            <a:avLst/>
          </a:prstGeom>
          <a:noFill/>
          <a:ln/>
        </p:spPr>
        <p:txBody>
          <a:bodyPr wrap="square" rtlCol="0" anchor="t"/>
          <a:lstStyle/>
          <a:p>
            <a:pPr algn="l" indent="0" marL="0">
              <a:buNone/>
            </a:pPr>
            <a:r>
              <a:rPr lang="en-US" sz="700" b="1" spc="350" kern="0" dirty="0">
                <a:solidFill>
                  <a:srgbClr val="9E4F6B"/>
                </a:solidFill>
                <a:latin typeface="Calibri" pitchFamily="34" charset="0"/>
                <a:ea typeface="Calibri" pitchFamily="34" charset="-122"/>
                <a:cs typeface="Calibri" pitchFamily="34" charset="-120"/>
              </a:rPr>
              <a:t>ABOUT</a:t>
            </a:r>
            <a:endParaRPr lang="en-US" sz="700" dirty="0"/>
          </a:p>
        </p:txBody>
      </p:sp>
      <p:sp>
        <p:nvSpPr>
          <p:cNvPr id="6" name="Shape 3"/>
          <p:cNvSpPr/>
          <p:nvPr/>
        </p:nvSpPr>
        <p:spPr>
          <a:xfrm>
            <a:off x="0" y="4873752"/>
            <a:ext cx="9144000" cy="269748"/>
          </a:xfrm>
          <a:prstGeom prst="rect">
            <a:avLst/>
          </a:prstGeom>
          <a:solidFill>
            <a:srgbClr val="7A3B53"/>
          </a:solidFill>
          <a:ln w="12700">
            <a:solidFill>
              <a:srgbClr val="7A3B53"/>
            </a:solidFill>
            <a:prstDash val="solid"/>
          </a:ln>
        </p:spPr>
      </p:sp>
      <p:sp>
        <p:nvSpPr>
          <p:cNvPr id="7" name="Text 4"/>
          <p:cNvSpPr/>
          <p:nvPr/>
        </p:nvSpPr>
        <p:spPr>
          <a:xfrm>
            <a:off x="0" y="4878324"/>
            <a:ext cx="9144000" cy="256032"/>
          </a:xfrm>
          <a:prstGeom prst="rect">
            <a:avLst/>
          </a:prstGeom>
          <a:noFill/>
          <a:ln/>
        </p:spPr>
        <p:txBody>
          <a:bodyPr wrap="square" rtlCol="0" anchor="ctr"/>
          <a:lstStyle/>
          <a:p>
            <a:pPr algn="ctr" indent="0" marL="0">
              <a:buNone/>
            </a:pPr>
            <a:r>
              <a:rPr lang="en-US" sz="700" spc="150" kern="0" dirty="0">
                <a:solidFill>
                  <a:srgbClr val="E0D4BC"/>
                </a:solidFill>
                <a:latin typeface="Calibri" pitchFamily="34" charset="0"/>
                <a:ea typeface="Calibri" pitchFamily="34" charset="-122"/>
                <a:cs typeface="Calibri" pitchFamily="34" charset="-120"/>
              </a:rPr>
              <a:t>marktn PR  ·  Onyeka Nwonah  ·  Lagos, Nigeria  ·  Perception is Different</a:t>
            </a:r>
            <a:endParaRPr lang="en-US" sz="700" dirty="0"/>
          </a:p>
        </p:txBody>
      </p:sp>
      <p:sp>
        <p:nvSpPr>
          <p:cNvPr id="8" name="Shape 5"/>
          <p:cNvSpPr/>
          <p:nvPr/>
        </p:nvSpPr>
        <p:spPr>
          <a:xfrm>
            <a:off x="548640" y="384048"/>
            <a:ext cx="4114800" cy="4389120"/>
          </a:xfrm>
          <a:prstGeom prst="rect">
            <a:avLst/>
          </a:prstGeom>
          <a:solidFill>
            <a:srgbClr val="FFFFFF"/>
          </a:solidFill>
          <a:ln w="12700">
            <a:solidFill>
              <a:srgbClr val="FFFFFF"/>
            </a:solidFill>
            <a:prstDash val="solid"/>
          </a:ln>
        </p:spPr>
      </p:sp>
      <p:sp>
        <p:nvSpPr>
          <p:cNvPr id="9" name="Shape 6"/>
          <p:cNvSpPr/>
          <p:nvPr/>
        </p:nvSpPr>
        <p:spPr>
          <a:xfrm>
            <a:off x="658368" y="548640"/>
            <a:ext cx="54864" cy="3931920"/>
          </a:xfrm>
          <a:prstGeom prst="rect">
            <a:avLst/>
          </a:prstGeom>
          <a:solidFill>
            <a:srgbClr val="B8923A"/>
          </a:solidFill>
          <a:ln w="12700">
            <a:solidFill>
              <a:srgbClr val="B8923A"/>
            </a:solidFill>
            <a:prstDash val="solid"/>
          </a:ln>
        </p:spPr>
      </p:sp>
      <p:sp>
        <p:nvSpPr>
          <p:cNvPr id="10" name="Text 7"/>
          <p:cNvSpPr/>
          <p:nvPr/>
        </p:nvSpPr>
        <p:spPr>
          <a:xfrm>
            <a:off x="822960" y="566928"/>
            <a:ext cx="3749040" cy="1691640"/>
          </a:xfrm>
          <a:prstGeom prst="rect">
            <a:avLst/>
          </a:prstGeom>
          <a:noFill/>
          <a:ln/>
        </p:spPr>
        <p:txBody>
          <a:bodyPr wrap="square" rtlCol="0" anchor="t"/>
          <a:lstStyle/>
          <a:p>
            <a:pPr algn="l" indent="0" marL="0">
              <a:buNone/>
            </a:pPr>
            <a:r>
              <a:rPr lang="en-US" sz="2800" b="1" dirty="0">
                <a:solidFill>
                  <a:srgbClr val="7A3B53"/>
                </a:solidFill>
                <a:latin typeface="Georgia" pitchFamily="34" charset="0"/>
                <a:ea typeface="Georgia" pitchFamily="34" charset="-122"/>
                <a:cs typeface="Georgia" pitchFamily="34" charset="-120"/>
              </a:rPr>
              <a:t>PR Strategist.</a:t>
            </a:r>
            <a:endParaRPr lang="en-US" sz="2800" dirty="0"/>
          </a:p>
          <a:p>
            <a:pPr algn="l" indent="0" marL="0">
              <a:buNone/>
            </a:pPr>
            <a:r>
              <a:rPr lang="en-US" sz="2800" b="1" dirty="0">
                <a:solidFill>
                  <a:srgbClr val="7A3B53"/>
                </a:solidFill>
                <a:latin typeface="Georgia" pitchFamily="34" charset="0"/>
                <a:ea typeface="Georgia" pitchFamily="34" charset="-122"/>
                <a:cs typeface="Georgia" pitchFamily="34" charset="-120"/>
              </a:rPr>
              <a:t>Brand Builder.</a:t>
            </a:r>
            <a:endParaRPr lang="en-US" sz="2800" dirty="0"/>
          </a:p>
          <a:p>
            <a:pPr algn="l" indent="0" marL="0">
              <a:buNone/>
            </a:pPr>
            <a:r>
              <a:rPr lang="en-US" sz="2800" b="1" dirty="0">
                <a:solidFill>
                  <a:srgbClr val="7A3B53"/>
                </a:solidFill>
                <a:latin typeface="Georgia" pitchFamily="34" charset="0"/>
                <a:ea typeface="Georgia" pitchFamily="34" charset="-122"/>
                <a:cs typeface="Georgia" pitchFamily="34" charset="-120"/>
              </a:rPr>
              <a:t>Founder.</a:t>
            </a:r>
            <a:endParaRPr lang="en-US" sz="2800" dirty="0"/>
          </a:p>
        </p:txBody>
      </p:sp>
      <p:sp>
        <p:nvSpPr>
          <p:cNvPr id="11" name="Shape 8"/>
          <p:cNvSpPr/>
          <p:nvPr/>
        </p:nvSpPr>
        <p:spPr>
          <a:xfrm>
            <a:off x="822960" y="2304288"/>
            <a:ext cx="3749040" cy="0"/>
          </a:xfrm>
          <a:prstGeom prst="line">
            <a:avLst/>
          </a:prstGeom>
          <a:noFill/>
          <a:ln w="10160">
            <a:solidFill>
              <a:srgbClr val="E8C8D5"/>
            </a:solidFill>
            <a:prstDash val="solid"/>
          </a:ln>
        </p:spPr>
      </p:sp>
      <p:sp>
        <p:nvSpPr>
          <p:cNvPr id="12" name="Text 9"/>
          <p:cNvSpPr/>
          <p:nvPr/>
        </p:nvSpPr>
        <p:spPr>
          <a:xfrm>
            <a:off x="822960" y="2414016"/>
            <a:ext cx="3749040" cy="713232"/>
          </a:xfrm>
          <a:prstGeom prst="rect">
            <a:avLst/>
          </a:prstGeom>
          <a:noFill/>
          <a:ln/>
        </p:spPr>
        <p:txBody>
          <a:bodyPr wrap="square" rtlCol="0" anchor="t"/>
          <a:lstStyle/>
          <a:p>
            <a:pPr algn="l" indent="0" marL="0">
              <a:buNone/>
            </a:pPr>
            <a:r>
              <a:rPr lang="en-US" sz="1050" dirty="0">
                <a:solidFill>
                  <a:srgbClr val="100810"/>
                </a:solidFill>
                <a:latin typeface="Calibri" pitchFamily="34" charset="0"/>
                <a:ea typeface="Calibri" pitchFamily="34" charset="-122"/>
                <a:cs typeface="Calibri" pitchFamily="34" charset="-120"/>
              </a:rPr>
              <a:t>I am a PR and brand strategist with over five years of experience building some of Nigeria's most culturally resonant campaigns — spanning luxury, beauty, FMCG, and entertainment.</a:t>
            </a:r>
            <a:endParaRPr lang="en-US" sz="1050" dirty="0"/>
          </a:p>
        </p:txBody>
      </p:sp>
      <p:sp>
        <p:nvSpPr>
          <p:cNvPr id="13" name="Text 10"/>
          <p:cNvSpPr/>
          <p:nvPr/>
        </p:nvSpPr>
        <p:spPr>
          <a:xfrm>
            <a:off x="822960" y="3200400"/>
            <a:ext cx="3749040" cy="868680"/>
          </a:xfrm>
          <a:prstGeom prst="rect">
            <a:avLst/>
          </a:prstGeom>
          <a:noFill/>
          <a:ln/>
        </p:spPr>
        <p:txBody>
          <a:bodyPr wrap="square" rtlCol="0" anchor="t"/>
          <a:lstStyle/>
          <a:p>
            <a:pPr algn="l" indent="0" marL="0">
              <a:buNone/>
            </a:pPr>
            <a:r>
              <a:rPr lang="en-US" sz="950" i="1" dirty="0">
                <a:solidFill>
                  <a:srgbClr val="8A7A82"/>
                </a:solidFill>
                <a:latin typeface="Calibri" pitchFamily="34" charset="0"/>
                <a:ea typeface="Calibri" pitchFamily="34" charset="-122"/>
                <a:cs typeface="Calibri" pitchFamily="34" charset="-120"/>
              </a:rPr>
              <a:t>Every project I've led has been shaped by the same conviction: African consumers are not a secondary market. The most powerful campaigns I've built were constructed from cultural truth and emotional intelligence — not adapted from Western playbooks. That conviction is the founding philosophy of marktn.</a:t>
            </a:r>
            <a:endParaRPr lang="en-US" sz="950" dirty="0"/>
          </a:p>
        </p:txBody>
      </p:sp>
      <p:sp>
        <p:nvSpPr>
          <p:cNvPr id="14" name="Shape 11"/>
          <p:cNvSpPr/>
          <p:nvPr/>
        </p:nvSpPr>
        <p:spPr>
          <a:xfrm>
            <a:off x="4846320" y="384048"/>
            <a:ext cx="4114800" cy="1024128"/>
          </a:xfrm>
          <a:prstGeom prst="rect">
            <a:avLst/>
          </a:prstGeom>
          <a:solidFill>
            <a:srgbClr val="F0E8E0"/>
          </a:solidFill>
          <a:ln w="12700">
            <a:solidFill>
              <a:srgbClr val="E8DDD5"/>
            </a:solidFill>
            <a:prstDash val="solid"/>
          </a:ln>
        </p:spPr>
      </p:sp>
      <p:sp>
        <p:nvSpPr>
          <p:cNvPr id="15" name="Shape 12"/>
          <p:cNvSpPr/>
          <p:nvPr/>
        </p:nvSpPr>
        <p:spPr>
          <a:xfrm>
            <a:off x="4846320" y="384048"/>
            <a:ext cx="54864" cy="1024128"/>
          </a:xfrm>
          <a:prstGeom prst="rect">
            <a:avLst/>
          </a:prstGeom>
          <a:solidFill>
            <a:srgbClr val="9E4F6B"/>
          </a:solidFill>
          <a:ln w="12700">
            <a:solidFill>
              <a:srgbClr val="9E4F6B"/>
            </a:solidFill>
            <a:prstDash val="solid"/>
          </a:ln>
        </p:spPr>
      </p:sp>
      <p:sp>
        <p:nvSpPr>
          <p:cNvPr id="16" name="Text 13"/>
          <p:cNvSpPr/>
          <p:nvPr/>
        </p:nvSpPr>
        <p:spPr>
          <a:xfrm>
            <a:off x="5010912" y="475488"/>
            <a:ext cx="3840480" cy="182880"/>
          </a:xfrm>
          <a:prstGeom prst="rect">
            <a:avLst/>
          </a:prstGeom>
          <a:noFill/>
          <a:ln/>
        </p:spPr>
        <p:txBody>
          <a:bodyPr wrap="square" rtlCol="0" anchor="t"/>
          <a:lstStyle/>
          <a:p>
            <a:pPr algn="l" indent="0" marL="0">
              <a:buNone/>
            </a:pPr>
            <a:r>
              <a:rPr lang="en-US" sz="700" b="1" spc="250" kern="0" dirty="0">
                <a:solidFill>
                  <a:srgbClr val="9E4F6B"/>
                </a:solidFill>
                <a:latin typeface="Calibri" pitchFamily="34" charset="0"/>
                <a:ea typeface="Calibri" pitchFamily="34" charset="-122"/>
                <a:cs typeface="Calibri" pitchFamily="34" charset="-120"/>
              </a:rPr>
              <a:t>CURRENTLY</a:t>
            </a:r>
            <a:endParaRPr lang="en-US" sz="700" dirty="0"/>
          </a:p>
        </p:txBody>
      </p:sp>
      <p:sp>
        <p:nvSpPr>
          <p:cNvPr id="17" name="Text 14"/>
          <p:cNvSpPr/>
          <p:nvPr/>
        </p:nvSpPr>
        <p:spPr>
          <a:xfrm>
            <a:off x="5010912" y="676656"/>
            <a:ext cx="3840480" cy="658368"/>
          </a:xfrm>
          <a:prstGeom prst="rect">
            <a:avLst/>
          </a:prstGeom>
          <a:noFill/>
          <a:ln/>
        </p:spPr>
        <p:txBody>
          <a:bodyPr wrap="square" rtlCol="0" anchor="t"/>
          <a:lstStyle/>
          <a:p>
            <a:pPr algn="l" indent="0" marL="0">
              <a:buNone/>
            </a:pPr>
            <a:r>
              <a:rPr lang="en-US" sz="900" dirty="0">
                <a:solidFill>
                  <a:srgbClr val="8A7A82"/>
                </a:solidFill>
                <a:latin typeface="Calibri" pitchFamily="34" charset="0"/>
                <a:ea typeface="Calibri" pitchFamily="34" charset="-122"/>
                <a:cs typeface="Calibri" pitchFamily="34" charset="-120"/>
              </a:rPr>
              <a:t>Founder &amp; CEO, marktn PR</a:t>
            </a:r>
            <a:endParaRPr lang="en-US" sz="900" dirty="0"/>
          </a:p>
          <a:p>
            <a:pPr algn="l" indent="0" marL="0">
              <a:buNone/>
            </a:pPr>
            <a:r>
              <a:rPr lang="en-US" sz="900" dirty="0">
                <a:solidFill>
                  <a:srgbClr val="8A7A82"/>
                </a:solidFill>
                <a:latin typeface="Calibri" pitchFamily="34" charset="0"/>
                <a:ea typeface="Calibri" pitchFamily="34" charset="-122"/>
                <a:cs typeface="Calibri" pitchFamily="34" charset="-120"/>
              </a:rPr>
              <a:t>Creative &amp; Content Manager, Beguile by Omaa</a:t>
            </a:r>
            <a:endParaRPr lang="en-US" sz="900" dirty="0"/>
          </a:p>
          <a:p>
            <a:pPr algn="l" indent="0" marL="0">
              <a:buNone/>
            </a:pPr>
            <a:r>
              <a:rPr lang="en-US" sz="900" dirty="0">
                <a:solidFill>
                  <a:srgbClr val="8A7A82"/>
                </a:solidFill>
                <a:latin typeface="Calibri" pitchFamily="34" charset="0"/>
                <a:ea typeface="Calibri" pitchFamily="34" charset="-122"/>
                <a:cs typeface="Calibri" pitchFamily="34" charset="-120"/>
              </a:rPr>
              <a:t>Formerly: Marketing &amp; PR Executive, Beauty Hut Africa (Oct 2024 – Jan 2025)</a:t>
            </a:r>
            <a:endParaRPr lang="en-US" sz="900" dirty="0"/>
          </a:p>
        </p:txBody>
      </p:sp>
      <p:sp>
        <p:nvSpPr>
          <p:cNvPr id="18" name="Shape 15"/>
          <p:cNvSpPr/>
          <p:nvPr/>
        </p:nvSpPr>
        <p:spPr>
          <a:xfrm>
            <a:off x="4846320" y="1481328"/>
            <a:ext cx="4114800" cy="1024128"/>
          </a:xfrm>
          <a:prstGeom prst="rect">
            <a:avLst/>
          </a:prstGeom>
          <a:solidFill>
            <a:srgbClr val="F0E8E0"/>
          </a:solidFill>
          <a:ln w="12700">
            <a:solidFill>
              <a:srgbClr val="E8DDD5"/>
            </a:solidFill>
            <a:prstDash val="solid"/>
          </a:ln>
        </p:spPr>
      </p:sp>
      <p:sp>
        <p:nvSpPr>
          <p:cNvPr id="19" name="Shape 16"/>
          <p:cNvSpPr/>
          <p:nvPr/>
        </p:nvSpPr>
        <p:spPr>
          <a:xfrm>
            <a:off x="4846320" y="1481328"/>
            <a:ext cx="54864" cy="1024128"/>
          </a:xfrm>
          <a:prstGeom prst="rect">
            <a:avLst/>
          </a:prstGeom>
          <a:solidFill>
            <a:srgbClr val="9E4F6B"/>
          </a:solidFill>
          <a:ln w="12700">
            <a:solidFill>
              <a:srgbClr val="9E4F6B"/>
            </a:solidFill>
            <a:prstDash val="solid"/>
          </a:ln>
        </p:spPr>
      </p:sp>
      <p:sp>
        <p:nvSpPr>
          <p:cNvPr id="20" name="Text 17"/>
          <p:cNvSpPr/>
          <p:nvPr/>
        </p:nvSpPr>
        <p:spPr>
          <a:xfrm>
            <a:off x="5010912" y="1572768"/>
            <a:ext cx="3840480" cy="182880"/>
          </a:xfrm>
          <a:prstGeom prst="rect">
            <a:avLst/>
          </a:prstGeom>
          <a:noFill/>
          <a:ln/>
        </p:spPr>
        <p:txBody>
          <a:bodyPr wrap="square" rtlCol="0" anchor="t"/>
          <a:lstStyle/>
          <a:p>
            <a:pPr algn="l" indent="0" marL="0">
              <a:buNone/>
            </a:pPr>
            <a:r>
              <a:rPr lang="en-US" sz="700" b="1" spc="250" kern="0" dirty="0">
                <a:solidFill>
                  <a:srgbClr val="9E4F6B"/>
                </a:solidFill>
                <a:latin typeface="Calibri" pitchFamily="34" charset="0"/>
                <a:ea typeface="Calibri" pitchFamily="34" charset="-122"/>
                <a:cs typeface="Calibri" pitchFamily="34" charset="-120"/>
              </a:rPr>
              <a:t>EDUCATION</a:t>
            </a:r>
            <a:endParaRPr lang="en-US" sz="700" dirty="0"/>
          </a:p>
        </p:txBody>
      </p:sp>
      <p:sp>
        <p:nvSpPr>
          <p:cNvPr id="21" name="Text 18"/>
          <p:cNvSpPr/>
          <p:nvPr/>
        </p:nvSpPr>
        <p:spPr>
          <a:xfrm>
            <a:off x="5010912" y="1773936"/>
            <a:ext cx="3840480" cy="658368"/>
          </a:xfrm>
          <a:prstGeom prst="rect">
            <a:avLst/>
          </a:prstGeom>
          <a:noFill/>
          <a:ln/>
        </p:spPr>
        <p:txBody>
          <a:bodyPr wrap="square" rtlCol="0" anchor="t"/>
          <a:lstStyle/>
          <a:p>
            <a:pPr algn="l" indent="0" marL="0">
              <a:buNone/>
            </a:pPr>
            <a:r>
              <a:rPr lang="en-US" sz="900" dirty="0">
                <a:solidFill>
                  <a:srgbClr val="8A7A82"/>
                </a:solidFill>
                <a:latin typeface="Calibri" pitchFamily="34" charset="0"/>
                <a:ea typeface="Calibri" pitchFamily="34" charset="-122"/>
                <a:cs typeface="Calibri" pitchFamily="34" charset="-120"/>
              </a:rPr>
              <a:t>B.Sc Mass Communication (Broadcasting), Babcock University</a:t>
            </a:r>
            <a:endParaRPr lang="en-US" sz="900" dirty="0"/>
          </a:p>
          <a:p>
            <a:pPr algn="l" indent="0" marL="0">
              <a:buNone/>
            </a:pPr>
            <a:r>
              <a:rPr lang="en-US" sz="900" dirty="0">
                <a:solidFill>
                  <a:srgbClr val="8A7A82"/>
                </a:solidFill>
                <a:latin typeface="Calibri" pitchFamily="34" charset="0"/>
                <a:ea typeface="Calibri" pitchFamily="34" charset="-122"/>
                <a:cs typeface="Calibri" pitchFamily="34" charset="-120"/>
              </a:rPr>
              <a:t>Google Digital Marketing — Certified · City 105.1 FM OAP Academy</a:t>
            </a:r>
            <a:endParaRPr lang="en-US" sz="900" dirty="0"/>
          </a:p>
        </p:txBody>
      </p:sp>
      <p:sp>
        <p:nvSpPr>
          <p:cNvPr id="22" name="Shape 19"/>
          <p:cNvSpPr/>
          <p:nvPr/>
        </p:nvSpPr>
        <p:spPr>
          <a:xfrm>
            <a:off x="4846320" y="2578608"/>
            <a:ext cx="4114800" cy="1024128"/>
          </a:xfrm>
          <a:prstGeom prst="rect">
            <a:avLst/>
          </a:prstGeom>
          <a:solidFill>
            <a:srgbClr val="F0E8E0"/>
          </a:solidFill>
          <a:ln w="12700">
            <a:solidFill>
              <a:srgbClr val="E8DDD5"/>
            </a:solidFill>
            <a:prstDash val="solid"/>
          </a:ln>
        </p:spPr>
      </p:sp>
      <p:sp>
        <p:nvSpPr>
          <p:cNvPr id="23" name="Shape 20"/>
          <p:cNvSpPr/>
          <p:nvPr/>
        </p:nvSpPr>
        <p:spPr>
          <a:xfrm>
            <a:off x="4846320" y="2578608"/>
            <a:ext cx="54864" cy="1024128"/>
          </a:xfrm>
          <a:prstGeom prst="rect">
            <a:avLst/>
          </a:prstGeom>
          <a:solidFill>
            <a:srgbClr val="9E4F6B"/>
          </a:solidFill>
          <a:ln w="12700">
            <a:solidFill>
              <a:srgbClr val="9E4F6B"/>
            </a:solidFill>
            <a:prstDash val="solid"/>
          </a:ln>
        </p:spPr>
      </p:sp>
      <p:sp>
        <p:nvSpPr>
          <p:cNvPr id="24" name="Text 21"/>
          <p:cNvSpPr/>
          <p:nvPr/>
        </p:nvSpPr>
        <p:spPr>
          <a:xfrm>
            <a:off x="5010912" y="2670048"/>
            <a:ext cx="3840480" cy="182880"/>
          </a:xfrm>
          <a:prstGeom prst="rect">
            <a:avLst/>
          </a:prstGeom>
          <a:noFill/>
          <a:ln/>
        </p:spPr>
        <p:txBody>
          <a:bodyPr wrap="square" rtlCol="0" anchor="t"/>
          <a:lstStyle/>
          <a:p>
            <a:pPr algn="l" indent="0" marL="0">
              <a:buNone/>
            </a:pPr>
            <a:r>
              <a:rPr lang="en-US" sz="700" b="1" spc="250" kern="0" dirty="0">
                <a:solidFill>
                  <a:srgbClr val="9E4F6B"/>
                </a:solidFill>
                <a:latin typeface="Calibri" pitchFamily="34" charset="0"/>
                <a:ea typeface="Calibri" pitchFamily="34" charset="-122"/>
                <a:cs typeface="Calibri" pitchFamily="34" charset="-120"/>
              </a:rPr>
              <a:t>SPECIALISATION</a:t>
            </a:r>
            <a:endParaRPr lang="en-US" sz="700" dirty="0"/>
          </a:p>
        </p:txBody>
      </p:sp>
      <p:sp>
        <p:nvSpPr>
          <p:cNvPr id="25" name="Text 22"/>
          <p:cNvSpPr/>
          <p:nvPr/>
        </p:nvSpPr>
        <p:spPr>
          <a:xfrm>
            <a:off x="5010912" y="2871216"/>
            <a:ext cx="3840480" cy="658368"/>
          </a:xfrm>
          <a:prstGeom prst="rect">
            <a:avLst/>
          </a:prstGeom>
          <a:noFill/>
          <a:ln/>
        </p:spPr>
        <p:txBody>
          <a:bodyPr wrap="square" rtlCol="0" anchor="t"/>
          <a:lstStyle/>
          <a:p>
            <a:pPr algn="l" indent="0" marL="0">
              <a:buNone/>
            </a:pPr>
            <a:r>
              <a:rPr lang="en-US" sz="900" dirty="0">
                <a:solidFill>
                  <a:srgbClr val="8A7A82"/>
                </a:solidFill>
                <a:latin typeface="Calibri" pitchFamily="34" charset="0"/>
                <a:ea typeface="Calibri" pitchFamily="34" charset="-122"/>
                <a:cs typeface="Calibri" pitchFamily="34" charset="-120"/>
              </a:rPr>
              <a:t>Luxury PR · Influencer Marketing · Experiential Campaigns</a:t>
            </a:r>
            <a:endParaRPr lang="en-US" sz="900" dirty="0"/>
          </a:p>
          <a:p>
            <a:pPr algn="l" indent="0" marL="0">
              <a:buNone/>
            </a:pPr>
            <a:r>
              <a:rPr lang="en-US" sz="900" dirty="0">
                <a:solidFill>
                  <a:srgbClr val="8A7A82"/>
                </a:solidFill>
                <a:latin typeface="Calibri" pitchFamily="34" charset="0"/>
                <a:ea typeface="Calibri" pitchFamily="34" charset="-122"/>
                <a:cs typeface="Calibri" pitchFamily="34" charset="-120"/>
              </a:rPr>
              <a:t>Brand Storytelling · Media Relations · Cultural Marketing</a:t>
            </a:r>
            <a:endParaRPr lang="en-US" sz="900" dirty="0"/>
          </a:p>
        </p:txBody>
      </p:sp>
      <p:sp>
        <p:nvSpPr>
          <p:cNvPr id="26" name="Shape 23"/>
          <p:cNvSpPr/>
          <p:nvPr/>
        </p:nvSpPr>
        <p:spPr>
          <a:xfrm>
            <a:off x="4846320" y="3675888"/>
            <a:ext cx="4114800" cy="1024128"/>
          </a:xfrm>
          <a:prstGeom prst="rect">
            <a:avLst/>
          </a:prstGeom>
          <a:solidFill>
            <a:srgbClr val="F0E8E0"/>
          </a:solidFill>
          <a:ln w="12700">
            <a:solidFill>
              <a:srgbClr val="E8DDD5"/>
            </a:solidFill>
            <a:prstDash val="solid"/>
          </a:ln>
        </p:spPr>
      </p:sp>
      <p:sp>
        <p:nvSpPr>
          <p:cNvPr id="27" name="Shape 24"/>
          <p:cNvSpPr/>
          <p:nvPr/>
        </p:nvSpPr>
        <p:spPr>
          <a:xfrm>
            <a:off x="4846320" y="3675888"/>
            <a:ext cx="54864" cy="1024128"/>
          </a:xfrm>
          <a:prstGeom prst="rect">
            <a:avLst/>
          </a:prstGeom>
          <a:solidFill>
            <a:srgbClr val="9E4F6B"/>
          </a:solidFill>
          <a:ln w="12700">
            <a:solidFill>
              <a:srgbClr val="9E4F6B"/>
            </a:solidFill>
            <a:prstDash val="solid"/>
          </a:ln>
        </p:spPr>
      </p:sp>
      <p:sp>
        <p:nvSpPr>
          <p:cNvPr id="28" name="Text 25"/>
          <p:cNvSpPr/>
          <p:nvPr/>
        </p:nvSpPr>
        <p:spPr>
          <a:xfrm>
            <a:off x="5010912" y="3767328"/>
            <a:ext cx="3840480" cy="182880"/>
          </a:xfrm>
          <a:prstGeom prst="rect">
            <a:avLst/>
          </a:prstGeom>
          <a:noFill/>
          <a:ln/>
        </p:spPr>
        <p:txBody>
          <a:bodyPr wrap="square" rtlCol="0" anchor="t"/>
          <a:lstStyle/>
          <a:p>
            <a:pPr algn="l" indent="0" marL="0">
              <a:buNone/>
            </a:pPr>
            <a:r>
              <a:rPr lang="en-US" sz="700" b="1" spc="250" kern="0" dirty="0">
                <a:solidFill>
                  <a:srgbClr val="9E4F6B"/>
                </a:solidFill>
                <a:latin typeface="Calibri" pitchFamily="34" charset="0"/>
                <a:ea typeface="Calibri" pitchFamily="34" charset="-122"/>
                <a:cs typeface="Calibri" pitchFamily="34" charset="-120"/>
              </a:rPr>
              <a:t>PUBLISHED</a:t>
            </a:r>
            <a:endParaRPr lang="en-US" sz="700" dirty="0"/>
          </a:p>
        </p:txBody>
      </p:sp>
      <p:sp>
        <p:nvSpPr>
          <p:cNvPr id="29" name="Text 26"/>
          <p:cNvSpPr/>
          <p:nvPr/>
        </p:nvSpPr>
        <p:spPr>
          <a:xfrm>
            <a:off x="5010912" y="3968496"/>
            <a:ext cx="3840480" cy="658368"/>
          </a:xfrm>
          <a:prstGeom prst="rect">
            <a:avLst/>
          </a:prstGeom>
          <a:noFill/>
          <a:ln/>
        </p:spPr>
        <p:txBody>
          <a:bodyPr wrap="square" rtlCol="0" anchor="t"/>
          <a:lstStyle/>
          <a:p>
            <a:pPr algn="l" indent="0" marL="0">
              <a:buNone/>
            </a:pPr>
            <a:r>
              <a:rPr lang="en-US" sz="900" dirty="0">
                <a:solidFill>
                  <a:srgbClr val="8A7A82"/>
                </a:solidFill>
                <a:latin typeface="Calibri" pitchFamily="34" charset="0"/>
                <a:ea typeface="Calibri" pitchFamily="34" charset="-122"/>
                <a:cs typeface="Calibri" pitchFamily="34" charset="-120"/>
              </a:rPr>
              <a:t>"Why Is Everyone So Obsessed With Gen Z's?" — The Redrick Gazette, Medium</a:t>
            </a:r>
            <a:endParaRPr lang="en-US" sz="900" dirty="0"/>
          </a:p>
        </p:txBody>
      </p:sp>
      <p:sp>
        <p:nvSpPr>
          <p:cNvPr id="30" name="Text 27"/>
          <p:cNvSpPr/>
          <p:nvPr/>
        </p:nvSpPr>
        <p:spPr>
          <a:xfrm>
            <a:off x="822960" y="4224528"/>
            <a:ext cx="3566160" cy="182880"/>
          </a:xfrm>
          <a:prstGeom prst="rect">
            <a:avLst/>
          </a:prstGeom>
          <a:noFill/>
          <a:ln/>
        </p:spPr>
        <p:txBody>
          <a:bodyPr wrap="square" rtlCol="0" anchor="t"/>
          <a:lstStyle/>
          <a:p>
            <a:pPr algn="l" indent="0" marL="0">
              <a:buNone/>
            </a:pPr>
            <a:r>
              <a:rPr lang="en-US" sz="700" b="1" spc="300" kern="0" dirty="0">
                <a:solidFill>
                  <a:srgbClr val="9E4F6B"/>
                </a:solidFill>
                <a:latin typeface="Calibri" pitchFamily="34" charset="0"/>
                <a:ea typeface="Calibri" pitchFamily="34" charset="-122"/>
                <a:cs typeface="Calibri" pitchFamily="34" charset="-120"/>
              </a:rPr>
              <a:t>COVERED BY</a:t>
            </a:r>
            <a:endParaRPr lang="en-US" sz="700" dirty="0"/>
          </a:p>
        </p:txBody>
      </p:sp>
      <p:sp>
        <p:nvSpPr>
          <p:cNvPr id="31" name="Shape 28"/>
          <p:cNvSpPr/>
          <p:nvPr/>
        </p:nvSpPr>
        <p:spPr>
          <a:xfrm>
            <a:off x="822960" y="4443984"/>
            <a:ext cx="1298448" cy="219456"/>
          </a:xfrm>
          <a:prstGeom prst="rect">
            <a:avLst/>
          </a:prstGeom>
          <a:solidFill>
            <a:srgbClr val="E8C8D5"/>
          </a:solidFill>
          <a:ln w="12700">
            <a:solidFill>
              <a:srgbClr val="D4B8C5"/>
            </a:solidFill>
            <a:prstDash val="solid"/>
          </a:ln>
        </p:spPr>
      </p:sp>
      <p:sp>
        <p:nvSpPr>
          <p:cNvPr id="32" name="Text 29"/>
          <p:cNvSpPr/>
          <p:nvPr/>
        </p:nvSpPr>
        <p:spPr>
          <a:xfrm>
            <a:off x="822960" y="4443984"/>
            <a:ext cx="1298448" cy="219456"/>
          </a:xfrm>
          <a:prstGeom prst="rect">
            <a:avLst/>
          </a:prstGeom>
          <a:noFill/>
          <a:ln/>
        </p:spPr>
        <p:txBody>
          <a:bodyPr wrap="square" rtlCol="0" anchor="ctr"/>
          <a:lstStyle/>
          <a:p>
            <a:pPr algn="ctr" indent="0" marL="0">
              <a:buNone/>
            </a:pPr>
            <a:r>
              <a:rPr lang="en-US" sz="650" b="1" dirty="0">
                <a:solidFill>
                  <a:srgbClr val="7A3B53"/>
                </a:solidFill>
                <a:latin typeface="Calibri" pitchFamily="34" charset="0"/>
                <a:ea typeface="Calibri" pitchFamily="34" charset="-122"/>
                <a:cs typeface="Calibri" pitchFamily="34" charset="-120"/>
              </a:rPr>
              <a:t>Marie Claire</a:t>
            </a:r>
            <a:endParaRPr lang="en-US" sz="650" dirty="0"/>
          </a:p>
        </p:txBody>
      </p:sp>
      <p:sp>
        <p:nvSpPr>
          <p:cNvPr id="33" name="Shape 30"/>
          <p:cNvSpPr/>
          <p:nvPr/>
        </p:nvSpPr>
        <p:spPr>
          <a:xfrm>
            <a:off x="2176272" y="4443984"/>
            <a:ext cx="1298448" cy="219456"/>
          </a:xfrm>
          <a:prstGeom prst="rect">
            <a:avLst/>
          </a:prstGeom>
          <a:solidFill>
            <a:srgbClr val="E8C8D5"/>
          </a:solidFill>
          <a:ln w="12700">
            <a:solidFill>
              <a:srgbClr val="D4B8C5"/>
            </a:solidFill>
            <a:prstDash val="solid"/>
          </a:ln>
        </p:spPr>
      </p:sp>
      <p:sp>
        <p:nvSpPr>
          <p:cNvPr id="34" name="Text 31"/>
          <p:cNvSpPr/>
          <p:nvPr/>
        </p:nvSpPr>
        <p:spPr>
          <a:xfrm>
            <a:off x="2176272" y="4443984"/>
            <a:ext cx="1298448" cy="219456"/>
          </a:xfrm>
          <a:prstGeom prst="rect">
            <a:avLst/>
          </a:prstGeom>
          <a:noFill/>
          <a:ln/>
        </p:spPr>
        <p:txBody>
          <a:bodyPr wrap="square" rtlCol="0" anchor="ctr"/>
          <a:lstStyle/>
          <a:p>
            <a:pPr algn="ctr" indent="0" marL="0">
              <a:buNone/>
            </a:pPr>
            <a:r>
              <a:rPr lang="en-US" sz="650" b="1" dirty="0">
                <a:solidFill>
                  <a:srgbClr val="7A3B53"/>
                </a:solidFill>
                <a:latin typeface="Calibri" pitchFamily="34" charset="0"/>
                <a:ea typeface="Calibri" pitchFamily="34" charset="-122"/>
                <a:cs typeface="Calibri" pitchFamily="34" charset="-120"/>
              </a:rPr>
              <a:t>21 Magazine</a:t>
            </a:r>
            <a:endParaRPr lang="en-US" sz="650" dirty="0"/>
          </a:p>
        </p:txBody>
      </p:sp>
      <p:sp>
        <p:nvSpPr>
          <p:cNvPr id="35" name="Shape 32"/>
          <p:cNvSpPr/>
          <p:nvPr/>
        </p:nvSpPr>
        <p:spPr>
          <a:xfrm>
            <a:off x="3529584" y="4443984"/>
            <a:ext cx="1298448" cy="219456"/>
          </a:xfrm>
          <a:prstGeom prst="rect">
            <a:avLst/>
          </a:prstGeom>
          <a:solidFill>
            <a:srgbClr val="E8C8D5"/>
          </a:solidFill>
          <a:ln w="12700">
            <a:solidFill>
              <a:srgbClr val="D4B8C5"/>
            </a:solidFill>
            <a:prstDash val="solid"/>
          </a:ln>
        </p:spPr>
      </p:sp>
      <p:sp>
        <p:nvSpPr>
          <p:cNvPr id="36" name="Text 33"/>
          <p:cNvSpPr/>
          <p:nvPr/>
        </p:nvSpPr>
        <p:spPr>
          <a:xfrm>
            <a:off x="3529584" y="4443984"/>
            <a:ext cx="1298448" cy="219456"/>
          </a:xfrm>
          <a:prstGeom prst="rect">
            <a:avLst/>
          </a:prstGeom>
          <a:noFill/>
          <a:ln/>
        </p:spPr>
        <p:txBody>
          <a:bodyPr wrap="square" rtlCol="0" anchor="ctr"/>
          <a:lstStyle/>
          <a:p>
            <a:pPr algn="ctr" indent="0" marL="0">
              <a:buNone/>
            </a:pPr>
            <a:r>
              <a:rPr lang="en-US" sz="650" b="1" dirty="0">
                <a:solidFill>
                  <a:srgbClr val="7A3B53"/>
                </a:solidFill>
                <a:latin typeface="Calibri" pitchFamily="34" charset="0"/>
                <a:ea typeface="Calibri" pitchFamily="34" charset="-122"/>
                <a:cs typeface="Calibri" pitchFamily="34" charset="-120"/>
              </a:rPr>
              <a:t>BoF</a:t>
            </a:r>
            <a:endParaRPr lang="en-US" sz="650" dirty="0"/>
          </a:p>
        </p:txBody>
      </p:sp>
      <p:sp>
        <p:nvSpPr>
          <p:cNvPr id="37" name="Shape 34"/>
          <p:cNvSpPr/>
          <p:nvPr/>
        </p:nvSpPr>
        <p:spPr>
          <a:xfrm>
            <a:off x="822960" y="4700016"/>
            <a:ext cx="1298448" cy="219456"/>
          </a:xfrm>
          <a:prstGeom prst="rect">
            <a:avLst/>
          </a:prstGeom>
          <a:solidFill>
            <a:srgbClr val="E8C8D5"/>
          </a:solidFill>
          <a:ln w="12700">
            <a:solidFill>
              <a:srgbClr val="D4B8C5"/>
            </a:solidFill>
            <a:prstDash val="solid"/>
          </a:ln>
        </p:spPr>
      </p:sp>
      <p:sp>
        <p:nvSpPr>
          <p:cNvPr id="38" name="Text 35"/>
          <p:cNvSpPr/>
          <p:nvPr/>
        </p:nvSpPr>
        <p:spPr>
          <a:xfrm>
            <a:off x="822960" y="4700016"/>
            <a:ext cx="1298448" cy="219456"/>
          </a:xfrm>
          <a:prstGeom prst="rect">
            <a:avLst/>
          </a:prstGeom>
          <a:noFill/>
          <a:ln/>
        </p:spPr>
        <p:txBody>
          <a:bodyPr wrap="square" rtlCol="0" anchor="ctr"/>
          <a:lstStyle/>
          <a:p>
            <a:pPr algn="ctr" indent="0" marL="0">
              <a:buNone/>
            </a:pPr>
            <a:r>
              <a:rPr lang="en-US" sz="650" b="1" dirty="0">
                <a:solidFill>
                  <a:srgbClr val="7A3B53"/>
                </a:solidFill>
                <a:latin typeface="Calibri" pitchFamily="34" charset="0"/>
                <a:ea typeface="Calibri" pitchFamily="34" charset="-122"/>
                <a:cs typeface="Calibri" pitchFamily="34" charset="-120"/>
              </a:rPr>
              <a:t>PRNewswire</a:t>
            </a:r>
            <a:endParaRPr lang="en-US" sz="650" dirty="0"/>
          </a:p>
        </p:txBody>
      </p:sp>
      <p:sp>
        <p:nvSpPr>
          <p:cNvPr id="39" name="Shape 36"/>
          <p:cNvSpPr/>
          <p:nvPr/>
        </p:nvSpPr>
        <p:spPr>
          <a:xfrm>
            <a:off x="2176272" y="4700016"/>
            <a:ext cx="1298448" cy="219456"/>
          </a:xfrm>
          <a:prstGeom prst="rect">
            <a:avLst/>
          </a:prstGeom>
          <a:solidFill>
            <a:srgbClr val="E8C8D5"/>
          </a:solidFill>
          <a:ln w="12700">
            <a:solidFill>
              <a:srgbClr val="D4B8C5"/>
            </a:solidFill>
            <a:prstDash val="solid"/>
          </a:ln>
        </p:spPr>
      </p:sp>
      <p:sp>
        <p:nvSpPr>
          <p:cNvPr id="40" name="Text 37"/>
          <p:cNvSpPr/>
          <p:nvPr/>
        </p:nvSpPr>
        <p:spPr>
          <a:xfrm>
            <a:off x="2176272" y="4700016"/>
            <a:ext cx="1298448" cy="219456"/>
          </a:xfrm>
          <a:prstGeom prst="rect">
            <a:avLst/>
          </a:prstGeom>
          <a:noFill/>
          <a:ln/>
        </p:spPr>
        <p:txBody>
          <a:bodyPr wrap="square" rtlCol="0" anchor="ctr"/>
          <a:lstStyle/>
          <a:p>
            <a:pPr algn="ctr" indent="0" marL="0">
              <a:buNone/>
            </a:pPr>
            <a:r>
              <a:rPr lang="en-US" sz="650" b="1" dirty="0">
                <a:solidFill>
                  <a:srgbClr val="7A3B53"/>
                </a:solidFill>
                <a:latin typeface="Calibri" pitchFamily="34" charset="0"/>
                <a:ea typeface="Calibri" pitchFamily="34" charset="-122"/>
                <a:cs typeface="Calibri" pitchFamily="34" charset="-120"/>
              </a:rPr>
              <a:t>Zikoko</a:t>
            </a:r>
            <a:endParaRPr lang="en-US" sz="650" dirty="0"/>
          </a:p>
        </p:txBody>
      </p:sp>
      <p:sp>
        <p:nvSpPr>
          <p:cNvPr id="41" name="Shape 38"/>
          <p:cNvSpPr/>
          <p:nvPr/>
        </p:nvSpPr>
        <p:spPr>
          <a:xfrm>
            <a:off x="3529584" y="4700016"/>
            <a:ext cx="1298448" cy="219456"/>
          </a:xfrm>
          <a:prstGeom prst="rect">
            <a:avLst/>
          </a:prstGeom>
          <a:solidFill>
            <a:srgbClr val="E8C8D5"/>
          </a:solidFill>
          <a:ln w="12700">
            <a:solidFill>
              <a:srgbClr val="D4B8C5"/>
            </a:solidFill>
            <a:prstDash val="solid"/>
          </a:ln>
        </p:spPr>
      </p:sp>
      <p:sp>
        <p:nvSpPr>
          <p:cNvPr id="42" name="Text 39"/>
          <p:cNvSpPr/>
          <p:nvPr/>
        </p:nvSpPr>
        <p:spPr>
          <a:xfrm>
            <a:off x="3529584" y="4700016"/>
            <a:ext cx="1298448" cy="219456"/>
          </a:xfrm>
          <a:prstGeom prst="rect">
            <a:avLst/>
          </a:prstGeom>
          <a:noFill/>
          <a:ln/>
        </p:spPr>
        <p:txBody>
          <a:bodyPr wrap="square" rtlCol="0" anchor="ctr"/>
          <a:lstStyle/>
          <a:p>
            <a:pPr algn="ctr" indent="0" marL="0">
              <a:buNone/>
            </a:pPr>
            <a:r>
              <a:rPr lang="en-US" sz="650" b="1" dirty="0">
                <a:solidFill>
                  <a:srgbClr val="7A3B53"/>
                </a:solidFill>
                <a:latin typeface="Calibri" pitchFamily="34" charset="0"/>
                <a:ea typeface="Calibri" pitchFamily="34" charset="-122"/>
                <a:cs typeface="Calibri" pitchFamily="34" charset="-120"/>
              </a:rPr>
              <a:t>BeautyMatter</a:t>
            </a:r>
            <a:endParaRPr lang="en-US" sz="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9E4F6B"/>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B8923A"/>
          </a:solidFill>
          <a:ln w="12700">
            <a:solidFill>
              <a:srgbClr val="B8923A"/>
            </a:solidFill>
            <a:prstDash val="solid"/>
          </a:ln>
        </p:spPr>
      </p:sp>
      <p:sp>
        <p:nvSpPr>
          <p:cNvPr id="3" name="Shape 1"/>
          <p:cNvSpPr/>
          <p:nvPr/>
        </p:nvSpPr>
        <p:spPr>
          <a:xfrm>
            <a:off x="5943600" y="-914400"/>
            <a:ext cx="5029200" cy="5029200"/>
          </a:xfrm>
          <a:prstGeom prst="ellipse">
            <a:avLst/>
          </a:prstGeom>
          <a:solidFill>
            <a:srgbClr val="7A3B53">
              <a:alpha val="50000"/>
            </a:srgbClr>
          </a:solidFill>
          <a:ln w="12700">
            <a:solidFill>
              <a:srgbClr val="7A3B53">
                <a:alpha val="50000"/>
              </a:srgbClr>
            </a:solidFill>
            <a:prstDash val="solid"/>
          </a:ln>
        </p:spPr>
      </p:sp>
      <p:sp>
        <p:nvSpPr>
          <p:cNvPr id="4" name="Shape 2"/>
          <p:cNvSpPr/>
          <p:nvPr/>
        </p:nvSpPr>
        <p:spPr>
          <a:xfrm>
            <a:off x="-1371600" y="3200400"/>
            <a:ext cx="3657600" cy="3657600"/>
          </a:xfrm>
          <a:prstGeom prst="ellipse">
            <a:avLst/>
          </a:prstGeom>
          <a:solidFill>
            <a:srgbClr val="7A3B53">
              <a:alpha val="35000"/>
            </a:srgbClr>
          </a:solidFill>
          <a:ln w="12700">
            <a:solidFill>
              <a:srgbClr val="7A3B53">
                <a:alpha val="35000"/>
              </a:srgbClr>
            </a:solidFill>
            <a:prstDash val="solid"/>
          </a:ln>
        </p:spPr>
      </p:sp>
      <p:pic>
        <p:nvPicPr>
          <p:cNvPr id="5" name="Image 0" descr="preencoded.png">    </p:cNvPr>
          <p:cNvPicPr>
            <a:picLocks noChangeAspect="1"/>
          </p:cNvPicPr>
          <p:nvPr/>
        </p:nvPicPr>
        <p:blipFill>
          <a:blip r:embed="rId1"/>
          <a:stretch>
            <a:fillRect/>
          </a:stretch>
        </p:blipFill>
        <p:spPr>
          <a:xfrm>
            <a:off x="2926080" y="320040"/>
            <a:ext cx="3291840" cy="1042416"/>
          </a:xfrm>
          <a:prstGeom prst="rect">
            <a:avLst/>
          </a:prstGeom>
        </p:spPr>
      </p:pic>
      <p:sp>
        <p:nvSpPr>
          <p:cNvPr id="6" name="Text 3"/>
          <p:cNvSpPr/>
          <p:nvPr/>
        </p:nvSpPr>
        <p:spPr>
          <a:xfrm>
            <a:off x="1371600" y="1463040"/>
            <a:ext cx="6400800" cy="548640"/>
          </a:xfrm>
          <a:prstGeom prst="rect">
            <a:avLst/>
          </a:prstGeom>
          <a:noFill/>
          <a:ln/>
        </p:spPr>
        <p:txBody>
          <a:bodyPr wrap="square" rtlCol="0" anchor="t"/>
          <a:lstStyle/>
          <a:p>
            <a:pPr algn="ctr" indent="0" marL="0">
              <a:buNone/>
            </a:pPr>
            <a:r>
              <a:rPr lang="en-US" sz="1200" i="1" dirty="0">
                <a:solidFill>
                  <a:srgbClr val="E0D4BC"/>
                </a:solidFill>
                <a:latin typeface="Georgia" pitchFamily="34" charset="0"/>
                <a:ea typeface="Georgia" pitchFamily="34" charset="-122"/>
                <a:cs typeface="Georgia" pitchFamily="34" charset="-120"/>
              </a:rPr>
              <a:t>A next-generation PR &amp; marketing agency built to shift perception in Nigeria and across Africa.</a:t>
            </a:r>
            <a:endParaRPr lang="en-US" sz="1200" dirty="0"/>
          </a:p>
        </p:txBody>
      </p:sp>
      <p:sp>
        <p:nvSpPr>
          <p:cNvPr id="7" name="Shape 4"/>
          <p:cNvSpPr/>
          <p:nvPr/>
        </p:nvSpPr>
        <p:spPr>
          <a:xfrm>
            <a:off x="1371600" y="2084832"/>
            <a:ext cx="6400800" cy="0"/>
          </a:xfrm>
          <a:prstGeom prst="line">
            <a:avLst/>
          </a:prstGeom>
          <a:noFill/>
          <a:ln w="6350">
            <a:solidFill>
              <a:srgbClr val="E0D4BC"/>
            </a:solidFill>
            <a:prstDash val="solid"/>
          </a:ln>
        </p:spPr>
      </p:sp>
      <p:sp>
        <p:nvSpPr>
          <p:cNvPr id="8" name="Shape 5"/>
          <p:cNvSpPr/>
          <p:nvPr/>
        </p:nvSpPr>
        <p:spPr>
          <a:xfrm>
            <a:off x="274320" y="2212848"/>
            <a:ext cx="2834640" cy="1463040"/>
          </a:xfrm>
          <a:prstGeom prst="rect">
            <a:avLst/>
          </a:prstGeom>
          <a:solidFill>
            <a:srgbClr val="7A3B53"/>
          </a:solidFill>
          <a:ln w="12700">
            <a:solidFill>
              <a:srgbClr val="7A3B53"/>
            </a:solidFill>
            <a:prstDash val="solid"/>
          </a:ln>
        </p:spPr>
      </p:sp>
      <p:sp>
        <p:nvSpPr>
          <p:cNvPr id="9" name="Shape 6"/>
          <p:cNvSpPr/>
          <p:nvPr/>
        </p:nvSpPr>
        <p:spPr>
          <a:xfrm>
            <a:off x="274320" y="2212848"/>
            <a:ext cx="2834640" cy="54864"/>
          </a:xfrm>
          <a:prstGeom prst="rect">
            <a:avLst/>
          </a:prstGeom>
          <a:solidFill>
            <a:srgbClr val="B8923A"/>
          </a:solidFill>
          <a:ln w="12700">
            <a:solidFill>
              <a:srgbClr val="B8923A"/>
            </a:solidFill>
            <a:prstDash val="solid"/>
          </a:ln>
        </p:spPr>
      </p:sp>
      <p:sp>
        <p:nvSpPr>
          <p:cNvPr id="10" name="Text 7"/>
          <p:cNvSpPr/>
          <p:nvPr/>
        </p:nvSpPr>
        <p:spPr>
          <a:xfrm>
            <a:off x="402336" y="2322576"/>
            <a:ext cx="2578608" cy="201168"/>
          </a:xfrm>
          <a:prstGeom prst="rect">
            <a:avLst/>
          </a:prstGeom>
          <a:noFill/>
          <a:ln/>
        </p:spPr>
        <p:txBody>
          <a:bodyPr wrap="square" rtlCol="0" anchor="t"/>
          <a:lstStyle/>
          <a:p>
            <a:pPr algn="l" indent="0" marL="0">
              <a:buNone/>
            </a:pPr>
            <a:r>
              <a:rPr lang="en-US" sz="700" b="1" spc="200" kern="0" dirty="0">
                <a:solidFill>
                  <a:srgbClr val="B8923A"/>
                </a:solidFill>
                <a:latin typeface="Calibri" pitchFamily="34" charset="0"/>
                <a:ea typeface="Calibri" pitchFamily="34" charset="-122"/>
                <a:cs typeface="Calibri" pitchFamily="34" charset="-120"/>
              </a:rPr>
              <a:t>MISSION</a:t>
            </a:r>
            <a:endParaRPr lang="en-US" sz="700" dirty="0"/>
          </a:p>
        </p:txBody>
      </p:sp>
      <p:sp>
        <p:nvSpPr>
          <p:cNvPr id="11" name="Text 8"/>
          <p:cNvSpPr/>
          <p:nvPr/>
        </p:nvSpPr>
        <p:spPr>
          <a:xfrm>
            <a:off x="402336" y="2542032"/>
            <a:ext cx="2578608" cy="1060704"/>
          </a:xfrm>
          <a:prstGeom prst="rect">
            <a:avLst/>
          </a:prstGeom>
          <a:noFill/>
          <a:ln/>
        </p:spPr>
        <p:txBody>
          <a:bodyPr wrap="square" rtlCol="0" anchor="t"/>
          <a:lstStyle/>
          <a:p>
            <a:pPr algn="l" indent="0" marL="0">
              <a:buNone/>
            </a:pPr>
            <a:r>
              <a:rPr lang="en-US" sz="850" dirty="0">
                <a:solidFill>
                  <a:srgbClr val="E0D4BC"/>
                </a:solidFill>
                <a:latin typeface="Calibri" pitchFamily="34" charset="0"/>
                <a:ea typeface="Calibri" pitchFamily="34" charset="-122"/>
                <a:cs typeface="Calibri" pitchFamily="34" charset="-120"/>
              </a:rPr>
              <a:t>To deliver distinct, culturally intelligent, and experience-driven campaigns that redefine how brands connect with African audiences.</a:t>
            </a:r>
            <a:endParaRPr lang="en-US" sz="850" dirty="0"/>
          </a:p>
        </p:txBody>
      </p:sp>
      <p:sp>
        <p:nvSpPr>
          <p:cNvPr id="12" name="Shape 9"/>
          <p:cNvSpPr/>
          <p:nvPr/>
        </p:nvSpPr>
        <p:spPr>
          <a:xfrm>
            <a:off x="3246120" y="2212848"/>
            <a:ext cx="2834640" cy="1463040"/>
          </a:xfrm>
          <a:prstGeom prst="rect">
            <a:avLst/>
          </a:prstGeom>
          <a:solidFill>
            <a:srgbClr val="7A3B53"/>
          </a:solidFill>
          <a:ln w="12700">
            <a:solidFill>
              <a:srgbClr val="7A3B53"/>
            </a:solidFill>
            <a:prstDash val="solid"/>
          </a:ln>
        </p:spPr>
      </p:sp>
      <p:sp>
        <p:nvSpPr>
          <p:cNvPr id="13" name="Shape 10"/>
          <p:cNvSpPr/>
          <p:nvPr/>
        </p:nvSpPr>
        <p:spPr>
          <a:xfrm>
            <a:off x="3246120" y="2212848"/>
            <a:ext cx="2834640" cy="54864"/>
          </a:xfrm>
          <a:prstGeom prst="rect">
            <a:avLst/>
          </a:prstGeom>
          <a:solidFill>
            <a:srgbClr val="B8923A"/>
          </a:solidFill>
          <a:ln w="12700">
            <a:solidFill>
              <a:srgbClr val="B8923A"/>
            </a:solidFill>
            <a:prstDash val="solid"/>
          </a:ln>
        </p:spPr>
      </p:sp>
      <p:sp>
        <p:nvSpPr>
          <p:cNvPr id="14" name="Text 11"/>
          <p:cNvSpPr/>
          <p:nvPr/>
        </p:nvSpPr>
        <p:spPr>
          <a:xfrm>
            <a:off x="3374136" y="2322576"/>
            <a:ext cx="2578608" cy="201168"/>
          </a:xfrm>
          <a:prstGeom prst="rect">
            <a:avLst/>
          </a:prstGeom>
          <a:noFill/>
          <a:ln/>
        </p:spPr>
        <p:txBody>
          <a:bodyPr wrap="square" rtlCol="0" anchor="t"/>
          <a:lstStyle/>
          <a:p>
            <a:pPr algn="l" indent="0" marL="0">
              <a:buNone/>
            </a:pPr>
            <a:r>
              <a:rPr lang="en-US" sz="700" b="1" spc="200" kern="0" dirty="0">
                <a:solidFill>
                  <a:srgbClr val="B8923A"/>
                </a:solidFill>
                <a:latin typeface="Calibri" pitchFamily="34" charset="0"/>
                <a:ea typeface="Calibri" pitchFamily="34" charset="-122"/>
                <a:cs typeface="Calibri" pitchFamily="34" charset="-120"/>
              </a:rPr>
              <a:t>VISION</a:t>
            </a:r>
            <a:endParaRPr lang="en-US" sz="700" dirty="0"/>
          </a:p>
        </p:txBody>
      </p:sp>
      <p:sp>
        <p:nvSpPr>
          <p:cNvPr id="15" name="Text 12"/>
          <p:cNvSpPr/>
          <p:nvPr/>
        </p:nvSpPr>
        <p:spPr>
          <a:xfrm>
            <a:off x="3374136" y="2542032"/>
            <a:ext cx="2578608" cy="1060704"/>
          </a:xfrm>
          <a:prstGeom prst="rect">
            <a:avLst/>
          </a:prstGeom>
          <a:noFill/>
          <a:ln/>
        </p:spPr>
        <p:txBody>
          <a:bodyPr wrap="square" rtlCol="0" anchor="t"/>
          <a:lstStyle/>
          <a:p>
            <a:pPr algn="l" indent="0" marL="0">
              <a:buNone/>
            </a:pPr>
            <a:r>
              <a:rPr lang="en-US" sz="850" dirty="0">
                <a:solidFill>
                  <a:srgbClr val="E0D4BC"/>
                </a:solidFill>
                <a:latin typeface="Calibri" pitchFamily="34" charset="0"/>
                <a:ea typeface="Calibri" pitchFamily="34" charset="-122"/>
                <a:cs typeface="Calibri" pitchFamily="34" charset="-120"/>
              </a:rPr>
              <a:t>To become Africa's most relevant and globally respected marketing and PR agency — first choice for international brands entering Africa.</a:t>
            </a:r>
            <a:endParaRPr lang="en-US" sz="850" dirty="0"/>
          </a:p>
        </p:txBody>
      </p:sp>
      <p:sp>
        <p:nvSpPr>
          <p:cNvPr id="16" name="Shape 13"/>
          <p:cNvSpPr/>
          <p:nvPr/>
        </p:nvSpPr>
        <p:spPr>
          <a:xfrm>
            <a:off x="6217920" y="2212848"/>
            <a:ext cx="2834640" cy="1463040"/>
          </a:xfrm>
          <a:prstGeom prst="rect">
            <a:avLst/>
          </a:prstGeom>
          <a:solidFill>
            <a:srgbClr val="7A3B53"/>
          </a:solidFill>
          <a:ln w="12700">
            <a:solidFill>
              <a:srgbClr val="7A3B53"/>
            </a:solidFill>
            <a:prstDash val="solid"/>
          </a:ln>
        </p:spPr>
      </p:sp>
      <p:sp>
        <p:nvSpPr>
          <p:cNvPr id="17" name="Shape 14"/>
          <p:cNvSpPr/>
          <p:nvPr/>
        </p:nvSpPr>
        <p:spPr>
          <a:xfrm>
            <a:off x="6217920" y="2212848"/>
            <a:ext cx="2834640" cy="54864"/>
          </a:xfrm>
          <a:prstGeom prst="rect">
            <a:avLst/>
          </a:prstGeom>
          <a:solidFill>
            <a:srgbClr val="B8923A"/>
          </a:solidFill>
          <a:ln w="12700">
            <a:solidFill>
              <a:srgbClr val="B8923A"/>
            </a:solidFill>
            <a:prstDash val="solid"/>
          </a:ln>
        </p:spPr>
      </p:sp>
      <p:sp>
        <p:nvSpPr>
          <p:cNvPr id="18" name="Text 15"/>
          <p:cNvSpPr/>
          <p:nvPr/>
        </p:nvSpPr>
        <p:spPr>
          <a:xfrm>
            <a:off x="6345936" y="2322576"/>
            <a:ext cx="2578608" cy="201168"/>
          </a:xfrm>
          <a:prstGeom prst="rect">
            <a:avLst/>
          </a:prstGeom>
          <a:noFill/>
          <a:ln/>
        </p:spPr>
        <p:txBody>
          <a:bodyPr wrap="square" rtlCol="0" anchor="t"/>
          <a:lstStyle/>
          <a:p>
            <a:pPr algn="l" indent="0" marL="0">
              <a:buNone/>
            </a:pPr>
            <a:r>
              <a:rPr lang="en-US" sz="700" b="1" spc="200" kern="0" dirty="0">
                <a:solidFill>
                  <a:srgbClr val="B8923A"/>
                </a:solidFill>
                <a:latin typeface="Calibri" pitchFamily="34" charset="0"/>
                <a:ea typeface="Calibri" pitchFamily="34" charset="-122"/>
                <a:cs typeface="Calibri" pitchFamily="34" charset="-120"/>
              </a:rPr>
              <a:t>PHILOSOPHY</a:t>
            </a:r>
            <a:endParaRPr lang="en-US" sz="700" dirty="0"/>
          </a:p>
        </p:txBody>
      </p:sp>
      <p:sp>
        <p:nvSpPr>
          <p:cNvPr id="19" name="Text 16"/>
          <p:cNvSpPr/>
          <p:nvPr/>
        </p:nvSpPr>
        <p:spPr>
          <a:xfrm>
            <a:off x="6345936" y="2542032"/>
            <a:ext cx="2578608" cy="1060704"/>
          </a:xfrm>
          <a:prstGeom prst="rect">
            <a:avLst/>
          </a:prstGeom>
          <a:noFill/>
          <a:ln/>
        </p:spPr>
        <p:txBody>
          <a:bodyPr wrap="square" rtlCol="0" anchor="t"/>
          <a:lstStyle/>
          <a:p>
            <a:pPr algn="l" indent="0" marL="0">
              <a:buNone/>
            </a:pPr>
            <a:r>
              <a:rPr lang="en-US" sz="850" dirty="0">
                <a:solidFill>
                  <a:srgbClr val="E0D4BC"/>
                </a:solidFill>
                <a:latin typeface="Calibri" pitchFamily="34" charset="0"/>
                <a:ea typeface="Calibri" pitchFamily="34" charset="-122"/>
                <a:cs typeface="Calibri" pitchFamily="34" charset="-120"/>
              </a:rPr>
              <a:t>Marketing should not be repeated — it should be reimagined. marktn bridges global brand ambition with authentic African experience.</a:t>
            </a:r>
            <a:endParaRPr lang="en-US" sz="850" dirty="0"/>
          </a:p>
        </p:txBody>
      </p:sp>
      <p:sp>
        <p:nvSpPr>
          <p:cNvPr id="20" name="Text 17"/>
          <p:cNvSpPr/>
          <p:nvPr/>
        </p:nvSpPr>
        <p:spPr>
          <a:xfrm>
            <a:off x="274320" y="3785616"/>
            <a:ext cx="8595360" cy="201168"/>
          </a:xfrm>
          <a:prstGeom prst="rect">
            <a:avLst/>
          </a:prstGeom>
          <a:noFill/>
          <a:ln/>
        </p:spPr>
        <p:txBody>
          <a:bodyPr wrap="square" rtlCol="0" anchor="t"/>
          <a:lstStyle/>
          <a:p>
            <a:pPr algn="ctr" indent="0" marL="0">
              <a:buNone/>
            </a:pPr>
            <a:r>
              <a:rPr lang="en-US" sz="700" b="1" spc="300" kern="0" dirty="0">
                <a:solidFill>
                  <a:srgbClr val="E0D4BC"/>
                </a:solidFill>
                <a:latin typeface="Calibri" pitchFamily="34" charset="0"/>
                <a:ea typeface="Calibri" pitchFamily="34" charset="-122"/>
                <a:cs typeface="Calibri" pitchFamily="34" charset="-120"/>
              </a:rPr>
              <a:t>CORE VALUES</a:t>
            </a:r>
            <a:endParaRPr lang="en-US" sz="700" dirty="0"/>
          </a:p>
        </p:txBody>
      </p:sp>
      <p:sp>
        <p:nvSpPr>
          <p:cNvPr id="21" name="Shape 18"/>
          <p:cNvSpPr/>
          <p:nvPr/>
        </p:nvSpPr>
        <p:spPr>
          <a:xfrm>
            <a:off x="274320" y="4023360"/>
            <a:ext cx="1664208" cy="530352"/>
          </a:xfrm>
          <a:prstGeom prst="rect">
            <a:avLst/>
          </a:prstGeom>
          <a:solidFill>
            <a:srgbClr val="7A3B53"/>
          </a:solidFill>
          <a:ln w="12700">
            <a:solidFill>
              <a:srgbClr val="7A3B53"/>
            </a:solidFill>
            <a:prstDash val="solid"/>
          </a:ln>
        </p:spPr>
      </p:sp>
      <p:sp>
        <p:nvSpPr>
          <p:cNvPr id="22" name="Shape 19"/>
          <p:cNvSpPr/>
          <p:nvPr/>
        </p:nvSpPr>
        <p:spPr>
          <a:xfrm>
            <a:off x="274320" y="4023360"/>
            <a:ext cx="1664208" cy="54864"/>
          </a:xfrm>
          <a:prstGeom prst="rect">
            <a:avLst/>
          </a:prstGeom>
          <a:solidFill>
            <a:srgbClr val="B8923A"/>
          </a:solidFill>
          <a:ln w="12700">
            <a:solidFill>
              <a:srgbClr val="B8923A"/>
            </a:solidFill>
            <a:prstDash val="solid"/>
          </a:ln>
        </p:spPr>
      </p:sp>
      <p:sp>
        <p:nvSpPr>
          <p:cNvPr id="23" name="Text 20"/>
          <p:cNvSpPr/>
          <p:nvPr/>
        </p:nvSpPr>
        <p:spPr>
          <a:xfrm>
            <a:off x="274320" y="4078224"/>
            <a:ext cx="1664208" cy="475488"/>
          </a:xfrm>
          <a:prstGeom prst="rect">
            <a:avLst/>
          </a:prstGeom>
          <a:noFill/>
          <a:ln/>
        </p:spPr>
        <p:txBody>
          <a:bodyPr wrap="square" rtlCol="0" anchor="ctr"/>
          <a:lstStyle/>
          <a:p>
            <a:pPr algn="ctr" indent="0" marL="0">
              <a:buNone/>
            </a:pPr>
            <a:r>
              <a:rPr lang="en-US" sz="800" b="1" dirty="0">
                <a:solidFill>
                  <a:srgbClr val="F5EFE0"/>
                </a:solidFill>
                <a:latin typeface="Calibri" pitchFamily="34" charset="0"/>
                <a:ea typeface="Calibri" pitchFamily="34" charset="-122"/>
                <a:cs typeface="Calibri" pitchFamily="34" charset="-120"/>
              </a:rPr>
              <a:t>Originality</a:t>
            </a:r>
            <a:endParaRPr lang="en-US" sz="800" dirty="0"/>
          </a:p>
        </p:txBody>
      </p:sp>
      <p:sp>
        <p:nvSpPr>
          <p:cNvPr id="24" name="Shape 21"/>
          <p:cNvSpPr/>
          <p:nvPr/>
        </p:nvSpPr>
        <p:spPr>
          <a:xfrm>
            <a:off x="2011680" y="4023360"/>
            <a:ext cx="1664208" cy="530352"/>
          </a:xfrm>
          <a:prstGeom prst="rect">
            <a:avLst/>
          </a:prstGeom>
          <a:solidFill>
            <a:srgbClr val="7A3B53"/>
          </a:solidFill>
          <a:ln w="12700">
            <a:solidFill>
              <a:srgbClr val="7A3B53"/>
            </a:solidFill>
            <a:prstDash val="solid"/>
          </a:ln>
        </p:spPr>
      </p:sp>
      <p:sp>
        <p:nvSpPr>
          <p:cNvPr id="25" name="Shape 22"/>
          <p:cNvSpPr/>
          <p:nvPr/>
        </p:nvSpPr>
        <p:spPr>
          <a:xfrm>
            <a:off x="2011680" y="4023360"/>
            <a:ext cx="1664208" cy="54864"/>
          </a:xfrm>
          <a:prstGeom prst="rect">
            <a:avLst/>
          </a:prstGeom>
          <a:solidFill>
            <a:srgbClr val="B8923A"/>
          </a:solidFill>
          <a:ln w="12700">
            <a:solidFill>
              <a:srgbClr val="B8923A"/>
            </a:solidFill>
            <a:prstDash val="solid"/>
          </a:ln>
        </p:spPr>
      </p:sp>
      <p:sp>
        <p:nvSpPr>
          <p:cNvPr id="26" name="Text 23"/>
          <p:cNvSpPr/>
          <p:nvPr/>
        </p:nvSpPr>
        <p:spPr>
          <a:xfrm>
            <a:off x="2011680" y="4078224"/>
            <a:ext cx="1664208" cy="475488"/>
          </a:xfrm>
          <a:prstGeom prst="rect">
            <a:avLst/>
          </a:prstGeom>
          <a:noFill/>
          <a:ln/>
        </p:spPr>
        <p:txBody>
          <a:bodyPr wrap="square" rtlCol="0" anchor="ctr"/>
          <a:lstStyle/>
          <a:p>
            <a:pPr algn="ctr" indent="0" marL="0">
              <a:buNone/>
            </a:pPr>
            <a:r>
              <a:rPr lang="en-US" sz="800" b="1" dirty="0">
                <a:solidFill>
                  <a:srgbClr val="F5EFE0"/>
                </a:solidFill>
                <a:latin typeface="Calibri" pitchFamily="34" charset="0"/>
                <a:ea typeface="Calibri" pitchFamily="34" charset="-122"/>
                <a:cs typeface="Calibri" pitchFamily="34" charset="-120"/>
              </a:rPr>
              <a:t>Cultural Intelligence</a:t>
            </a:r>
            <a:endParaRPr lang="en-US" sz="800" dirty="0"/>
          </a:p>
        </p:txBody>
      </p:sp>
      <p:sp>
        <p:nvSpPr>
          <p:cNvPr id="27" name="Shape 24"/>
          <p:cNvSpPr/>
          <p:nvPr/>
        </p:nvSpPr>
        <p:spPr>
          <a:xfrm>
            <a:off x="3749040" y="4023360"/>
            <a:ext cx="1664208" cy="530352"/>
          </a:xfrm>
          <a:prstGeom prst="rect">
            <a:avLst/>
          </a:prstGeom>
          <a:solidFill>
            <a:srgbClr val="6B3448"/>
          </a:solidFill>
          <a:ln w="12700">
            <a:solidFill>
              <a:srgbClr val="6B3448"/>
            </a:solidFill>
            <a:prstDash val="solid"/>
          </a:ln>
        </p:spPr>
      </p:sp>
      <p:sp>
        <p:nvSpPr>
          <p:cNvPr id="28" name="Shape 25"/>
          <p:cNvSpPr/>
          <p:nvPr/>
        </p:nvSpPr>
        <p:spPr>
          <a:xfrm>
            <a:off x="3749040" y="4023360"/>
            <a:ext cx="1664208" cy="54864"/>
          </a:xfrm>
          <a:prstGeom prst="rect">
            <a:avLst/>
          </a:prstGeom>
          <a:solidFill>
            <a:srgbClr val="B8923A"/>
          </a:solidFill>
          <a:ln w="12700">
            <a:solidFill>
              <a:srgbClr val="B8923A"/>
            </a:solidFill>
            <a:prstDash val="solid"/>
          </a:ln>
        </p:spPr>
      </p:sp>
      <p:sp>
        <p:nvSpPr>
          <p:cNvPr id="29" name="Text 26"/>
          <p:cNvSpPr/>
          <p:nvPr/>
        </p:nvSpPr>
        <p:spPr>
          <a:xfrm>
            <a:off x="3749040" y="4078224"/>
            <a:ext cx="1664208" cy="475488"/>
          </a:xfrm>
          <a:prstGeom prst="rect">
            <a:avLst/>
          </a:prstGeom>
          <a:noFill/>
          <a:ln/>
        </p:spPr>
        <p:txBody>
          <a:bodyPr wrap="square" rtlCol="0" anchor="ctr"/>
          <a:lstStyle/>
          <a:p>
            <a:pPr algn="ctr" indent="0" marL="0">
              <a:buNone/>
            </a:pPr>
            <a:r>
              <a:rPr lang="en-US" sz="800" b="1" dirty="0">
                <a:solidFill>
                  <a:srgbClr val="F5EFE0"/>
                </a:solidFill>
                <a:latin typeface="Calibri" pitchFamily="34" charset="0"/>
                <a:ea typeface="Calibri" pitchFamily="34" charset="-122"/>
                <a:cs typeface="Calibri" pitchFamily="34" charset="-120"/>
              </a:rPr>
              <a:t>Excellence</a:t>
            </a:r>
            <a:endParaRPr lang="en-US" sz="800" dirty="0"/>
          </a:p>
        </p:txBody>
      </p:sp>
      <p:sp>
        <p:nvSpPr>
          <p:cNvPr id="30" name="Shape 27"/>
          <p:cNvSpPr/>
          <p:nvPr/>
        </p:nvSpPr>
        <p:spPr>
          <a:xfrm>
            <a:off x="5486400" y="4023360"/>
            <a:ext cx="1664208" cy="530352"/>
          </a:xfrm>
          <a:prstGeom prst="rect">
            <a:avLst/>
          </a:prstGeom>
          <a:solidFill>
            <a:srgbClr val="5C2D3D"/>
          </a:solidFill>
          <a:ln w="12700">
            <a:solidFill>
              <a:srgbClr val="5C2D3D"/>
            </a:solidFill>
            <a:prstDash val="solid"/>
          </a:ln>
        </p:spPr>
      </p:sp>
      <p:sp>
        <p:nvSpPr>
          <p:cNvPr id="31" name="Shape 28"/>
          <p:cNvSpPr/>
          <p:nvPr/>
        </p:nvSpPr>
        <p:spPr>
          <a:xfrm>
            <a:off x="5486400" y="4023360"/>
            <a:ext cx="1664208" cy="54864"/>
          </a:xfrm>
          <a:prstGeom prst="rect">
            <a:avLst/>
          </a:prstGeom>
          <a:solidFill>
            <a:srgbClr val="B8923A"/>
          </a:solidFill>
          <a:ln w="12700">
            <a:solidFill>
              <a:srgbClr val="B8923A"/>
            </a:solidFill>
            <a:prstDash val="solid"/>
          </a:ln>
        </p:spPr>
      </p:sp>
      <p:sp>
        <p:nvSpPr>
          <p:cNvPr id="32" name="Text 29"/>
          <p:cNvSpPr/>
          <p:nvPr/>
        </p:nvSpPr>
        <p:spPr>
          <a:xfrm>
            <a:off x="5486400" y="4078224"/>
            <a:ext cx="1664208" cy="475488"/>
          </a:xfrm>
          <a:prstGeom prst="rect">
            <a:avLst/>
          </a:prstGeom>
          <a:noFill/>
          <a:ln/>
        </p:spPr>
        <p:txBody>
          <a:bodyPr wrap="square" rtlCol="0" anchor="ctr"/>
          <a:lstStyle/>
          <a:p>
            <a:pPr algn="ctr" indent="0" marL="0">
              <a:buNone/>
            </a:pPr>
            <a:r>
              <a:rPr lang="en-US" sz="800" b="1" dirty="0">
                <a:solidFill>
                  <a:srgbClr val="F5EFE0"/>
                </a:solidFill>
                <a:latin typeface="Calibri" pitchFamily="34" charset="0"/>
                <a:ea typeface="Calibri" pitchFamily="34" charset="-122"/>
                <a:cs typeface="Calibri" pitchFamily="34" charset="-120"/>
              </a:rPr>
              <a:t>Experience First</a:t>
            </a:r>
            <a:endParaRPr lang="en-US" sz="800" dirty="0"/>
          </a:p>
        </p:txBody>
      </p:sp>
      <p:sp>
        <p:nvSpPr>
          <p:cNvPr id="33" name="Shape 30"/>
          <p:cNvSpPr/>
          <p:nvPr/>
        </p:nvSpPr>
        <p:spPr>
          <a:xfrm>
            <a:off x="7223760" y="4023360"/>
            <a:ext cx="1664208" cy="530352"/>
          </a:xfrm>
          <a:prstGeom prst="rect">
            <a:avLst/>
          </a:prstGeom>
          <a:solidFill>
            <a:srgbClr val="4D2632"/>
          </a:solidFill>
          <a:ln w="12700">
            <a:solidFill>
              <a:srgbClr val="4D2632"/>
            </a:solidFill>
            <a:prstDash val="solid"/>
          </a:ln>
        </p:spPr>
      </p:sp>
      <p:sp>
        <p:nvSpPr>
          <p:cNvPr id="34" name="Shape 31"/>
          <p:cNvSpPr/>
          <p:nvPr/>
        </p:nvSpPr>
        <p:spPr>
          <a:xfrm>
            <a:off x="7223760" y="4023360"/>
            <a:ext cx="1664208" cy="54864"/>
          </a:xfrm>
          <a:prstGeom prst="rect">
            <a:avLst/>
          </a:prstGeom>
          <a:solidFill>
            <a:srgbClr val="B8923A"/>
          </a:solidFill>
          <a:ln w="12700">
            <a:solidFill>
              <a:srgbClr val="B8923A"/>
            </a:solidFill>
            <a:prstDash val="solid"/>
          </a:ln>
        </p:spPr>
      </p:sp>
      <p:sp>
        <p:nvSpPr>
          <p:cNvPr id="35" name="Text 32"/>
          <p:cNvSpPr/>
          <p:nvPr/>
        </p:nvSpPr>
        <p:spPr>
          <a:xfrm>
            <a:off x="7223760" y="4078224"/>
            <a:ext cx="1664208" cy="475488"/>
          </a:xfrm>
          <a:prstGeom prst="rect">
            <a:avLst/>
          </a:prstGeom>
          <a:noFill/>
          <a:ln/>
        </p:spPr>
        <p:txBody>
          <a:bodyPr wrap="square" rtlCol="0" anchor="ctr"/>
          <a:lstStyle/>
          <a:p>
            <a:pPr algn="ctr" indent="0" marL="0">
              <a:buNone/>
            </a:pPr>
            <a:r>
              <a:rPr lang="en-US" sz="800" b="1" dirty="0">
                <a:solidFill>
                  <a:srgbClr val="F5EFE0"/>
                </a:solidFill>
                <a:latin typeface="Calibri" pitchFamily="34" charset="0"/>
                <a:ea typeface="Calibri" pitchFamily="34" charset="-122"/>
                <a:cs typeface="Calibri" pitchFamily="34" charset="-120"/>
              </a:rPr>
              <a:t>Impact Over Noise</a:t>
            </a:r>
            <a:endParaRPr lang="en-US" sz="800" dirty="0"/>
          </a:p>
        </p:txBody>
      </p:sp>
      <p:sp>
        <p:nvSpPr>
          <p:cNvPr id="36" name="Text 33"/>
          <p:cNvSpPr/>
          <p:nvPr/>
        </p:nvSpPr>
        <p:spPr>
          <a:xfrm>
            <a:off x="274320" y="4636008"/>
            <a:ext cx="8595360" cy="182880"/>
          </a:xfrm>
          <a:prstGeom prst="rect">
            <a:avLst/>
          </a:prstGeom>
          <a:noFill/>
          <a:ln/>
        </p:spPr>
        <p:txBody>
          <a:bodyPr wrap="square" rtlCol="0" anchor="t"/>
          <a:lstStyle/>
          <a:p>
            <a:pPr algn="ctr" indent="0" marL="0">
              <a:buNone/>
            </a:pPr>
            <a:r>
              <a:rPr lang="en-US" sz="750" dirty="0">
                <a:solidFill>
                  <a:srgbClr val="E0D4BC"/>
                </a:solidFill>
                <a:latin typeface="Calibri" pitchFamily="34" charset="0"/>
                <a:ea typeface="Calibri" pitchFamily="34" charset="-122"/>
                <a:cs typeface="Calibri" pitchFamily="34" charset="-120"/>
              </a:rPr>
              <a:t>Public Relations  ·  Media Relations  ·  Influencer &amp; Community  ·  Experiential Marketing  ·  Campaign Production  ·  Integrated Campaigns</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00810"/>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B8923A"/>
          </a:solidFill>
          <a:ln w="12700">
            <a:solidFill>
              <a:srgbClr val="B8923A"/>
            </a:solidFill>
            <a:prstDash val="solid"/>
          </a:ln>
        </p:spPr>
      </p:sp>
      <p:sp>
        <p:nvSpPr>
          <p:cNvPr id="3" name="Shape 1"/>
          <p:cNvSpPr/>
          <p:nvPr/>
        </p:nvSpPr>
        <p:spPr>
          <a:xfrm>
            <a:off x="0" y="0"/>
            <a:ext cx="4389120" cy="5143500"/>
          </a:xfrm>
          <a:prstGeom prst="rect">
            <a:avLst/>
          </a:prstGeom>
          <a:solidFill>
            <a:srgbClr val="0C0508"/>
          </a:solidFill>
          <a:ln w="12700">
            <a:solidFill>
              <a:srgbClr val="0C0508"/>
            </a:solidFill>
            <a:prstDash val="solid"/>
          </a:ln>
        </p:spPr>
      </p:sp>
      <p:sp>
        <p:nvSpPr>
          <p:cNvPr id="4" name="Text 2"/>
          <p:cNvSpPr/>
          <p:nvPr/>
        </p:nvSpPr>
        <p:spPr>
          <a:xfrm>
            <a:off x="182880" y="228600"/>
            <a:ext cx="1097280" cy="914400"/>
          </a:xfrm>
          <a:prstGeom prst="rect">
            <a:avLst/>
          </a:prstGeom>
          <a:noFill/>
          <a:ln/>
        </p:spPr>
        <p:txBody>
          <a:bodyPr wrap="square" rtlCol="0" anchor="t"/>
          <a:lstStyle/>
          <a:p>
            <a:pPr algn="l" indent="0" marL="0">
              <a:buNone/>
            </a:pPr>
            <a:r>
              <a:rPr lang="en-US" sz="5200" b="1" dirty="0">
                <a:solidFill>
                  <a:srgbClr val="1E0F18"/>
                </a:solidFill>
                <a:latin typeface="Georgia" pitchFamily="34" charset="0"/>
                <a:ea typeface="Georgia" pitchFamily="34" charset="-122"/>
                <a:cs typeface="Georgia" pitchFamily="34" charset="-120"/>
              </a:rPr>
              <a:t>01</a:t>
            </a:r>
            <a:endParaRPr lang="en-US" sz="5200" dirty="0"/>
          </a:p>
        </p:txBody>
      </p:sp>
      <p:pic>
        <p:nvPicPr>
          <p:cNvPr id="5" name="Image 0" descr="preencoded.png">    </p:cNvPr>
          <p:cNvPicPr>
            <a:picLocks noChangeAspect="1"/>
          </p:cNvPicPr>
          <p:nvPr/>
        </p:nvPicPr>
        <p:blipFill>
          <a:blip r:embed="rId1"/>
          <a:stretch>
            <a:fillRect/>
          </a:stretch>
        </p:blipFill>
        <p:spPr>
          <a:xfrm>
            <a:off x="365760" y="164592"/>
            <a:ext cx="1234440" cy="393192"/>
          </a:xfrm>
          <a:prstGeom prst="rect">
            <a:avLst/>
          </a:prstGeom>
        </p:spPr>
      </p:pic>
      <p:sp>
        <p:nvSpPr>
          <p:cNvPr id="6" name="Text 3"/>
          <p:cNvSpPr/>
          <p:nvPr/>
        </p:nvSpPr>
        <p:spPr>
          <a:xfrm>
            <a:off x="457200" y="146304"/>
            <a:ext cx="8412480" cy="201168"/>
          </a:xfrm>
          <a:prstGeom prst="rect">
            <a:avLst/>
          </a:prstGeom>
          <a:noFill/>
          <a:ln/>
        </p:spPr>
        <p:txBody>
          <a:bodyPr wrap="square" rtlCol="0" anchor="t"/>
          <a:lstStyle/>
          <a:p>
            <a:pPr algn="l" indent="0" marL="0">
              <a:buNone/>
            </a:pPr>
            <a:r>
              <a:rPr lang="en-US" sz="700" b="1" spc="350" kern="0" dirty="0">
                <a:solidFill>
                  <a:srgbClr val="B8923A"/>
                </a:solidFill>
                <a:latin typeface="Calibri" pitchFamily="34" charset="0"/>
                <a:ea typeface="Calibri" pitchFamily="34" charset="-122"/>
                <a:cs typeface="Calibri" pitchFamily="34" charset="-120"/>
              </a:rPr>
              <a:t>SIGNATURE CAMPAIGN  ·  LUXURY FRAGRANCE  ·  BEGUILE BY OMAA</a:t>
            </a:r>
            <a:endParaRPr lang="en-US" sz="700" dirty="0"/>
          </a:p>
        </p:txBody>
      </p:sp>
      <p:sp>
        <p:nvSpPr>
          <p:cNvPr id="7" name="Text 4"/>
          <p:cNvSpPr/>
          <p:nvPr/>
        </p:nvSpPr>
        <p:spPr>
          <a:xfrm>
            <a:off x="365760" y="475488"/>
            <a:ext cx="3657600" cy="1188720"/>
          </a:xfrm>
          <a:prstGeom prst="rect">
            <a:avLst/>
          </a:prstGeom>
          <a:noFill/>
          <a:ln/>
        </p:spPr>
        <p:txBody>
          <a:bodyPr wrap="square" rtlCol="0" anchor="t"/>
          <a:lstStyle/>
          <a:p>
            <a:pPr algn="l" indent="0" marL="0">
              <a:buNone/>
            </a:pPr>
            <a:r>
              <a:rPr lang="en-US" sz="4400" i="1" dirty="0">
                <a:solidFill>
                  <a:srgbClr val="F5EFE0"/>
                </a:solidFill>
                <a:latin typeface="Georgia" pitchFamily="34" charset="0"/>
                <a:ea typeface="Georgia" pitchFamily="34" charset="-122"/>
                <a:cs typeface="Georgia" pitchFamily="34" charset="-120"/>
              </a:rPr>
              <a:t>Golden</a:t>
            </a:r>
            <a:endParaRPr lang="en-US" sz="4400" dirty="0"/>
          </a:p>
          <a:p>
            <a:pPr algn="l" indent="0" marL="0">
              <a:buNone/>
            </a:pPr>
            <a:r>
              <a:rPr lang="en-US" sz="4400" i="1" dirty="0">
                <a:solidFill>
                  <a:srgbClr val="F5EFE0"/>
                </a:solidFill>
                <a:latin typeface="Georgia" pitchFamily="34" charset="0"/>
                <a:ea typeface="Georgia" pitchFamily="34" charset="-122"/>
                <a:cs typeface="Georgia" pitchFamily="34" charset="-120"/>
              </a:rPr>
              <a:t>Kiss</a:t>
            </a:r>
            <a:endParaRPr lang="en-US" sz="4400" dirty="0"/>
          </a:p>
        </p:txBody>
      </p:sp>
      <p:sp>
        <p:nvSpPr>
          <p:cNvPr id="8" name="Text 5"/>
          <p:cNvSpPr/>
          <p:nvPr/>
        </p:nvSpPr>
        <p:spPr>
          <a:xfrm>
            <a:off x="365760" y="1719072"/>
            <a:ext cx="3657600" cy="201168"/>
          </a:xfrm>
          <a:prstGeom prst="rect">
            <a:avLst/>
          </a:prstGeom>
          <a:noFill/>
          <a:ln/>
        </p:spPr>
        <p:txBody>
          <a:bodyPr wrap="square" rtlCol="0" anchor="t"/>
          <a:lstStyle/>
          <a:p>
            <a:pPr algn="l" indent="0" marL="0">
              <a:buNone/>
            </a:pPr>
            <a:r>
              <a:rPr lang="en-US" sz="750" spc="50" kern="0" dirty="0">
                <a:solidFill>
                  <a:srgbClr val="C47A93"/>
                </a:solidFill>
                <a:latin typeface="Calibri" pitchFamily="34" charset="0"/>
                <a:ea typeface="Calibri" pitchFamily="34" charset="-122"/>
                <a:cs typeface="Calibri" pitchFamily="34" charset="-120"/>
              </a:rPr>
              <a:t>Beguile by Omaa  ·  February 2025  ·  Lagos → International</a:t>
            </a:r>
            <a:endParaRPr lang="en-US" sz="750" dirty="0"/>
          </a:p>
        </p:txBody>
      </p:sp>
      <p:sp>
        <p:nvSpPr>
          <p:cNvPr id="9" name="Shape 6"/>
          <p:cNvSpPr/>
          <p:nvPr/>
        </p:nvSpPr>
        <p:spPr>
          <a:xfrm>
            <a:off x="365760" y="1993392"/>
            <a:ext cx="3657600" cy="0"/>
          </a:xfrm>
          <a:prstGeom prst="line">
            <a:avLst/>
          </a:prstGeom>
          <a:noFill/>
          <a:ln w="10160">
            <a:solidFill>
              <a:srgbClr val="B8923A"/>
            </a:solidFill>
            <a:prstDash val="solid"/>
          </a:ln>
        </p:spPr>
      </p:sp>
      <p:sp>
        <p:nvSpPr>
          <p:cNvPr id="10" name="Text 7"/>
          <p:cNvSpPr/>
          <p:nvPr/>
        </p:nvSpPr>
        <p:spPr>
          <a:xfrm>
            <a:off x="365760" y="2103120"/>
            <a:ext cx="3657600" cy="960120"/>
          </a:xfrm>
          <a:prstGeom prst="rect">
            <a:avLst/>
          </a:prstGeom>
          <a:noFill/>
          <a:ln/>
        </p:spPr>
        <p:txBody>
          <a:bodyPr wrap="square" rtlCol="0" anchor="t"/>
          <a:lstStyle/>
          <a:p>
            <a:pPr algn="l" indent="0" marL="0">
              <a:buNone/>
            </a:pPr>
            <a:r>
              <a:rPr lang="en-US" sz="950" i="1" dirty="0">
                <a:solidFill>
                  <a:srgbClr val="E0D4BC"/>
                </a:solidFill>
                <a:latin typeface="Georgia" pitchFamily="34" charset="0"/>
                <a:ea typeface="Georgia" pitchFamily="34" charset="-122"/>
                <a:cs typeface="Georgia" pitchFamily="34" charset="-120"/>
              </a:rPr>
              <a:t>"The question was never how do we launch a new fragrance. The real question was: how do we position a Nigerian fragrance as luxury in a market trained to associate luxury with foreign names?"</a:t>
            </a:r>
            <a:endParaRPr lang="en-US" sz="950" dirty="0"/>
          </a:p>
        </p:txBody>
      </p:sp>
      <p:sp>
        <p:nvSpPr>
          <p:cNvPr id="11" name="Shape 8"/>
          <p:cNvSpPr/>
          <p:nvPr/>
        </p:nvSpPr>
        <p:spPr>
          <a:xfrm>
            <a:off x="365760" y="3255264"/>
            <a:ext cx="45720" cy="274320"/>
          </a:xfrm>
          <a:prstGeom prst="rect">
            <a:avLst/>
          </a:prstGeom>
          <a:solidFill>
            <a:srgbClr val="B8923A"/>
          </a:solidFill>
          <a:ln w="12700">
            <a:solidFill>
              <a:srgbClr val="B8923A"/>
            </a:solidFill>
            <a:prstDash val="solid"/>
          </a:ln>
        </p:spPr>
      </p:sp>
      <p:sp>
        <p:nvSpPr>
          <p:cNvPr id="12" name="Text 9"/>
          <p:cNvSpPr/>
          <p:nvPr/>
        </p:nvSpPr>
        <p:spPr>
          <a:xfrm>
            <a:off x="530352" y="3218688"/>
            <a:ext cx="1005840" cy="201168"/>
          </a:xfrm>
          <a:prstGeom prst="rect">
            <a:avLst/>
          </a:prstGeom>
          <a:noFill/>
          <a:ln/>
        </p:spPr>
        <p:txBody>
          <a:bodyPr wrap="square" rtlCol="0" anchor="t"/>
          <a:lstStyle/>
          <a:p>
            <a:pPr algn="l" indent="0" marL="0">
              <a:buNone/>
            </a:pPr>
            <a:r>
              <a:rPr lang="en-US" sz="850" b="1" dirty="0">
                <a:solidFill>
                  <a:srgbClr val="B8923A"/>
                </a:solidFill>
                <a:latin typeface="Calibri" pitchFamily="34" charset="0"/>
                <a:ea typeface="Calibri" pitchFamily="34" charset="-122"/>
                <a:cs typeface="Calibri" pitchFamily="34" charset="-120"/>
              </a:rPr>
              <a:t>Talent</a:t>
            </a:r>
            <a:endParaRPr lang="en-US" sz="850" dirty="0"/>
          </a:p>
        </p:txBody>
      </p:sp>
      <p:sp>
        <p:nvSpPr>
          <p:cNvPr id="13" name="Text 10"/>
          <p:cNvSpPr/>
          <p:nvPr/>
        </p:nvSpPr>
        <p:spPr>
          <a:xfrm>
            <a:off x="530352" y="3419856"/>
            <a:ext cx="3474720" cy="201168"/>
          </a:xfrm>
          <a:prstGeom prst="rect">
            <a:avLst/>
          </a:prstGeom>
          <a:noFill/>
          <a:ln/>
        </p:spPr>
        <p:txBody>
          <a:bodyPr wrap="square" rtlCol="0" anchor="t"/>
          <a:lstStyle/>
          <a:p>
            <a:pPr algn="l" indent="0" marL="0">
              <a:buNone/>
            </a:pPr>
            <a:r>
              <a:rPr lang="en-US" sz="800" dirty="0">
                <a:solidFill>
                  <a:srgbClr val="8A7A82"/>
                </a:solidFill>
                <a:latin typeface="Calibri" pitchFamily="34" charset="0"/>
                <a:ea typeface="Calibri" pitchFamily="34" charset="-122"/>
                <a:cs typeface="Calibri" pitchFamily="34" charset="-120"/>
              </a:rPr>
              <a:t>Ella &amp; LAX — real couple, emotional truth, luxury credibility</a:t>
            </a:r>
            <a:endParaRPr lang="en-US" sz="800" dirty="0"/>
          </a:p>
        </p:txBody>
      </p:sp>
      <p:sp>
        <p:nvSpPr>
          <p:cNvPr id="14" name="Shape 11"/>
          <p:cNvSpPr/>
          <p:nvPr/>
        </p:nvSpPr>
        <p:spPr>
          <a:xfrm>
            <a:off x="365760" y="3694176"/>
            <a:ext cx="45720" cy="274320"/>
          </a:xfrm>
          <a:prstGeom prst="rect">
            <a:avLst/>
          </a:prstGeom>
          <a:solidFill>
            <a:srgbClr val="B8923A"/>
          </a:solidFill>
          <a:ln w="12700">
            <a:solidFill>
              <a:srgbClr val="B8923A"/>
            </a:solidFill>
            <a:prstDash val="solid"/>
          </a:ln>
        </p:spPr>
      </p:sp>
      <p:sp>
        <p:nvSpPr>
          <p:cNvPr id="15" name="Text 12"/>
          <p:cNvSpPr/>
          <p:nvPr/>
        </p:nvSpPr>
        <p:spPr>
          <a:xfrm>
            <a:off x="530352" y="3657600"/>
            <a:ext cx="1005840" cy="201168"/>
          </a:xfrm>
          <a:prstGeom prst="rect">
            <a:avLst/>
          </a:prstGeom>
          <a:noFill/>
          <a:ln/>
        </p:spPr>
        <p:txBody>
          <a:bodyPr wrap="square" rtlCol="0" anchor="t"/>
          <a:lstStyle/>
          <a:p>
            <a:pPr algn="l" indent="0" marL="0">
              <a:buNone/>
            </a:pPr>
            <a:r>
              <a:rPr lang="en-US" sz="850" b="1" dirty="0">
                <a:solidFill>
                  <a:srgbClr val="B8923A"/>
                </a:solidFill>
                <a:latin typeface="Calibri" pitchFamily="34" charset="0"/>
                <a:ea typeface="Calibri" pitchFamily="34" charset="-122"/>
                <a:cs typeface="Calibri" pitchFamily="34" charset="-120"/>
              </a:rPr>
              <a:t>Community</a:t>
            </a:r>
            <a:endParaRPr lang="en-US" sz="850" dirty="0"/>
          </a:p>
        </p:txBody>
      </p:sp>
      <p:sp>
        <p:nvSpPr>
          <p:cNvPr id="16" name="Text 13"/>
          <p:cNvSpPr/>
          <p:nvPr/>
        </p:nvSpPr>
        <p:spPr>
          <a:xfrm>
            <a:off x="530352" y="3858768"/>
            <a:ext cx="3474720" cy="201168"/>
          </a:xfrm>
          <a:prstGeom prst="rect">
            <a:avLst/>
          </a:prstGeom>
          <a:noFill/>
          <a:ln/>
        </p:spPr>
        <p:txBody>
          <a:bodyPr wrap="square" rtlCol="0" anchor="t"/>
          <a:lstStyle/>
          <a:p>
            <a:pPr algn="l" indent="0" marL="0">
              <a:buNone/>
            </a:pPr>
            <a:r>
              <a:rPr lang="en-US" sz="800" dirty="0">
                <a:solidFill>
                  <a:srgbClr val="8A7A82"/>
                </a:solidFill>
                <a:latin typeface="Calibri" pitchFamily="34" charset="0"/>
                <a:ea typeface="Calibri" pitchFamily="34" charset="-122"/>
                <a:cs typeface="Calibri" pitchFamily="34" charset="-120"/>
              </a:rPr>
              <a:t>Nano/micro creators — honest reactions, trust over reach</a:t>
            </a:r>
            <a:endParaRPr lang="en-US" sz="800" dirty="0"/>
          </a:p>
        </p:txBody>
      </p:sp>
      <p:sp>
        <p:nvSpPr>
          <p:cNvPr id="17" name="Shape 14"/>
          <p:cNvSpPr/>
          <p:nvPr/>
        </p:nvSpPr>
        <p:spPr>
          <a:xfrm>
            <a:off x="365760" y="4133088"/>
            <a:ext cx="45720" cy="274320"/>
          </a:xfrm>
          <a:prstGeom prst="rect">
            <a:avLst/>
          </a:prstGeom>
          <a:solidFill>
            <a:srgbClr val="B8923A"/>
          </a:solidFill>
          <a:ln w="12700">
            <a:solidFill>
              <a:srgbClr val="B8923A"/>
            </a:solidFill>
            <a:prstDash val="solid"/>
          </a:ln>
        </p:spPr>
      </p:sp>
      <p:sp>
        <p:nvSpPr>
          <p:cNvPr id="18" name="Text 15"/>
          <p:cNvSpPr/>
          <p:nvPr/>
        </p:nvSpPr>
        <p:spPr>
          <a:xfrm>
            <a:off x="530352" y="4096512"/>
            <a:ext cx="1005840" cy="201168"/>
          </a:xfrm>
          <a:prstGeom prst="rect">
            <a:avLst/>
          </a:prstGeom>
          <a:noFill/>
          <a:ln/>
        </p:spPr>
        <p:txBody>
          <a:bodyPr wrap="square" rtlCol="0" anchor="t"/>
          <a:lstStyle/>
          <a:p>
            <a:pPr algn="l" indent="0" marL="0">
              <a:buNone/>
            </a:pPr>
            <a:r>
              <a:rPr lang="en-US" sz="850" b="1" dirty="0">
                <a:solidFill>
                  <a:srgbClr val="B8923A"/>
                </a:solidFill>
                <a:latin typeface="Calibri" pitchFamily="34" charset="0"/>
                <a:ea typeface="Calibri" pitchFamily="34" charset="-122"/>
                <a:cs typeface="Calibri" pitchFamily="34" charset="-120"/>
              </a:rPr>
              <a:t>Ritual</a:t>
            </a:r>
            <a:endParaRPr lang="en-US" sz="850" dirty="0"/>
          </a:p>
        </p:txBody>
      </p:sp>
      <p:sp>
        <p:nvSpPr>
          <p:cNvPr id="19" name="Text 16"/>
          <p:cNvSpPr/>
          <p:nvPr/>
        </p:nvSpPr>
        <p:spPr>
          <a:xfrm>
            <a:off x="530352" y="4297680"/>
            <a:ext cx="3474720" cy="201168"/>
          </a:xfrm>
          <a:prstGeom prst="rect">
            <a:avLst/>
          </a:prstGeom>
          <a:noFill/>
          <a:ln/>
        </p:spPr>
        <p:txBody>
          <a:bodyPr wrap="square" rtlCol="0" anchor="t"/>
          <a:lstStyle/>
          <a:p>
            <a:pPr algn="l" indent="0" marL="0">
              <a:buNone/>
            </a:pPr>
            <a:r>
              <a:rPr lang="en-US" sz="800" dirty="0">
                <a:solidFill>
                  <a:srgbClr val="8A7A82"/>
                </a:solidFill>
                <a:latin typeface="Calibri" pitchFamily="34" charset="0"/>
                <a:ea typeface="Calibri" pitchFamily="34" charset="-122"/>
                <a:cs typeface="Calibri" pitchFamily="34" charset="-120"/>
              </a:rPr>
              <a:t>Roses, gifting — transactions turned into emotional moments</a:t>
            </a:r>
            <a:endParaRPr lang="en-US" sz="800" dirty="0"/>
          </a:p>
        </p:txBody>
      </p:sp>
      <p:sp>
        <p:nvSpPr>
          <p:cNvPr id="20" name="Shape 17"/>
          <p:cNvSpPr/>
          <p:nvPr/>
        </p:nvSpPr>
        <p:spPr>
          <a:xfrm>
            <a:off x="365760" y="4572000"/>
            <a:ext cx="45720" cy="274320"/>
          </a:xfrm>
          <a:prstGeom prst="rect">
            <a:avLst/>
          </a:prstGeom>
          <a:solidFill>
            <a:srgbClr val="B8923A"/>
          </a:solidFill>
          <a:ln w="12700">
            <a:solidFill>
              <a:srgbClr val="B8923A"/>
            </a:solidFill>
            <a:prstDash val="solid"/>
          </a:ln>
        </p:spPr>
      </p:sp>
      <p:sp>
        <p:nvSpPr>
          <p:cNvPr id="21" name="Text 18"/>
          <p:cNvSpPr/>
          <p:nvPr/>
        </p:nvSpPr>
        <p:spPr>
          <a:xfrm>
            <a:off x="530352" y="4535424"/>
            <a:ext cx="1005840" cy="201168"/>
          </a:xfrm>
          <a:prstGeom prst="rect">
            <a:avLst/>
          </a:prstGeom>
          <a:noFill/>
          <a:ln/>
        </p:spPr>
        <p:txBody>
          <a:bodyPr wrap="square" rtlCol="0" anchor="t"/>
          <a:lstStyle/>
          <a:p>
            <a:pPr algn="l" indent="0" marL="0">
              <a:buNone/>
            </a:pPr>
            <a:r>
              <a:rPr lang="en-US" sz="850" b="1" dirty="0">
                <a:solidFill>
                  <a:srgbClr val="B8923A"/>
                </a:solidFill>
                <a:latin typeface="Calibri" pitchFamily="34" charset="0"/>
                <a:ea typeface="Calibri" pitchFamily="34" charset="-122"/>
                <a:cs typeface="Calibri" pitchFamily="34" charset="-120"/>
              </a:rPr>
              <a:t>Closing</a:t>
            </a:r>
            <a:endParaRPr lang="en-US" sz="850" dirty="0"/>
          </a:p>
        </p:txBody>
      </p:sp>
      <p:sp>
        <p:nvSpPr>
          <p:cNvPr id="22" name="Text 19"/>
          <p:cNvSpPr/>
          <p:nvPr/>
        </p:nvSpPr>
        <p:spPr>
          <a:xfrm>
            <a:off x="530352" y="4736592"/>
            <a:ext cx="3474720" cy="201168"/>
          </a:xfrm>
          <a:prstGeom prst="rect">
            <a:avLst/>
          </a:prstGeom>
          <a:noFill/>
          <a:ln/>
        </p:spPr>
        <p:txBody>
          <a:bodyPr wrap="square" rtlCol="0" anchor="t"/>
          <a:lstStyle/>
          <a:p>
            <a:pPr algn="l" indent="0" marL="0">
              <a:buNone/>
            </a:pPr>
            <a:r>
              <a:rPr lang="en-US" sz="800" dirty="0">
                <a:solidFill>
                  <a:srgbClr val="8A7A82"/>
                </a:solidFill>
                <a:latin typeface="Calibri" pitchFamily="34" charset="0"/>
                <a:ea typeface="Calibri" pitchFamily="34" charset="-122"/>
                <a:cs typeface="Calibri" pitchFamily="34" charset="-120"/>
              </a:rPr>
              <a:t>Intimate dinner for tastemakers — curated, restrained, powerful</a:t>
            </a:r>
            <a:endParaRPr lang="en-US" sz="800" dirty="0"/>
          </a:p>
        </p:txBody>
      </p:sp>
      <p:sp>
        <p:nvSpPr>
          <p:cNvPr id="23" name="Shape 20"/>
          <p:cNvSpPr/>
          <p:nvPr/>
        </p:nvSpPr>
        <p:spPr>
          <a:xfrm>
            <a:off x="4526280" y="384048"/>
            <a:ext cx="4434840" cy="4462272"/>
          </a:xfrm>
          <a:prstGeom prst="rect">
            <a:avLst/>
          </a:prstGeom>
          <a:solidFill>
            <a:srgbClr val="FFFFFF"/>
          </a:solidFill>
          <a:ln w="12700">
            <a:solidFill>
              <a:srgbClr val="FFFFFF"/>
            </a:solidFill>
            <a:prstDash val="solid"/>
          </a:ln>
        </p:spPr>
      </p:sp>
      <p:sp>
        <p:nvSpPr>
          <p:cNvPr id="24" name="Shape 21"/>
          <p:cNvSpPr/>
          <p:nvPr/>
        </p:nvSpPr>
        <p:spPr>
          <a:xfrm>
            <a:off x="4526280" y="384048"/>
            <a:ext cx="4434840" cy="54864"/>
          </a:xfrm>
          <a:prstGeom prst="rect">
            <a:avLst/>
          </a:prstGeom>
          <a:solidFill>
            <a:srgbClr val="B8923A"/>
          </a:solidFill>
          <a:ln w="12700">
            <a:solidFill>
              <a:srgbClr val="B8923A"/>
            </a:solidFill>
            <a:prstDash val="solid"/>
          </a:ln>
        </p:spPr>
      </p:sp>
      <p:sp>
        <p:nvSpPr>
          <p:cNvPr id="25" name="Text 22"/>
          <p:cNvSpPr/>
          <p:nvPr/>
        </p:nvSpPr>
        <p:spPr>
          <a:xfrm>
            <a:off x="4681728" y="512064"/>
            <a:ext cx="4114800" cy="201168"/>
          </a:xfrm>
          <a:prstGeom prst="rect">
            <a:avLst/>
          </a:prstGeom>
          <a:noFill/>
          <a:ln/>
        </p:spPr>
        <p:txBody>
          <a:bodyPr wrap="square" rtlCol="0" anchor="t"/>
          <a:lstStyle/>
          <a:p>
            <a:pPr algn="l" indent="0" marL="0">
              <a:buNone/>
            </a:pPr>
            <a:r>
              <a:rPr lang="en-US" sz="700" b="1" spc="300" kern="0" dirty="0">
                <a:solidFill>
                  <a:srgbClr val="B8923A"/>
                </a:solidFill>
                <a:latin typeface="Calibri" pitchFamily="34" charset="0"/>
                <a:ea typeface="Calibri" pitchFamily="34" charset="-122"/>
                <a:cs typeface="Calibri" pitchFamily="34" charset="-120"/>
              </a:rPr>
              <a:t>CAMPAIGN OUTCOME</a:t>
            </a:r>
            <a:endParaRPr lang="en-US" sz="700" dirty="0"/>
          </a:p>
        </p:txBody>
      </p:sp>
      <p:sp>
        <p:nvSpPr>
          <p:cNvPr id="26" name="Text 23"/>
          <p:cNvSpPr/>
          <p:nvPr/>
        </p:nvSpPr>
        <p:spPr>
          <a:xfrm>
            <a:off x="4681728" y="768096"/>
            <a:ext cx="4114800" cy="658368"/>
          </a:xfrm>
          <a:prstGeom prst="rect">
            <a:avLst/>
          </a:prstGeom>
          <a:noFill/>
          <a:ln/>
        </p:spPr>
        <p:txBody>
          <a:bodyPr wrap="square" rtlCol="0" anchor="t"/>
          <a:lstStyle/>
          <a:p>
            <a:pPr algn="l" indent="0" marL="0">
              <a:buNone/>
            </a:pPr>
            <a:r>
              <a:rPr lang="en-US" sz="1050" i="1" dirty="0">
                <a:solidFill>
                  <a:srgbClr val="100810"/>
                </a:solidFill>
                <a:latin typeface="Georgia" pitchFamily="34" charset="0"/>
                <a:ea typeface="Georgia" pitchFamily="34" charset="-122"/>
                <a:cs typeface="Georgia" pitchFamily="34" charset="-120"/>
              </a:rPr>
              <a:t>Perception shift. Golden Kiss was not introduced as a new Nigerian fragrance — it was introduced as a feeling, an experience, a moment worth remembering.</a:t>
            </a:r>
            <a:endParaRPr lang="en-US" sz="1050" dirty="0"/>
          </a:p>
        </p:txBody>
      </p:sp>
      <p:sp>
        <p:nvSpPr>
          <p:cNvPr id="27" name="Shape 24"/>
          <p:cNvSpPr/>
          <p:nvPr/>
        </p:nvSpPr>
        <p:spPr>
          <a:xfrm>
            <a:off x="4681728" y="1572768"/>
            <a:ext cx="2011680" cy="713232"/>
          </a:xfrm>
          <a:prstGeom prst="rect">
            <a:avLst/>
          </a:prstGeom>
          <a:solidFill>
            <a:srgbClr val="9E4F6B"/>
          </a:solidFill>
          <a:ln w="12700">
            <a:solidFill>
              <a:srgbClr val="9E4F6B"/>
            </a:solidFill>
            <a:prstDash val="solid"/>
          </a:ln>
        </p:spPr>
      </p:sp>
      <p:sp>
        <p:nvSpPr>
          <p:cNvPr id="28" name="Text 25"/>
          <p:cNvSpPr/>
          <p:nvPr/>
        </p:nvSpPr>
        <p:spPr>
          <a:xfrm>
            <a:off x="4681728" y="1618488"/>
            <a:ext cx="2011680" cy="384048"/>
          </a:xfrm>
          <a:prstGeom prst="rect">
            <a:avLst/>
          </a:prstGeom>
          <a:noFill/>
          <a:ln/>
        </p:spPr>
        <p:txBody>
          <a:bodyPr wrap="square" rtlCol="0" anchor="t"/>
          <a:lstStyle/>
          <a:p>
            <a:pPr algn="ctr" indent="0" marL="0">
              <a:buNone/>
            </a:pPr>
            <a:r>
              <a:rPr lang="en-US" sz="1800" b="1" dirty="0">
                <a:solidFill>
                  <a:srgbClr val="F5EFE0"/>
                </a:solidFill>
                <a:latin typeface="Georgia" pitchFamily="34" charset="0"/>
                <a:ea typeface="Georgia" pitchFamily="34" charset="-122"/>
                <a:cs typeface="Georgia" pitchFamily="34" charset="-120"/>
              </a:rPr>
              <a:t>PRNewswire</a:t>
            </a:r>
            <a:endParaRPr lang="en-US" sz="1800" dirty="0"/>
          </a:p>
        </p:txBody>
      </p:sp>
      <p:sp>
        <p:nvSpPr>
          <p:cNvPr id="29" name="Text 26"/>
          <p:cNvSpPr/>
          <p:nvPr/>
        </p:nvSpPr>
        <p:spPr>
          <a:xfrm>
            <a:off x="4681728" y="2029968"/>
            <a:ext cx="2011680" cy="201168"/>
          </a:xfrm>
          <a:prstGeom prst="rect">
            <a:avLst/>
          </a:prstGeom>
          <a:noFill/>
          <a:ln/>
        </p:spPr>
        <p:txBody>
          <a:bodyPr wrap="square" rtlCol="0" anchor="t"/>
          <a:lstStyle/>
          <a:p>
            <a:pPr algn="ctr" indent="0" marL="0">
              <a:buNone/>
            </a:pPr>
            <a:r>
              <a:rPr lang="en-US" sz="700" spc="80" kern="0" dirty="0">
                <a:solidFill>
                  <a:srgbClr val="E0D4BC"/>
                </a:solidFill>
                <a:latin typeface="Calibri" pitchFamily="34" charset="0"/>
                <a:ea typeface="Calibri" pitchFamily="34" charset="-122"/>
                <a:cs typeface="Calibri" pitchFamily="34" charset="-120"/>
              </a:rPr>
              <a:t>London Press Wire</a:t>
            </a:r>
            <a:endParaRPr lang="en-US" sz="700" dirty="0"/>
          </a:p>
        </p:txBody>
      </p:sp>
      <p:sp>
        <p:nvSpPr>
          <p:cNvPr id="30" name="Shape 27"/>
          <p:cNvSpPr/>
          <p:nvPr/>
        </p:nvSpPr>
        <p:spPr>
          <a:xfrm>
            <a:off x="6830568" y="1572768"/>
            <a:ext cx="2011680" cy="713232"/>
          </a:xfrm>
          <a:prstGeom prst="rect">
            <a:avLst/>
          </a:prstGeom>
          <a:solidFill>
            <a:srgbClr val="9E4F6B"/>
          </a:solidFill>
          <a:ln w="12700">
            <a:solidFill>
              <a:srgbClr val="9E4F6B"/>
            </a:solidFill>
            <a:prstDash val="solid"/>
          </a:ln>
        </p:spPr>
      </p:sp>
      <p:sp>
        <p:nvSpPr>
          <p:cNvPr id="31" name="Text 28"/>
          <p:cNvSpPr/>
          <p:nvPr/>
        </p:nvSpPr>
        <p:spPr>
          <a:xfrm>
            <a:off x="6830568" y="1618488"/>
            <a:ext cx="2011680" cy="384048"/>
          </a:xfrm>
          <a:prstGeom prst="rect">
            <a:avLst/>
          </a:prstGeom>
          <a:noFill/>
          <a:ln/>
        </p:spPr>
        <p:txBody>
          <a:bodyPr wrap="square" rtlCol="0" anchor="t"/>
          <a:lstStyle/>
          <a:p>
            <a:pPr algn="ctr" indent="0" marL="0">
              <a:buNone/>
            </a:pPr>
            <a:r>
              <a:rPr lang="en-US" sz="1800" b="1" dirty="0">
                <a:solidFill>
                  <a:srgbClr val="F5EFE0"/>
                </a:solidFill>
                <a:latin typeface="Georgia" pitchFamily="34" charset="0"/>
                <a:ea typeface="Georgia" pitchFamily="34" charset="-122"/>
                <a:cs typeface="Georgia" pitchFamily="34" charset="-120"/>
              </a:rPr>
              <a:t>30K+</a:t>
            </a:r>
            <a:endParaRPr lang="en-US" sz="1800" dirty="0"/>
          </a:p>
        </p:txBody>
      </p:sp>
      <p:sp>
        <p:nvSpPr>
          <p:cNvPr id="32" name="Text 29"/>
          <p:cNvSpPr/>
          <p:nvPr/>
        </p:nvSpPr>
        <p:spPr>
          <a:xfrm>
            <a:off x="6830568" y="2029968"/>
            <a:ext cx="2011680" cy="201168"/>
          </a:xfrm>
          <a:prstGeom prst="rect">
            <a:avLst/>
          </a:prstGeom>
          <a:noFill/>
          <a:ln/>
        </p:spPr>
        <p:txBody>
          <a:bodyPr wrap="square" rtlCol="0" anchor="t"/>
          <a:lstStyle/>
          <a:p>
            <a:pPr algn="ctr" indent="0" marL="0">
              <a:buNone/>
            </a:pPr>
            <a:r>
              <a:rPr lang="en-US" sz="700" spc="80" kern="0" dirty="0">
                <a:solidFill>
                  <a:srgbClr val="E0D4BC"/>
                </a:solidFill>
                <a:latin typeface="Calibri" pitchFamily="34" charset="0"/>
                <a:ea typeface="Calibri" pitchFamily="34" charset="-122"/>
                <a:cs typeface="Calibri" pitchFamily="34" charset="-120"/>
              </a:rPr>
              <a:t>Beguile Followers</a:t>
            </a:r>
            <a:endParaRPr lang="en-US" sz="700" dirty="0"/>
          </a:p>
        </p:txBody>
      </p:sp>
      <p:sp>
        <p:nvSpPr>
          <p:cNvPr id="33" name="Shape 30"/>
          <p:cNvSpPr/>
          <p:nvPr/>
        </p:nvSpPr>
        <p:spPr>
          <a:xfrm>
            <a:off x="4681728" y="2395728"/>
            <a:ext cx="2011680" cy="713232"/>
          </a:xfrm>
          <a:prstGeom prst="rect">
            <a:avLst/>
          </a:prstGeom>
          <a:solidFill>
            <a:srgbClr val="9E4F6B"/>
          </a:solidFill>
          <a:ln w="12700">
            <a:solidFill>
              <a:srgbClr val="9E4F6B"/>
            </a:solidFill>
            <a:prstDash val="solid"/>
          </a:ln>
        </p:spPr>
      </p:sp>
      <p:sp>
        <p:nvSpPr>
          <p:cNvPr id="34" name="Text 31"/>
          <p:cNvSpPr/>
          <p:nvPr/>
        </p:nvSpPr>
        <p:spPr>
          <a:xfrm>
            <a:off x="4681728" y="2441448"/>
            <a:ext cx="2011680" cy="384048"/>
          </a:xfrm>
          <a:prstGeom prst="rect">
            <a:avLst/>
          </a:prstGeom>
          <a:noFill/>
          <a:ln/>
        </p:spPr>
        <p:txBody>
          <a:bodyPr wrap="square" rtlCol="0" anchor="t"/>
          <a:lstStyle/>
          <a:p>
            <a:pPr algn="ctr" indent="0" marL="0">
              <a:buNone/>
            </a:pPr>
            <a:r>
              <a:rPr lang="en-US" sz="1800" b="1" dirty="0">
                <a:solidFill>
                  <a:srgbClr val="F5EFE0"/>
                </a:solidFill>
                <a:latin typeface="Georgia" pitchFamily="34" charset="0"/>
                <a:ea typeface="Georgia" pitchFamily="34" charset="-122"/>
                <a:cs typeface="Georgia" pitchFamily="34" charset="-120"/>
              </a:rPr>
              <a:t>4</a:t>
            </a:r>
            <a:endParaRPr lang="en-US" sz="1800" dirty="0"/>
          </a:p>
        </p:txBody>
      </p:sp>
      <p:sp>
        <p:nvSpPr>
          <p:cNvPr id="35" name="Text 32"/>
          <p:cNvSpPr/>
          <p:nvPr/>
        </p:nvSpPr>
        <p:spPr>
          <a:xfrm>
            <a:off x="4681728" y="2852928"/>
            <a:ext cx="2011680" cy="201168"/>
          </a:xfrm>
          <a:prstGeom prst="rect">
            <a:avLst/>
          </a:prstGeom>
          <a:noFill/>
          <a:ln/>
        </p:spPr>
        <p:txBody>
          <a:bodyPr wrap="square" rtlCol="0" anchor="t"/>
          <a:lstStyle/>
          <a:p>
            <a:pPr algn="ctr" indent="0" marL="0">
              <a:buNone/>
            </a:pPr>
            <a:r>
              <a:rPr lang="en-US" sz="700" spc="80" kern="0" dirty="0">
                <a:solidFill>
                  <a:srgbClr val="E0D4BC"/>
                </a:solidFill>
                <a:latin typeface="Calibri" pitchFamily="34" charset="0"/>
                <a:ea typeface="Calibri" pitchFamily="34" charset="-122"/>
                <a:cs typeface="Calibri" pitchFamily="34" charset="-120"/>
              </a:rPr>
              <a:t>Countries</a:t>
            </a:r>
            <a:endParaRPr lang="en-US" sz="700" dirty="0"/>
          </a:p>
        </p:txBody>
      </p:sp>
      <p:sp>
        <p:nvSpPr>
          <p:cNvPr id="36" name="Shape 33"/>
          <p:cNvSpPr/>
          <p:nvPr/>
        </p:nvSpPr>
        <p:spPr>
          <a:xfrm>
            <a:off x="6830568" y="2395728"/>
            <a:ext cx="2011680" cy="713232"/>
          </a:xfrm>
          <a:prstGeom prst="rect">
            <a:avLst/>
          </a:prstGeom>
          <a:solidFill>
            <a:srgbClr val="9E4F6B"/>
          </a:solidFill>
          <a:ln w="12700">
            <a:solidFill>
              <a:srgbClr val="9E4F6B"/>
            </a:solidFill>
            <a:prstDash val="solid"/>
          </a:ln>
        </p:spPr>
      </p:sp>
      <p:sp>
        <p:nvSpPr>
          <p:cNvPr id="37" name="Text 34"/>
          <p:cNvSpPr/>
          <p:nvPr/>
        </p:nvSpPr>
        <p:spPr>
          <a:xfrm>
            <a:off x="6830568" y="2441448"/>
            <a:ext cx="2011680" cy="384048"/>
          </a:xfrm>
          <a:prstGeom prst="rect">
            <a:avLst/>
          </a:prstGeom>
          <a:noFill/>
          <a:ln/>
        </p:spPr>
        <p:txBody>
          <a:bodyPr wrap="square" rtlCol="0" anchor="t"/>
          <a:lstStyle/>
          <a:p>
            <a:pPr algn="ctr" indent="0" marL="0">
              <a:buNone/>
            </a:pPr>
            <a:r>
              <a:rPr lang="en-US" sz="1800" b="1" dirty="0">
                <a:solidFill>
                  <a:srgbClr val="F5EFE0"/>
                </a:solidFill>
                <a:latin typeface="Georgia" pitchFamily="34" charset="0"/>
                <a:ea typeface="Georgia" pitchFamily="34" charset="-122"/>
                <a:cs typeface="Georgia" pitchFamily="34" charset="-120"/>
              </a:rPr>
              <a:t>INT'L</a:t>
            </a:r>
            <a:endParaRPr lang="en-US" sz="1800" dirty="0"/>
          </a:p>
        </p:txBody>
      </p:sp>
      <p:sp>
        <p:nvSpPr>
          <p:cNvPr id="38" name="Text 35"/>
          <p:cNvSpPr/>
          <p:nvPr/>
        </p:nvSpPr>
        <p:spPr>
          <a:xfrm>
            <a:off x="6830568" y="2852928"/>
            <a:ext cx="2011680" cy="201168"/>
          </a:xfrm>
          <a:prstGeom prst="rect">
            <a:avLst/>
          </a:prstGeom>
          <a:noFill/>
          <a:ln/>
        </p:spPr>
        <p:txBody>
          <a:bodyPr wrap="square" rtlCol="0" anchor="t"/>
          <a:lstStyle/>
          <a:p>
            <a:pPr algn="ctr" indent="0" marL="0">
              <a:buNone/>
            </a:pPr>
            <a:r>
              <a:rPr lang="en-US" sz="700" spc="80" kern="0" dirty="0">
                <a:solidFill>
                  <a:srgbClr val="E0D4BC"/>
                </a:solidFill>
                <a:latin typeface="Calibri" pitchFamily="34" charset="0"/>
                <a:ea typeface="Calibri" pitchFamily="34" charset="-122"/>
                <a:cs typeface="Calibri" pitchFamily="34" charset="-120"/>
              </a:rPr>
              <a:t>Global Distribution</a:t>
            </a:r>
            <a:endParaRPr lang="en-US" sz="700" dirty="0"/>
          </a:p>
        </p:txBody>
      </p:sp>
      <p:sp>
        <p:nvSpPr>
          <p:cNvPr id="39" name="Text 36"/>
          <p:cNvSpPr/>
          <p:nvPr/>
        </p:nvSpPr>
        <p:spPr>
          <a:xfrm>
            <a:off x="4681728" y="3273552"/>
            <a:ext cx="4114800" cy="731520"/>
          </a:xfrm>
          <a:prstGeom prst="rect">
            <a:avLst/>
          </a:prstGeom>
          <a:noFill/>
          <a:ln/>
        </p:spPr>
        <p:txBody>
          <a:bodyPr wrap="square" rtlCol="0" anchor="t"/>
          <a:lstStyle/>
          <a:p>
            <a:pPr algn="l" indent="0" marL="0">
              <a:buNone/>
            </a:pPr>
            <a:r>
              <a:rPr lang="en-US" sz="1100" i="1" dirty="0">
                <a:solidFill>
                  <a:srgbClr val="7A3B53"/>
                </a:solidFill>
                <a:latin typeface="Georgia" pitchFamily="34" charset="0"/>
                <a:ea typeface="Georgia" pitchFamily="34" charset="-122"/>
                <a:cs typeface="Georgia" pitchFamily="34" charset="-120"/>
              </a:rPr>
              <a:t>"Nigerian brands don't need to imitate luxury. We can define it on our own terms — with strategy, restraint, and emotional intelligence."</a:t>
            </a:r>
            <a:endParaRPr lang="en-US" sz="1100" dirty="0"/>
          </a:p>
        </p:txBody>
      </p:sp>
      <p:sp>
        <p:nvSpPr>
          <p:cNvPr id="40" name="Text 37"/>
          <p:cNvSpPr/>
          <p:nvPr/>
        </p:nvSpPr>
        <p:spPr>
          <a:xfrm>
            <a:off x="4681728" y="4096512"/>
            <a:ext cx="4114800" cy="201168"/>
          </a:xfrm>
          <a:prstGeom prst="rect">
            <a:avLst/>
          </a:prstGeom>
          <a:noFill/>
          <a:ln/>
        </p:spPr>
        <p:txBody>
          <a:bodyPr wrap="square" rtlCol="0" anchor="t"/>
          <a:lstStyle/>
          <a:p>
            <a:pPr algn="l" indent="0" marL="0">
              <a:buNone/>
            </a:pPr>
            <a:r>
              <a:rPr lang="en-US" sz="800" dirty="0">
                <a:solidFill>
                  <a:srgbClr val="8A7A82"/>
                </a:solidFill>
                <a:latin typeface="Calibri" pitchFamily="34" charset="0"/>
                <a:ea typeface="Calibri" pitchFamily="34" charset="-122"/>
                <a:cs typeface="Calibri" pitchFamily="34" charset="-120"/>
              </a:rPr>
              <a:t>Press: PRNewswire · Zikoko · Pulse Nigeria · BellaNaija Style</a:t>
            </a:r>
            <a:endParaRPr lang="en-US" sz="800" dirty="0"/>
          </a:p>
        </p:txBody>
      </p:sp>
      <p:sp>
        <p:nvSpPr>
          <p:cNvPr id="41" name="Text 38"/>
          <p:cNvSpPr/>
          <p:nvPr/>
        </p:nvSpPr>
        <p:spPr>
          <a:xfrm>
            <a:off x="4681728" y="4297680"/>
            <a:ext cx="4114800" cy="201168"/>
          </a:xfrm>
          <a:prstGeom prst="rect">
            <a:avLst/>
          </a:prstGeom>
          <a:noFill/>
          <a:ln/>
        </p:spPr>
        <p:txBody>
          <a:bodyPr wrap="square" rtlCol="0" anchor="t"/>
          <a:lstStyle/>
          <a:p>
            <a:pPr algn="l" indent="0" marL="0">
              <a:buNone/>
            </a:pPr>
            <a:r>
              <a:rPr lang="en-US" sz="800" dirty="0">
                <a:solidFill>
                  <a:srgbClr val="C47A93"/>
                </a:solidFill>
                <a:latin typeface="Calibri" pitchFamily="34" charset="0"/>
                <a:ea typeface="Calibri" pitchFamily="34" charset="-122"/>
                <a:cs typeface="Calibri" pitchFamily="34" charset="-120"/>
              </a:rPr>
              <a:t>Role: Creative &amp; Content Manager, Beguile by Omaa</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9E4F6B"/>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B8923A"/>
          </a:solidFill>
          <a:ln w="12700">
            <a:solidFill>
              <a:srgbClr val="B8923A"/>
            </a:solidFill>
            <a:prstDash val="solid"/>
          </a:ln>
        </p:spPr>
      </p:sp>
      <p:sp>
        <p:nvSpPr>
          <p:cNvPr id="3" name="Shape 1"/>
          <p:cNvSpPr/>
          <p:nvPr/>
        </p:nvSpPr>
        <p:spPr>
          <a:xfrm>
            <a:off x="6858000" y="2743200"/>
            <a:ext cx="3657600" cy="3657600"/>
          </a:xfrm>
          <a:prstGeom prst="ellipse">
            <a:avLst/>
          </a:prstGeom>
          <a:solidFill>
            <a:srgbClr val="7A3B53">
              <a:alpha val="40000"/>
            </a:srgbClr>
          </a:solidFill>
          <a:ln w="12700">
            <a:solidFill>
              <a:srgbClr val="7A3B53">
                <a:alpha val="40000"/>
              </a:srgbClr>
            </a:solidFill>
            <a:prstDash val="solid"/>
          </a:ln>
        </p:spPr>
      </p:sp>
      <p:sp>
        <p:nvSpPr>
          <p:cNvPr id="4" name="Text 2"/>
          <p:cNvSpPr/>
          <p:nvPr/>
        </p:nvSpPr>
        <p:spPr>
          <a:xfrm>
            <a:off x="182880" y="228600"/>
            <a:ext cx="1097280" cy="914400"/>
          </a:xfrm>
          <a:prstGeom prst="rect">
            <a:avLst/>
          </a:prstGeom>
          <a:noFill/>
          <a:ln/>
        </p:spPr>
        <p:txBody>
          <a:bodyPr wrap="square" rtlCol="0" anchor="t"/>
          <a:lstStyle/>
          <a:p>
            <a:pPr algn="l" indent="0" marL="0">
              <a:buNone/>
            </a:pPr>
            <a:r>
              <a:rPr lang="en-US" sz="5200" b="1" dirty="0">
                <a:solidFill>
                  <a:srgbClr val="7A3B53"/>
                </a:solidFill>
                <a:latin typeface="Georgia" pitchFamily="34" charset="0"/>
                <a:ea typeface="Georgia" pitchFamily="34" charset="-122"/>
                <a:cs typeface="Georgia" pitchFamily="34" charset="-120"/>
              </a:rPr>
              <a:t>02</a:t>
            </a:r>
            <a:endParaRPr lang="en-US" sz="5200" dirty="0"/>
          </a:p>
        </p:txBody>
      </p:sp>
      <p:pic>
        <p:nvPicPr>
          <p:cNvPr id="5" name="Image 0" descr="preencoded.png">    </p:cNvPr>
          <p:cNvPicPr>
            <a:picLocks noChangeAspect="1"/>
          </p:cNvPicPr>
          <p:nvPr/>
        </p:nvPicPr>
        <p:blipFill>
          <a:blip r:embed="rId1"/>
          <a:stretch>
            <a:fillRect/>
          </a:stretch>
        </p:blipFill>
        <p:spPr>
          <a:xfrm>
            <a:off x="365760" y="164592"/>
            <a:ext cx="1234440" cy="393192"/>
          </a:xfrm>
          <a:prstGeom prst="rect">
            <a:avLst/>
          </a:prstGeom>
        </p:spPr>
      </p:pic>
      <p:sp>
        <p:nvSpPr>
          <p:cNvPr id="6" name="Text 3"/>
          <p:cNvSpPr/>
          <p:nvPr/>
        </p:nvSpPr>
        <p:spPr>
          <a:xfrm>
            <a:off x="457200" y="146304"/>
            <a:ext cx="8412480" cy="201168"/>
          </a:xfrm>
          <a:prstGeom prst="rect">
            <a:avLst/>
          </a:prstGeom>
          <a:noFill/>
          <a:ln/>
        </p:spPr>
        <p:txBody>
          <a:bodyPr wrap="square" rtlCol="0" anchor="t"/>
          <a:lstStyle/>
          <a:p>
            <a:pPr algn="l" indent="0" marL="0">
              <a:buNone/>
            </a:pPr>
            <a:r>
              <a:rPr lang="en-US" sz="700" b="1" spc="350" kern="0" dirty="0">
                <a:solidFill>
                  <a:srgbClr val="E0D4BC"/>
                </a:solidFill>
                <a:latin typeface="Calibri" pitchFamily="34" charset="0"/>
                <a:ea typeface="Calibri" pitchFamily="34" charset="-122"/>
                <a:cs typeface="Calibri" pitchFamily="34" charset="-120"/>
              </a:rPr>
              <a:t>SIGNATURE CAMPAIGN  ·  EXPERIENTIAL  ·  FIRST BEAUTY BRAND TRIP IN LAGOS</a:t>
            </a:r>
            <a:endParaRPr lang="en-US" sz="700" dirty="0"/>
          </a:p>
        </p:txBody>
      </p:sp>
      <p:sp>
        <p:nvSpPr>
          <p:cNvPr id="7" name="Text 4"/>
          <p:cNvSpPr/>
          <p:nvPr/>
        </p:nvSpPr>
        <p:spPr>
          <a:xfrm>
            <a:off x="347472" y="475488"/>
            <a:ext cx="6400800" cy="658368"/>
          </a:xfrm>
          <a:prstGeom prst="rect">
            <a:avLst/>
          </a:prstGeom>
          <a:noFill/>
          <a:ln/>
        </p:spPr>
        <p:txBody>
          <a:bodyPr wrap="square" rtlCol="0" anchor="t"/>
          <a:lstStyle/>
          <a:p>
            <a:pPr algn="l" indent="0" marL="0">
              <a:buNone/>
            </a:pPr>
            <a:r>
              <a:rPr lang="en-US" sz="3400" b="1" dirty="0">
                <a:solidFill>
                  <a:srgbClr val="F5EFE0"/>
                </a:solidFill>
                <a:latin typeface="Georgia" pitchFamily="34" charset="0"/>
                <a:ea typeface="Georgia" pitchFamily="34" charset="-122"/>
                <a:cs typeface="Georgia" pitchFamily="34" charset="-120"/>
              </a:rPr>
              <a:t>#BHTakesLakowe</a:t>
            </a:r>
            <a:endParaRPr lang="en-US" sz="3400" dirty="0"/>
          </a:p>
        </p:txBody>
      </p:sp>
      <p:sp>
        <p:nvSpPr>
          <p:cNvPr id="8" name="Text 5"/>
          <p:cNvSpPr/>
          <p:nvPr/>
        </p:nvSpPr>
        <p:spPr>
          <a:xfrm>
            <a:off x="347472" y="1207008"/>
            <a:ext cx="6400800" cy="201168"/>
          </a:xfrm>
          <a:prstGeom prst="rect">
            <a:avLst/>
          </a:prstGeom>
          <a:noFill/>
          <a:ln/>
        </p:spPr>
        <p:txBody>
          <a:bodyPr wrap="square" rtlCol="0" anchor="t"/>
          <a:lstStyle/>
          <a:p>
            <a:pPr algn="l" indent="0" marL="0">
              <a:buNone/>
            </a:pPr>
            <a:r>
              <a:rPr lang="en-US" sz="800" spc="50" kern="0" dirty="0">
                <a:solidFill>
                  <a:srgbClr val="E0D4BC"/>
                </a:solidFill>
                <a:latin typeface="Calibri" pitchFamily="34" charset="0"/>
                <a:ea typeface="Calibri" pitchFamily="34" charset="-122"/>
                <a:cs typeface="Calibri" pitchFamily="34" charset="-120"/>
              </a:rPr>
              <a:t>Galentine Getaway  ·  Beauty Hut Africa  ·  February 7–9, 2025  ·  Lakowe Lakes</a:t>
            </a:r>
            <a:endParaRPr lang="en-US" sz="800" dirty="0"/>
          </a:p>
        </p:txBody>
      </p:sp>
      <p:sp>
        <p:nvSpPr>
          <p:cNvPr id="9" name="Shape 6"/>
          <p:cNvSpPr/>
          <p:nvPr/>
        </p:nvSpPr>
        <p:spPr>
          <a:xfrm>
            <a:off x="347472" y="1481328"/>
            <a:ext cx="8503920" cy="0"/>
          </a:xfrm>
          <a:prstGeom prst="line">
            <a:avLst/>
          </a:prstGeom>
          <a:noFill/>
          <a:ln w="5080">
            <a:solidFill>
              <a:srgbClr val="E0D4BC"/>
            </a:solidFill>
            <a:prstDash val="solid"/>
          </a:ln>
        </p:spPr>
      </p:sp>
      <p:sp>
        <p:nvSpPr>
          <p:cNvPr id="10" name="Shape 7"/>
          <p:cNvSpPr/>
          <p:nvPr/>
        </p:nvSpPr>
        <p:spPr>
          <a:xfrm>
            <a:off x="164592" y="1572768"/>
            <a:ext cx="1700784" cy="713232"/>
          </a:xfrm>
          <a:prstGeom prst="rect">
            <a:avLst/>
          </a:prstGeom>
          <a:solidFill>
            <a:srgbClr val="7A3B53"/>
          </a:solidFill>
          <a:ln w="12700">
            <a:solidFill>
              <a:srgbClr val="7A3B53"/>
            </a:solidFill>
            <a:prstDash val="solid"/>
          </a:ln>
        </p:spPr>
      </p:sp>
      <p:sp>
        <p:nvSpPr>
          <p:cNvPr id="11" name="Shape 8"/>
          <p:cNvSpPr/>
          <p:nvPr/>
        </p:nvSpPr>
        <p:spPr>
          <a:xfrm>
            <a:off x="164592" y="1572768"/>
            <a:ext cx="1700784" cy="54864"/>
          </a:xfrm>
          <a:prstGeom prst="rect">
            <a:avLst/>
          </a:prstGeom>
          <a:solidFill>
            <a:srgbClr val="B8923A"/>
          </a:solidFill>
          <a:ln w="12700">
            <a:solidFill>
              <a:srgbClr val="B8923A"/>
            </a:solidFill>
            <a:prstDash val="solid"/>
          </a:ln>
        </p:spPr>
      </p:sp>
      <p:sp>
        <p:nvSpPr>
          <p:cNvPr id="12" name="Text 9"/>
          <p:cNvSpPr/>
          <p:nvPr/>
        </p:nvSpPr>
        <p:spPr>
          <a:xfrm>
            <a:off x="164592" y="1627632"/>
            <a:ext cx="1700784" cy="347472"/>
          </a:xfrm>
          <a:prstGeom prst="rect">
            <a:avLst/>
          </a:prstGeom>
          <a:noFill/>
          <a:ln/>
        </p:spPr>
        <p:txBody>
          <a:bodyPr wrap="square" rtlCol="0" anchor="t"/>
          <a:lstStyle/>
          <a:p>
            <a:pPr algn="ctr" indent="0" marL="0">
              <a:buNone/>
            </a:pPr>
            <a:r>
              <a:rPr lang="en-US" sz="1500" b="1" dirty="0">
                <a:solidFill>
                  <a:srgbClr val="B8923A"/>
                </a:solidFill>
                <a:latin typeface="Georgia" pitchFamily="34" charset="0"/>
                <a:ea typeface="Georgia" pitchFamily="34" charset="-122"/>
                <a:cs typeface="Georgia" pitchFamily="34" charset="-120"/>
              </a:rPr>
              <a:t>₦18.8M</a:t>
            </a:r>
            <a:endParaRPr lang="en-US" sz="1500" dirty="0"/>
          </a:p>
        </p:txBody>
      </p:sp>
      <p:sp>
        <p:nvSpPr>
          <p:cNvPr id="13" name="Text 10"/>
          <p:cNvSpPr/>
          <p:nvPr/>
        </p:nvSpPr>
        <p:spPr>
          <a:xfrm>
            <a:off x="164592" y="1993392"/>
            <a:ext cx="1700784" cy="201168"/>
          </a:xfrm>
          <a:prstGeom prst="rect">
            <a:avLst/>
          </a:prstGeom>
          <a:noFill/>
          <a:ln/>
        </p:spPr>
        <p:txBody>
          <a:bodyPr wrap="square" rtlCol="0" anchor="t"/>
          <a:lstStyle/>
          <a:p>
            <a:pPr algn="ctr" indent="0" marL="0">
              <a:buNone/>
            </a:pPr>
            <a:r>
              <a:rPr lang="en-US" sz="700" dirty="0">
                <a:solidFill>
                  <a:srgbClr val="E0D4BC"/>
                </a:solidFill>
                <a:latin typeface="Calibri" pitchFamily="34" charset="0"/>
                <a:ea typeface="Calibri" pitchFamily="34" charset="-122"/>
                <a:cs typeface="Calibri" pitchFamily="34" charset="-120"/>
              </a:rPr>
              <a:t>Total PR Value</a:t>
            </a:r>
            <a:endParaRPr lang="en-US" sz="700" dirty="0"/>
          </a:p>
        </p:txBody>
      </p:sp>
      <p:sp>
        <p:nvSpPr>
          <p:cNvPr id="14" name="Shape 11"/>
          <p:cNvSpPr/>
          <p:nvPr/>
        </p:nvSpPr>
        <p:spPr>
          <a:xfrm>
            <a:off x="1965960" y="1572768"/>
            <a:ext cx="1700784" cy="713232"/>
          </a:xfrm>
          <a:prstGeom prst="rect">
            <a:avLst/>
          </a:prstGeom>
          <a:solidFill>
            <a:srgbClr val="7A3B53"/>
          </a:solidFill>
          <a:ln w="12700">
            <a:solidFill>
              <a:srgbClr val="7A3B53"/>
            </a:solidFill>
            <a:prstDash val="solid"/>
          </a:ln>
        </p:spPr>
      </p:sp>
      <p:sp>
        <p:nvSpPr>
          <p:cNvPr id="15" name="Shape 12"/>
          <p:cNvSpPr/>
          <p:nvPr/>
        </p:nvSpPr>
        <p:spPr>
          <a:xfrm>
            <a:off x="1965960" y="1572768"/>
            <a:ext cx="1700784" cy="54864"/>
          </a:xfrm>
          <a:prstGeom prst="rect">
            <a:avLst/>
          </a:prstGeom>
          <a:solidFill>
            <a:srgbClr val="B8923A"/>
          </a:solidFill>
          <a:ln w="12700">
            <a:solidFill>
              <a:srgbClr val="B8923A"/>
            </a:solidFill>
            <a:prstDash val="solid"/>
          </a:ln>
        </p:spPr>
      </p:sp>
      <p:sp>
        <p:nvSpPr>
          <p:cNvPr id="16" name="Text 13"/>
          <p:cNvSpPr/>
          <p:nvPr/>
        </p:nvSpPr>
        <p:spPr>
          <a:xfrm>
            <a:off x="1965960" y="1627632"/>
            <a:ext cx="1700784" cy="347472"/>
          </a:xfrm>
          <a:prstGeom prst="rect">
            <a:avLst/>
          </a:prstGeom>
          <a:noFill/>
          <a:ln/>
        </p:spPr>
        <p:txBody>
          <a:bodyPr wrap="square" rtlCol="0" anchor="t"/>
          <a:lstStyle/>
          <a:p>
            <a:pPr algn="ctr" indent="0" marL="0">
              <a:buNone/>
            </a:pPr>
            <a:r>
              <a:rPr lang="en-US" sz="1500" b="1" dirty="0">
                <a:solidFill>
                  <a:srgbClr val="B8923A"/>
                </a:solidFill>
                <a:latin typeface="Georgia" pitchFamily="34" charset="0"/>
                <a:ea typeface="Georgia" pitchFamily="34" charset="-122"/>
                <a:cs typeface="Georgia" pitchFamily="34" charset="-120"/>
              </a:rPr>
              <a:t>10.9M+</a:t>
            </a:r>
            <a:endParaRPr lang="en-US" sz="1500" dirty="0"/>
          </a:p>
        </p:txBody>
      </p:sp>
      <p:sp>
        <p:nvSpPr>
          <p:cNvPr id="17" name="Text 14"/>
          <p:cNvSpPr/>
          <p:nvPr/>
        </p:nvSpPr>
        <p:spPr>
          <a:xfrm>
            <a:off x="1965960" y="1993392"/>
            <a:ext cx="1700784" cy="201168"/>
          </a:xfrm>
          <a:prstGeom prst="rect">
            <a:avLst/>
          </a:prstGeom>
          <a:noFill/>
          <a:ln/>
        </p:spPr>
        <p:txBody>
          <a:bodyPr wrap="square" rtlCol="0" anchor="t"/>
          <a:lstStyle/>
          <a:p>
            <a:pPr algn="ctr" indent="0" marL="0">
              <a:buNone/>
            </a:pPr>
            <a:r>
              <a:rPr lang="en-US" sz="700" dirty="0">
                <a:solidFill>
                  <a:srgbClr val="E0D4BC"/>
                </a:solidFill>
                <a:latin typeface="Calibri" pitchFamily="34" charset="0"/>
                <a:ea typeface="Calibri" pitchFamily="34" charset="-122"/>
                <a:cs typeface="Calibri" pitchFamily="34" charset="-120"/>
              </a:rPr>
              <a:t>Impressions</a:t>
            </a:r>
            <a:endParaRPr lang="en-US" sz="700" dirty="0"/>
          </a:p>
        </p:txBody>
      </p:sp>
      <p:sp>
        <p:nvSpPr>
          <p:cNvPr id="18" name="Shape 15"/>
          <p:cNvSpPr/>
          <p:nvPr/>
        </p:nvSpPr>
        <p:spPr>
          <a:xfrm>
            <a:off x="3767328" y="1572768"/>
            <a:ext cx="1700784" cy="713232"/>
          </a:xfrm>
          <a:prstGeom prst="rect">
            <a:avLst/>
          </a:prstGeom>
          <a:solidFill>
            <a:srgbClr val="7A3B53"/>
          </a:solidFill>
          <a:ln w="12700">
            <a:solidFill>
              <a:srgbClr val="7A3B53"/>
            </a:solidFill>
            <a:prstDash val="solid"/>
          </a:ln>
        </p:spPr>
      </p:sp>
      <p:sp>
        <p:nvSpPr>
          <p:cNvPr id="19" name="Shape 16"/>
          <p:cNvSpPr/>
          <p:nvPr/>
        </p:nvSpPr>
        <p:spPr>
          <a:xfrm>
            <a:off x="3767328" y="1572768"/>
            <a:ext cx="1700784" cy="54864"/>
          </a:xfrm>
          <a:prstGeom prst="rect">
            <a:avLst/>
          </a:prstGeom>
          <a:solidFill>
            <a:srgbClr val="B8923A"/>
          </a:solidFill>
          <a:ln w="12700">
            <a:solidFill>
              <a:srgbClr val="B8923A"/>
            </a:solidFill>
            <a:prstDash val="solid"/>
          </a:ln>
        </p:spPr>
      </p:sp>
      <p:sp>
        <p:nvSpPr>
          <p:cNvPr id="20" name="Text 17"/>
          <p:cNvSpPr/>
          <p:nvPr/>
        </p:nvSpPr>
        <p:spPr>
          <a:xfrm>
            <a:off x="3767328" y="1627632"/>
            <a:ext cx="1700784" cy="347472"/>
          </a:xfrm>
          <a:prstGeom prst="rect">
            <a:avLst/>
          </a:prstGeom>
          <a:noFill/>
          <a:ln/>
        </p:spPr>
        <p:txBody>
          <a:bodyPr wrap="square" rtlCol="0" anchor="t"/>
          <a:lstStyle/>
          <a:p>
            <a:pPr algn="ctr" indent="0" marL="0">
              <a:buNone/>
            </a:pPr>
            <a:r>
              <a:rPr lang="en-US" sz="1500" b="1" dirty="0">
                <a:solidFill>
                  <a:srgbClr val="B8923A"/>
                </a:solidFill>
                <a:latin typeface="Georgia" pitchFamily="34" charset="0"/>
                <a:ea typeface="Georgia" pitchFamily="34" charset="-122"/>
                <a:cs typeface="Georgia" pitchFamily="34" charset="-120"/>
              </a:rPr>
              <a:t>1.99M</a:t>
            </a:r>
            <a:endParaRPr lang="en-US" sz="1500" dirty="0"/>
          </a:p>
        </p:txBody>
      </p:sp>
      <p:sp>
        <p:nvSpPr>
          <p:cNvPr id="21" name="Text 18"/>
          <p:cNvSpPr/>
          <p:nvPr/>
        </p:nvSpPr>
        <p:spPr>
          <a:xfrm>
            <a:off x="3767328" y="1993392"/>
            <a:ext cx="1700784" cy="201168"/>
          </a:xfrm>
          <a:prstGeom prst="rect">
            <a:avLst/>
          </a:prstGeom>
          <a:noFill/>
          <a:ln/>
        </p:spPr>
        <p:txBody>
          <a:bodyPr wrap="square" rtlCol="0" anchor="t"/>
          <a:lstStyle/>
          <a:p>
            <a:pPr algn="ctr" indent="0" marL="0">
              <a:buNone/>
            </a:pPr>
            <a:r>
              <a:rPr lang="en-US" sz="700" dirty="0">
                <a:solidFill>
                  <a:srgbClr val="E0D4BC"/>
                </a:solidFill>
                <a:latin typeface="Calibri" pitchFamily="34" charset="0"/>
                <a:ea typeface="Calibri" pitchFamily="34" charset="-122"/>
                <a:cs typeface="Calibri" pitchFamily="34" charset="-120"/>
              </a:rPr>
              <a:t>Reach</a:t>
            </a:r>
            <a:endParaRPr lang="en-US" sz="700" dirty="0"/>
          </a:p>
        </p:txBody>
      </p:sp>
      <p:sp>
        <p:nvSpPr>
          <p:cNvPr id="22" name="Shape 19"/>
          <p:cNvSpPr/>
          <p:nvPr/>
        </p:nvSpPr>
        <p:spPr>
          <a:xfrm>
            <a:off x="5568696" y="1572768"/>
            <a:ext cx="1700784" cy="713232"/>
          </a:xfrm>
          <a:prstGeom prst="rect">
            <a:avLst/>
          </a:prstGeom>
          <a:solidFill>
            <a:srgbClr val="7A3B53"/>
          </a:solidFill>
          <a:ln w="12700">
            <a:solidFill>
              <a:srgbClr val="7A3B53"/>
            </a:solidFill>
            <a:prstDash val="solid"/>
          </a:ln>
        </p:spPr>
      </p:sp>
      <p:sp>
        <p:nvSpPr>
          <p:cNvPr id="23" name="Shape 20"/>
          <p:cNvSpPr/>
          <p:nvPr/>
        </p:nvSpPr>
        <p:spPr>
          <a:xfrm>
            <a:off x="5568696" y="1572768"/>
            <a:ext cx="1700784" cy="54864"/>
          </a:xfrm>
          <a:prstGeom prst="rect">
            <a:avLst/>
          </a:prstGeom>
          <a:solidFill>
            <a:srgbClr val="B8923A"/>
          </a:solidFill>
          <a:ln w="12700">
            <a:solidFill>
              <a:srgbClr val="B8923A"/>
            </a:solidFill>
            <a:prstDash val="solid"/>
          </a:ln>
        </p:spPr>
      </p:sp>
      <p:sp>
        <p:nvSpPr>
          <p:cNvPr id="24" name="Text 21"/>
          <p:cNvSpPr/>
          <p:nvPr/>
        </p:nvSpPr>
        <p:spPr>
          <a:xfrm>
            <a:off x="5568696" y="1627632"/>
            <a:ext cx="1700784" cy="347472"/>
          </a:xfrm>
          <a:prstGeom prst="rect">
            <a:avLst/>
          </a:prstGeom>
          <a:noFill/>
          <a:ln/>
        </p:spPr>
        <p:txBody>
          <a:bodyPr wrap="square" rtlCol="0" anchor="t"/>
          <a:lstStyle/>
          <a:p>
            <a:pPr algn="ctr" indent="0" marL="0">
              <a:buNone/>
            </a:pPr>
            <a:r>
              <a:rPr lang="en-US" sz="1500" b="1" dirty="0">
                <a:solidFill>
                  <a:srgbClr val="B8923A"/>
                </a:solidFill>
                <a:latin typeface="Georgia" pitchFamily="34" charset="0"/>
                <a:ea typeface="Georgia" pitchFamily="34" charset="-122"/>
                <a:cs typeface="Georgia" pitchFamily="34" charset="-120"/>
              </a:rPr>
              <a:t>40+</a:t>
            </a:r>
            <a:endParaRPr lang="en-US" sz="1500" dirty="0"/>
          </a:p>
        </p:txBody>
      </p:sp>
      <p:sp>
        <p:nvSpPr>
          <p:cNvPr id="25" name="Text 22"/>
          <p:cNvSpPr/>
          <p:nvPr/>
        </p:nvSpPr>
        <p:spPr>
          <a:xfrm>
            <a:off x="5568696" y="1993392"/>
            <a:ext cx="1700784" cy="201168"/>
          </a:xfrm>
          <a:prstGeom prst="rect">
            <a:avLst/>
          </a:prstGeom>
          <a:noFill/>
          <a:ln/>
        </p:spPr>
        <p:txBody>
          <a:bodyPr wrap="square" rtlCol="0" anchor="t"/>
          <a:lstStyle/>
          <a:p>
            <a:pPr algn="ctr" indent="0" marL="0">
              <a:buNone/>
            </a:pPr>
            <a:r>
              <a:rPr lang="en-US" sz="700" dirty="0">
                <a:solidFill>
                  <a:srgbClr val="E0D4BC"/>
                </a:solidFill>
                <a:latin typeface="Calibri" pitchFamily="34" charset="0"/>
                <a:ea typeface="Calibri" pitchFamily="34" charset="-122"/>
                <a:cs typeface="Calibri" pitchFamily="34" charset="-120"/>
              </a:rPr>
              <a:t>Influencers</a:t>
            </a:r>
            <a:endParaRPr lang="en-US" sz="700" dirty="0"/>
          </a:p>
        </p:txBody>
      </p:sp>
      <p:sp>
        <p:nvSpPr>
          <p:cNvPr id="26" name="Shape 23"/>
          <p:cNvSpPr/>
          <p:nvPr/>
        </p:nvSpPr>
        <p:spPr>
          <a:xfrm>
            <a:off x="7370064" y="1572768"/>
            <a:ext cx="1700784" cy="713232"/>
          </a:xfrm>
          <a:prstGeom prst="rect">
            <a:avLst/>
          </a:prstGeom>
          <a:solidFill>
            <a:srgbClr val="7A3B53"/>
          </a:solidFill>
          <a:ln w="12700">
            <a:solidFill>
              <a:srgbClr val="7A3B53"/>
            </a:solidFill>
            <a:prstDash val="solid"/>
          </a:ln>
        </p:spPr>
      </p:sp>
      <p:sp>
        <p:nvSpPr>
          <p:cNvPr id="27" name="Shape 24"/>
          <p:cNvSpPr/>
          <p:nvPr/>
        </p:nvSpPr>
        <p:spPr>
          <a:xfrm>
            <a:off x="7370064" y="1572768"/>
            <a:ext cx="1700784" cy="54864"/>
          </a:xfrm>
          <a:prstGeom prst="rect">
            <a:avLst/>
          </a:prstGeom>
          <a:solidFill>
            <a:srgbClr val="B8923A"/>
          </a:solidFill>
          <a:ln w="12700">
            <a:solidFill>
              <a:srgbClr val="B8923A"/>
            </a:solidFill>
            <a:prstDash val="solid"/>
          </a:ln>
        </p:spPr>
      </p:sp>
      <p:sp>
        <p:nvSpPr>
          <p:cNvPr id="28" name="Text 25"/>
          <p:cNvSpPr/>
          <p:nvPr/>
        </p:nvSpPr>
        <p:spPr>
          <a:xfrm>
            <a:off x="7370064" y="1627632"/>
            <a:ext cx="1700784" cy="347472"/>
          </a:xfrm>
          <a:prstGeom prst="rect">
            <a:avLst/>
          </a:prstGeom>
          <a:noFill/>
          <a:ln/>
        </p:spPr>
        <p:txBody>
          <a:bodyPr wrap="square" rtlCol="0" anchor="t"/>
          <a:lstStyle/>
          <a:p>
            <a:pPr algn="ctr" indent="0" marL="0">
              <a:buNone/>
            </a:pPr>
            <a:r>
              <a:rPr lang="en-US" sz="1500" b="1" dirty="0">
                <a:solidFill>
                  <a:srgbClr val="B8923A"/>
                </a:solidFill>
                <a:latin typeface="Georgia" pitchFamily="34" charset="0"/>
                <a:ea typeface="Georgia" pitchFamily="34" charset="-122"/>
                <a:cs typeface="Georgia" pitchFamily="34" charset="-120"/>
              </a:rPr>
              <a:t>4</a:t>
            </a:r>
            <a:endParaRPr lang="en-US" sz="1500" dirty="0"/>
          </a:p>
        </p:txBody>
      </p:sp>
      <p:sp>
        <p:nvSpPr>
          <p:cNvPr id="29" name="Text 26"/>
          <p:cNvSpPr/>
          <p:nvPr/>
        </p:nvSpPr>
        <p:spPr>
          <a:xfrm>
            <a:off x="7370064" y="1993392"/>
            <a:ext cx="1700784" cy="201168"/>
          </a:xfrm>
          <a:prstGeom prst="rect">
            <a:avLst/>
          </a:prstGeom>
          <a:noFill/>
          <a:ln/>
        </p:spPr>
        <p:txBody>
          <a:bodyPr wrap="square" rtlCol="0" anchor="t"/>
          <a:lstStyle/>
          <a:p>
            <a:pPr algn="ctr" indent="0" marL="0">
              <a:buNone/>
            </a:pPr>
            <a:r>
              <a:rPr lang="en-US" sz="700" dirty="0">
                <a:solidFill>
                  <a:srgbClr val="E0D4BC"/>
                </a:solidFill>
                <a:latin typeface="Calibri" pitchFamily="34" charset="0"/>
                <a:ea typeface="Calibri" pitchFamily="34" charset="-122"/>
                <a:cs typeface="Calibri" pitchFamily="34" charset="-120"/>
              </a:rPr>
              <a:t>Editorials</a:t>
            </a:r>
            <a:endParaRPr lang="en-US" sz="700" dirty="0"/>
          </a:p>
        </p:txBody>
      </p:sp>
      <p:sp>
        <p:nvSpPr>
          <p:cNvPr id="30" name="Shape 27"/>
          <p:cNvSpPr/>
          <p:nvPr/>
        </p:nvSpPr>
        <p:spPr>
          <a:xfrm>
            <a:off x="164592" y="2377440"/>
            <a:ext cx="4279392" cy="1170432"/>
          </a:xfrm>
          <a:prstGeom prst="rect">
            <a:avLst/>
          </a:prstGeom>
          <a:solidFill>
            <a:srgbClr val="7A3B53"/>
          </a:solidFill>
          <a:ln w="12700">
            <a:solidFill>
              <a:srgbClr val="7A3B53"/>
            </a:solidFill>
            <a:prstDash val="solid"/>
          </a:ln>
        </p:spPr>
      </p:sp>
      <p:sp>
        <p:nvSpPr>
          <p:cNvPr id="31" name="Shape 28"/>
          <p:cNvSpPr/>
          <p:nvPr/>
        </p:nvSpPr>
        <p:spPr>
          <a:xfrm>
            <a:off x="164592" y="2377440"/>
            <a:ext cx="4279392" cy="54864"/>
          </a:xfrm>
          <a:prstGeom prst="rect">
            <a:avLst/>
          </a:prstGeom>
          <a:solidFill>
            <a:srgbClr val="B8923A"/>
          </a:solidFill>
          <a:ln w="12700">
            <a:solidFill>
              <a:srgbClr val="B8923A"/>
            </a:solidFill>
            <a:prstDash val="solid"/>
          </a:ln>
        </p:spPr>
      </p:sp>
      <p:sp>
        <p:nvSpPr>
          <p:cNvPr id="32" name="Text 29"/>
          <p:cNvSpPr/>
          <p:nvPr/>
        </p:nvSpPr>
        <p:spPr>
          <a:xfrm>
            <a:off x="292608" y="2468880"/>
            <a:ext cx="2560320" cy="237744"/>
          </a:xfrm>
          <a:prstGeom prst="rect">
            <a:avLst/>
          </a:prstGeom>
          <a:noFill/>
          <a:ln/>
        </p:spPr>
        <p:txBody>
          <a:bodyPr wrap="square" rtlCol="0" anchor="t"/>
          <a:lstStyle/>
          <a:p>
            <a:pPr algn="l" indent="0" marL="0">
              <a:buNone/>
            </a:pPr>
            <a:r>
              <a:rPr lang="en-US" sz="1000" b="1" dirty="0">
                <a:solidFill>
                  <a:srgbClr val="F5EFE0"/>
                </a:solidFill>
                <a:latin typeface="Georgia" pitchFamily="34" charset="0"/>
                <a:ea typeface="Georgia" pitchFamily="34" charset="-122"/>
                <a:cs typeface="Georgia" pitchFamily="34" charset="-120"/>
              </a:rPr>
              <a:t>Guest Architecture</a:t>
            </a:r>
            <a:endParaRPr lang="en-US" sz="1000" dirty="0"/>
          </a:p>
        </p:txBody>
      </p:sp>
      <p:sp>
        <p:nvSpPr>
          <p:cNvPr id="33" name="Text 30"/>
          <p:cNvSpPr/>
          <p:nvPr/>
        </p:nvSpPr>
        <p:spPr>
          <a:xfrm>
            <a:off x="292608" y="2743200"/>
            <a:ext cx="4005072" cy="713232"/>
          </a:xfrm>
          <a:prstGeom prst="rect">
            <a:avLst/>
          </a:prstGeom>
          <a:noFill/>
          <a:ln/>
        </p:spPr>
        <p:txBody>
          <a:bodyPr wrap="square" rtlCol="0" anchor="t"/>
          <a:lstStyle/>
          <a:p>
            <a:pPr algn="l" indent="0" marL="0">
              <a:buNone/>
            </a:pPr>
            <a:r>
              <a:rPr lang="en-US" sz="800" dirty="0">
                <a:solidFill>
                  <a:srgbClr val="E0D4BC"/>
                </a:solidFill>
                <a:latin typeface="Calibri" pitchFamily="34" charset="0"/>
                <a:ea typeface="Calibri" pitchFamily="34" charset="-122"/>
                <a:cs typeface="Calibri" pitchFamily="34" charset="-120"/>
              </a:rPr>
              <a:t>40+ hand-picked by cultural alignment, not follower count. BBNaija stars Allysyn, Vee, Saskay. Musicians Elestee and Solis4ever. DJ Garbs. Entrepreneurs including Ella of Wallflower Beauty — who debuted an exclusive Beauty Hut retail launch during the trip. First guests in the brand new Lakowe cottages.</a:t>
            </a:r>
            <a:endParaRPr lang="en-US" sz="800" dirty="0"/>
          </a:p>
        </p:txBody>
      </p:sp>
      <p:sp>
        <p:nvSpPr>
          <p:cNvPr id="34" name="Shape 31"/>
          <p:cNvSpPr/>
          <p:nvPr/>
        </p:nvSpPr>
        <p:spPr>
          <a:xfrm>
            <a:off x="4681728" y="2377440"/>
            <a:ext cx="4279392" cy="1170432"/>
          </a:xfrm>
          <a:prstGeom prst="rect">
            <a:avLst/>
          </a:prstGeom>
          <a:solidFill>
            <a:srgbClr val="7A3B53"/>
          </a:solidFill>
          <a:ln w="12700">
            <a:solidFill>
              <a:srgbClr val="7A3B53"/>
            </a:solidFill>
            <a:prstDash val="solid"/>
          </a:ln>
        </p:spPr>
      </p:sp>
      <p:sp>
        <p:nvSpPr>
          <p:cNvPr id="35" name="Shape 32"/>
          <p:cNvSpPr/>
          <p:nvPr/>
        </p:nvSpPr>
        <p:spPr>
          <a:xfrm>
            <a:off x="4681728" y="2377440"/>
            <a:ext cx="4279392" cy="54864"/>
          </a:xfrm>
          <a:prstGeom prst="rect">
            <a:avLst/>
          </a:prstGeom>
          <a:solidFill>
            <a:srgbClr val="B8923A"/>
          </a:solidFill>
          <a:ln w="12700">
            <a:solidFill>
              <a:srgbClr val="B8923A"/>
            </a:solidFill>
            <a:prstDash val="solid"/>
          </a:ln>
        </p:spPr>
      </p:sp>
      <p:sp>
        <p:nvSpPr>
          <p:cNvPr id="36" name="Text 33"/>
          <p:cNvSpPr/>
          <p:nvPr/>
        </p:nvSpPr>
        <p:spPr>
          <a:xfrm>
            <a:off x="4809744" y="2468880"/>
            <a:ext cx="2560320" cy="237744"/>
          </a:xfrm>
          <a:prstGeom prst="rect">
            <a:avLst/>
          </a:prstGeom>
          <a:noFill/>
          <a:ln/>
        </p:spPr>
        <p:txBody>
          <a:bodyPr wrap="square" rtlCol="0" anchor="t"/>
          <a:lstStyle/>
          <a:p>
            <a:pPr algn="l" indent="0" marL="0">
              <a:buNone/>
            </a:pPr>
            <a:r>
              <a:rPr lang="en-US" sz="1000" b="1" dirty="0">
                <a:solidFill>
                  <a:srgbClr val="F5EFE0"/>
                </a:solidFill>
                <a:latin typeface="Georgia" pitchFamily="34" charset="0"/>
                <a:ea typeface="Georgia" pitchFamily="34" charset="-122"/>
                <a:cs typeface="Georgia" pitchFamily="34" charset="-120"/>
              </a:rPr>
              <a:t>Brand Experience</a:t>
            </a:r>
            <a:endParaRPr lang="en-US" sz="1000" dirty="0"/>
          </a:p>
        </p:txBody>
      </p:sp>
      <p:sp>
        <p:nvSpPr>
          <p:cNvPr id="37" name="Text 34"/>
          <p:cNvSpPr/>
          <p:nvPr/>
        </p:nvSpPr>
        <p:spPr>
          <a:xfrm>
            <a:off x="4809744" y="2743200"/>
            <a:ext cx="4005072" cy="713232"/>
          </a:xfrm>
          <a:prstGeom prst="rect">
            <a:avLst/>
          </a:prstGeom>
          <a:noFill/>
          <a:ln/>
        </p:spPr>
        <p:txBody>
          <a:bodyPr wrap="square" rtlCol="0" anchor="t"/>
          <a:lstStyle/>
          <a:p>
            <a:pPr algn="l" indent="0" marL="0">
              <a:buNone/>
            </a:pPr>
            <a:r>
              <a:rPr lang="en-US" sz="800" dirty="0">
                <a:solidFill>
                  <a:srgbClr val="E0D4BC"/>
                </a:solidFill>
                <a:latin typeface="Calibri" pitchFamily="34" charset="0"/>
                <a:ea typeface="Calibri" pitchFamily="34" charset="-122"/>
                <a:cs typeface="Calibri" pitchFamily="34" charset="-120"/>
              </a:rPr>
              <a:t>Every room curated with Beauty Hut products and flash cards. Custom branded robes, polo shirts, visor hats. Activewear by Sapphire by O. Sleepwear by Àṣàbí. Gratitude Journals by Nay Living. Red-themed arrival dinner, yoga, golf, boating, movie night — every touchpoint a brand statement.</a:t>
            </a:r>
            <a:endParaRPr lang="en-US" sz="800" dirty="0"/>
          </a:p>
        </p:txBody>
      </p:sp>
      <p:sp>
        <p:nvSpPr>
          <p:cNvPr id="38" name="Shape 35"/>
          <p:cNvSpPr/>
          <p:nvPr/>
        </p:nvSpPr>
        <p:spPr>
          <a:xfrm>
            <a:off x="164592" y="3639312"/>
            <a:ext cx="4279392" cy="1170432"/>
          </a:xfrm>
          <a:prstGeom prst="rect">
            <a:avLst/>
          </a:prstGeom>
          <a:solidFill>
            <a:srgbClr val="7A3B53"/>
          </a:solidFill>
          <a:ln w="12700">
            <a:solidFill>
              <a:srgbClr val="7A3B53"/>
            </a:solidFill>
            <a:prstDash val="solid"/>
          </a:ln>
        </p:spPr>
      </p:sp>
      <p:sp>
        <p:nvSpPr>
          <p:cNvPr id="39" name="Shape 36"/>
          <p:cNvSpPr/>
          <p:nvPr/>
        </p:nvSpPr>
        <p:spPr>
          <a:xfrm>
            <a:off x="164592" y="3639312"/>
            <a:ext cx="4279392" cy="54864"/>
          </a:xfrm>
          <a:prstGeom prst="rect">
            <a:avLst/>
          </a:prstGeom>
          <a:solidFill>
            <a:srgbClr val="B8923A"/>
          </a:solidFill>
          <a:ln w="12700">
            <a:solidFill>
              <a:srgbClr val="B8923A"/>
            </a:solidFill>
            <a:prstDash val="solid"/>
          </a:ln>
        </p:spPr>
      </p:sp>
      <p:sp>
        <p:nvSpPr>
          <p:cNvPr id="40" name="Text 37"/>
          <p:cNvSpPr/>
          <p:nvPr/>
        </p:nvSpPr>
        <p:spPr>
          <a:xfrm>
            <a:off x="292608" y="3730752"/>
            <a:ext cx="2560320" cy="237744"/>
          </a:xfrm>
          <a:prstGeom prst="rect">
            <a:avLst/>
          </a:prstGeom>
          <a:noFill/>
          <a:ln/>
        </p:spPr>
        <p:txBody>
          <a:bodyPr wrap="square" rtlCol="0" anchor="t"/>
          <a:lstStyle/>
          <a:p>
            <a:pPr algn="l" indent="0" marL="0">
              <a:buNone/>
            </a:pPr>
            <a:r>
              <a:rPr lang="en-US" sz="1000" b="1" dirty="0">
                <a:solidFill>
                  <a:srgbClr val="F5EFE0"/>
                </a:solidFill>
                <a:latin typeface="Georgia" pitchFamily="34" charset="0"/>
                <a:ea typeface="Georgia" pitchFamily="34" charset="-122"/>
                <a:cs typeface="Georgia" pitchFamily="34" charset="-120"/>
              </a:rPr>
              <a:t>PR Strategy</a:t>
            </a:r>
            <a:endParaRPr lang="en-US" sz="1000" dirty="0"/>
          </a:p>
        </p:txBody>
      </p:sp>
      <p:sp>
        <p:nvSpPr>
          <p:cNvPr id="41" name="Text 38"/>
          <p:cNvSpPr/>
          <p:nvPr/>
        </p:nvSpPr>
        <p:spPr>
          <a:xfrm>
            <a:off x="292608" y="4005072"/>
            <a:ext cx="4005072" cy="713232"/>
          </a:xfrm>
          <a:prstGeom prst="rect">
            <a:avLst/>
          </a:prstGeom>
          <a:noFill/>
          <a:ln/>
        </p:spPr>
        <p:txBody>
          <a:bodyPr wrap="square" rtlCol="0" anchor="t"/>
          <a:lstStyle/>
          <a:p>
            <a:pPr algn="l" indent="0" marL="0">
              <a:buNone/>
            </a:pPr>
            <a:r>
              <a:rPr lang="en-US" sz="800" dirty="0">
                <a:solidFill>
                  <a:srgbClr val="E0D4BC"/>
                </a:solidFill>
                <a:latin typeface="Calibri" pitchFamily="34" charset="0"/>
                <a:ea typeface="Calibri" pitchFamily="34" charset="-122"/>
                <a:cs typeface="Calibri" pitchFamily="34" charset="-120"/>
              </a:rPr>
              <a:t>Zero paid media. Organic reach through curated influencer content and #BHTakesLakowe — which trended organically, generating widespread FOMO across Instagram and TikTok. Four editorial outlets published full features within 10 days.</a:t>
            </a:r>
            <a:endParaRPr lang="en-US" sz="800" dirty="0"/>
          </a:p>
        </p:txBody>
      </p:sp>
      <p:sp>
        <p:nvSpPr>
          <p:cNvPr id="42" name="Shape 39"/>
          <p:cNvSpPr/>
          <p:nvPr/>
        </p:nvSpPr>
        <p:spPr>
          <a:xfrm>
            <a:off x="4681728" y="3639312"/>
            <a:ext cx="4279392" cy="1170432"/>
          </a:xfrm>
          <a:prstGeom prst="rect">
            <a:avLst/>
          </a:prstGeom>
          <a:solidFill>
            <a:srgbClr val="7A3B53"/>
          </a:solidFill>
          <a:ln w="12700">
            <a:solidFill>
              <a:srgbClr val="7A3B53"/>
            </a:solidFill>
            <a:prstDash val="solid"/>
          </a:ln>
        </p:spPr>
      </p:sp>
      <p:sp>
        <p:nvSpPr>
          <p:cNvPr id="43" name="Shape 40"/>
          <p:cNvSpPr/>
          <p:nvPr/>
        </p:nvSpPr>
        <p:spPr>
          <a:xfrm>
            <a:off x="4681728" y="3639312"/>
            <a:ext cx="4279392" cy="54864"/>
          </a:xfrm>
          <a:prstGeom prst="rect">
            <a:avLst/>
          </a:prstGeom>
          <a:solidFill>
            <a:srgbClr val="B8923A"/>
          </a:solidFill>
          <a:ln w="12700">
            <a:solidFill>
              <a:srgbClr val="B8923A"/>
            </a:solidFill>
            <a:prstDash val="solid"/>
          </a:ln>
        </p:spPr>
      </p:sp>
      <p:sp>
        <p:nvSpPr>
          <p:cNvPr id="44" name="Text 41"/>
          <p:cNvSpPr/>
          <p:nvPr/>
        </p:nvSpPr>
        <p:spPr>
          <a:xfrm>
            <a:off x="4809744" y="3730752"/>
            <a:ext cx="2560320" cy="237744"/>
          </a:xfrm>
          <a:prstGeom prst="rect">
            <a:avLst/>
          </a:prstGeom>
          <a:noFill/>
          <a:ln/>
        </p:spPr>
        <p:txBody>
          <a:bodyPr wrap="square" rtlCol="0" anchor="t"/>
          <a:lstStyle/>
          <a:p>
            <a:pPr algn="l" indent="0" marL="0">
              <a:buNone/>
            </a:pPr>
            <a:r>
              <a:rPr lang="en-US" sz="1000" b="1" dirty="0">
                <a:solidFill>
                  <a:srgbClr val="F5EFE0"/>
                </a:solidFill>
                <a:latin typeface="Georgia" pitchFamily="34" charset="0"/>
                <a:ea typeface="Georgia" pitchFamily="34" charset="-122"/>
                <a:cs typeface="Georgia" pitchFamily="34" charset="-120"/>
              </a:rPr>
              <a:t>Press Coverage</a:t>
            </a:r>
            <a:endParaRPr lang="en-US" sz="1000" dirty="0"/>
          </a:p>
        </p:txBody>
      </p:sp>
      <p:sp>
        <p:nvSpPr>
          <p:cNvPr id="45" name="Text 42"/>
          <p:cNvSpPr/>
          <p:nvPr/>
        </p:nvSpPr>
        <p:spPr>
          <a:xfrm>
            <a:off x="4809744" y="4005072"/>
            <a:ext cx="4005072" cy="713232"/>
          </a:xfrm>
          <a:prstGeom prst="rect">
            <a:avLst/>
          </a:prstGeom>
          <a:noFill/>
          <a:ln/>
        </p:spPr>
        <p:txBody>
          <a:bodyPr wrap="square" rtlCol="0" anchor="t"/>
          <a:lstStyle/>
          <a:p>
            <a:pPr algn="l" indent="0" marL="0">
              <a:buNone/>
            </a:pPr>
            <a:r>
              <a:rPr lang="en-US" sz="800" dirty="0">
                <a:solidFill>
                  <a:srgbClr val="E0D4BC"/>
                </a:solidFill>
                <a:latin typeface="Calibri" pitchFamily="34" charset="0"/>
                <a:ea typeface="Calibri" pitchFamily="34" charset="-122"/>
                <a:cs typeface="Calibri" pitchFamily="34" charset="-120"/>
              </a:rPr>
              <a:t>21 Magazine — named Onyeka personally.</a:t>
            </a:r>
            <a:endParaRPr lang="en-US" sz="800" dirty="0"/>
          </a:p>
          <a:p>
            <a:pPr algn="l" indent="0" marL="0">
              <a:buNone/>
            </a:pPr>
            <a:r>
              <a:rPr lang="en-US" sz="800" dirty="0">
                <a:solidFill>
                  <a:srgbClr val="E0D4BC"/>
                </a:solidFill>
                <a:latin typeface="Calibri" pitchFamily="34" charset="0"/>
                <a:ea typeface="Calibri" pitchFamily="34" charset="-122"/>
                <a:cs typeface="Calibri" pitchFamily="34" charset="-120"/>
              </a:rPr>
              <a:t>The 49th Street — 'sparked a wave of excitement online.'</a:t>
            </a:r>
            <a:endParaRPr lang="en-US" sz="800" dirty="0"/>
          </a:p>
          <a:p>
            <a:pPr algn="l" indent="0" marL="0">
              <a:buNone/>
            </a:pPr>
            <a:r>
              <a:rPr lang="en-US" sz="800" dirty="0">
                <a:solidFill>
                  <a:srgbClr val="E0D4BC"/>
                </a:solidFill>
                <a:latin typeface="Calibri" pitchFamily="34" charset="0"/>
                <a:ea typeface="Calibri" pitchFamily="34" charset="-122"/>
                <a:cs typeface="Calibri" pitchFamily="34" charset="-120"/>
              </a:rPr>
              <a:t>Saharan Styles — 'the branding was the cherry on top.'</a:t>
            </a:r>
            <a:endParaRPr lang="en-US" sz="800" dirty="0"/>
          </a:p>
          <a:p>
            <a:pPr algn="l" indent="0" marL="0">
              <a:buNone/>
            </a:pPr>
            <a:r>
              <a:rPr lang="en-US" sz="800" dirty="0">
                <a:solidFill>
                  <a:srgbClr val="E0D4BC"/>
                </a:solidFill>
                <a:latin typeface="Calibri" pitchFamily="34" charset="0"/>
                <a:ea typeface="Calibri" pitchFamily="34" charset="-122"/>
                <a:cs typeface="Calibri" pitchFamily="34" charset="-120"/>
              </a:rPr>
              <a:t>MoreBranches — featured partner brands.</a:t>
            </a:r>
            <a:endParaRPr lang="en-US" sz="800" dirty="0"/>
          </a:p>
        </p:txBody>
      </p:sp>
      <p:sp>
        <p:nvSpPr>
          <p:cNvPr id="46" name="Shape 43"/>
          <p:cNvSpPr/>
          <p:nvPr/>
        </p:nvSpPr>
        <p:spPr>
          <a:xfrm>
            <a:off x="0" y="4873752"/>
            <a:ext cx="9144000" cy="269748"/>
          </a:xfrm>
          <a:prstGeom prst="rect">
            <a:avLst/>
          </a:prstGeom>
          <a:solidFill>
            <a:srgbClr val="7A3B53"/>
          </a:solidFill>
          <a:ln w="12700">
            <a:solidFill>
              <a:srgbClr val="7A3B53"/>
            </a:solidFill>
            <a:prstDash val="solid"/>
          </a:ln>
        </p:spPr>
      </p:sp>
      <p:sp>
        <p:nvSpPr>
          <p:cNvPr id="47" name="Text 44"/>
          <p:cNvSpPr/>
          <p:nvPr/>
        </p:nvSpPr>
        <p:spPr>
          <a:xfrm>
            <a:off x="0" y="4878324"/>
            <a:ext cx="9144000" cy="256032"/>
          </a:xfrm>
          <a:prstGeom prst="rect">
            <a:avLst/>
          </a:prstGeom>
          <a:noFill/>
          <a:ln/>
        </p:spPr>
        <p:txBody>
          <a:bodyPr wrap="square" rtlCol="0" anchor="ctr"/>
          <a:lstStyle/>
          <a:p>
            <a:pPr algn="ctr" indent="0" marL="0">
              <a:buNone/>
            </a:pPr>
            <a:r>
              <a:rPr lang="en-US" sz="700" spc="150" kern="0" dirty="0">
                <a:solidFill>
                  <a:srgbClr val="E0D4BC"/>
                </a:solidFill>
                <a:latin typeface="Calibri" pitchFamily="34" charset="0"/>
                <a:ea typeface="Calibri" pitchFamily="34" charset="-122"/>
                <a:cs typeface="Calibri" pitchFamily="34" charset="-120"/>
              </a:rPr>
              <a:t>marktn PR  ·  Onyeka Nwonah  ·  Lagos, Nigeria  ·  Perception is Different</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F1"/>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B8923A"/>
          </a:solidFill>
          <a:ln w="12700">
            <a:solidFill>
              <a:srgbClr val="B8923A"/>
            </a:solidFill>
            <a:prstDash val="solid"/>
          </a:ln>
        </p:spPr>
      </p:sp>
      <p:sp>
        <p:nvSpPr>
          <p:cNvPr id="3" name="Shape 1"/>
          <p:cNvSpPr/>
          <p:nvPr/>
        </p:nvSpPr>
        <p:spPr>
          <a:xfrm>
            <a:off x="0" y="0"/>
            <a:ext cx="502920" cy="5143500"/>
          </a:xfrm>
          <a:prstGeom prst="rect">
            <a:avLst/>
          </a:prstGeom>
          <a:solidFill>
            <a:srgbClr val="9E4F6B"/>
          </a:solidFill>
          <a:ln w="12700">
            <a:solidFill>
              <a:srgbClr val="9E4F6B"/>
            </a:solidFill>
            <a:prstDash val="solid"/>
          </a:ln>
        </p:spPr>
      </p:sp>
      <p:pic>
        <p:nvPicPr>
          <p:cNvPr id="4" name="Image 0" descr="preencoded.png">    </p:cNvPr>
          <p:cNvPicPr>
            <a:picLocks noChangeAspect="1"/>
          </p:cNvPicPr>
          <p:nvPr/>
        </p:nvPicPr>
        <p:blipFill>
          <a:blip r:embed="rId1"/>
          <a:stretch>
            <a:fillRect/>
          </a:stretch>
        </p:blipFill>
        <p:spPr>
          <a:xfrm>
            <a:off x="658368" y="109728"/>
            <a:ext cx="1280160" cy="411480"/>
          </a:xfrm>
          <a:prstGeom prst="rect">
            <a:avLst/>
          </a:prstGeom>
        </p:spPr>
      </p:pic>
      <p:sp>
        <p:nvSpPr>
          <p:cNvPr id="5" name="Text 2"/>
          <p:cNvSpPr/>
          <p:nvPr/>
        </p:nvSpPr>
        <p:spPr>
          <a:xfrm>
            <a:off x="457200" y="146304"/>
            <a:ext cx="8412480" cy="201168"/>
          </a:xfrm>
          <a:prstGeom prst="rect">
            <a:avLst/>
          </a:prstGeom>
          <a:noFill/>
          <a:ln/>
        </p:spPr>
        <p:txBody>
          <a:bodyPr wrap="square" rtlCol="0" anchor="t"/>
          <a:lstStyle/>
          <a:p>
            <a:pPr algn="l" indent="0" marL="0">
              <a:buNone/>
            </a:pPr>
            <a:r>
              <a:rPr lang="en-US" sz="700" b="1" spc="350" kern="0" dirty="0">
                <a:solidFill>
                  <a:srgbClr val="9E4F6B"/>
                </a:solidFill>
                <a:latin typeface="Calibri" pitchFamily="34" charset="0"/>
                <a:ea typeface="Calibri" pitchFamily="34" charset="-122"/>
                <a:cs typeface="Calibri" pitchFamily="34" charset="-120"/>
              </a:rPr>
              <a:t>SIGNATURE CAMPAIGN  ·  IWD 2025  ·  PURPOSE-LED  ·  CATEGORY FIRST</a:t>
            </a:r>
            <a:endParaRPr lang="en-US" sz="700" dirty="0"/>
          </a:p>
        </p:txBody>
      </p:sp>
      <p:sp>
        <p:nvSpPr>
          <p:cNvPr id="6" name="Shape 3"/>
          <p:cNvSpPr/>
          <p:nvPr/>
        </p:nvSpPr>
        <p:spPr>
          <a:xfrm>
            <a:off x="0" y="4873752"/>
            <a:ext cx="9144000" cy="269748"/>
          </a:xfrm>
          <a:prstGeom prst="rect">
            <a:avLst/>
          </a:prstGeom>
          <a:solidFill>
            <a:srgbClr val="7A3B53"/>
          </a:solidFill>
          <a:ln w="12700">
            <a:solidFill>
              <a:srgbClr val="7A3B53"/>
            </a:solidFill>
            <a:prstDash val="solid"/>
          </a:ln>
        </p:spPr>
      </p:sp>
      <p:sp>
        <p:nvSpPr>
          <p:cNvPr id="7" name="Text 4"/>
          <p:cNvSpPr/>
          <p:nvPr/>
        </p:nvSpPr>
        <p:spPr>
          <a:xfrm>
            <a:off x="0" y="4878324"/>
            <a:ext cx="9144000" cy="256032"/>
          </a:xfrm>
          <a:prstGeom prst="rect">
            <a:avLst/>
          </a:prstGeom>
          <a:noFill/>
          <a:ln/>
        </p:spPr>
        <p:txBody>
          <a:bodyPr wrap="square" rtlCol="0" anchor="ctr"/>
          <a:lstStyle/>
          <a:p>
            <a:pPr algn="ctr" indent="0" marL="0">
              <a:buNone/>
            </a:pPr>
            <a:r>
              <a:rPr lang="en-US" sz="700" spc="150" kern="0" dirty="0">
                <a:solidFill>
                  <a:srgbClr val="E0D4BC"/>
                </a:solidFill>
                <a:latin typeface="Calibri" pitchFamily="34" charset="0"/>
                <a:ea typeface="Calibri" pitchFamily="34" charset="-122"/>
                <a:cs typeface="Calibri" pitchFamily="34" charset="-120"/>
              </a:rPr>
              <a:t>marktn PR  ·  Onyeka Nwonah  ·  Lagos, Nigeria  ·  Perception is Different</a:t>
            </a:r>
            <a:endParaRPr lang="en-US" sz="700" dirty="0"/>
          </a:p>
        </p:txBody>
      </p:sp>
      <p:sp>
        <p:nvSpPr>
          <p:cNvPr id="8" name="Text 5"/>
          <p:cNvSpPr/>
          <p:nvPr/>
        </p:nvSpPr>
        <p:spPr>
          <a:xfrm>
            <a:off x="7132320" y="182880"/>
            <a:ext cx="1645920" cy="1005840"/>
          </a:xfrm>
          <a:prstGeom prst="rect">
            <a:avLst/>
          </a:prstGeom>
          <a:noFill/>
          <a:ln/>
        </p:spPr>
        <p:txBody>
          <a:bodyPr wrap="square" rtlCol="0" anchor="t"/>
          <a:lstStyle/>
          <a:p>
            <a:pPr algn="l" indent="0" marL="0">
              <a:buNone/>
            </a:pPr>
            <a:r>
              <a:rPr lang="en-US" sz="6000" b="1" dirty="0">
                <a:solidFill>
                  <a:srgbClr val="E8C8D5"/>
                </a:solidFill>
                <a:latin typeface="Georgia" pitchFamily="34" charset="0"/>
                <a:ea typeface="Georgia" pitchFamily="34" charset="-122"/>
                <a:cs typeface="Georgia" pitchFamily="34" charset="-120"/>
              </a:rPr>
              <a:t>03</a:t>
            </a:r>
            <a:endParaRPr lang="en-US" sz="6000" dirty="0"/>
          </a:p>
        </p:txBody>
      </p:sp>
      <p:sp>
        <p:nvSpPr>
          <p:cNvPr id="9" name="Text 6"/>
          <p:cNvSpPr/>
          <p:nvPr/>
        </p:nvSpPr>
        <p:spPr>
          <a:xfrm>
            <a:off x="658368" y="438912"/>
            <a:ext cx="3931920" cy="1005840"/>
          </a:xfrm>
          <a:prstGeom prst="rect">
            <a:avLst/>
          </a:prstGeom>
          <a:noFill/>
          <a:ln/>
        </p:spPr>
        <p:txBody>
          <a:bodyPr wrap="square" rtlCol="0" anchor="t"/>
          <a:lstStyle/>
          <a:p>
            <a:pPr algn="l" indent="0" marL="0">
              <a:buNone/>
            </a:pPr>
            <a:r>
              <a:rPr lang="en-US" sz="2800" dirty="0">
                <a:solidFill>
                  <a:srgbClr val="7A3B53"/>
                </a:solidFill>
                <a:latin typeface="Georgia" pitchFamily="34" charset="0"/>
                <a:ea typeface="Georgia" pitchFamily="34" charset="-122"/>
                <a:cs typeface="Georgia" pitchFamily="34" charset="-120"/>
              </a:rPr>
              <a:t>Rethinking</a:t>
            </a:r>
            <a:endParaRPr lang="en-US" sz="2800" dirty="0"/>
          </a:p>
          <a:p>
            <a:pPr algn="l" indent="0" marL="0">
              <a:buNone/>
            </a:pPr>
            <a:r>
              <a:rPr lang="en-US" sz="2800" dirty="0">
                <a:solidFill>
                  <a:srgbClr val="7A3B53"/>
                </a:solidFill>
                <a:latin typeface="Georgia" pitchFamily="34" charset="0"/>
                <a:ea typeface="Georgia" pitchFamily="34" charset="-122"/>
                <a:cs typeface="Georgia" pitchFamily="34" charset="-120"/>
              </a:rPr>
              <a:t>Beauty:</a:t>
            </a:r>
            <a:endParaRPr lang="en-US" sz="2800" dirty="0"/>
          </a:p>
        </p:txBody>
      </p:sp>
      <p:sp>
        <p:nvSpPr>
          <p:cNvPr id="10" name="Text 7"/>
          <p:cNvSpPr/>
          <p:nvPr/>
        </p:nvSpPr>
        <p:spPr>
          <a:xfrm>
            <a:off x="658368" y="1444752"/>
            <a:ext cx="3931920" cy="777240"/>
          </a:xfrm>
          <a:prstGeom prst="rect">
            <a:avLst/>
          </a:prstGeom>
          <a:noFill/>
          <a:ln/>
        </p:spPr>
        <p:txBody>
          <a:bodyPr wrap="square" rtlCol="0" anchor="t"/>
          <a:lstStyle/>
          <a:p>
            <a:pPr algn="l" indent="0" marL="0">
              <a:buNone/>
            </a:pPr>
            <a:r>
              <a:rPr lang="en-US" sz="2400" i="1" dirty="0">
                <a:solidFill>
                  <a:srgbClr val="B8923A"/>
                </a:solidFill>
                <a:latin typeface="Georgia" pitchFamily="34" charset="0"/>
                <a:ea typeface="Georgia" pitchFamily="34" charset="-122"/>
                <a:cs typeface="Georgia" pitchFamily="34" charset="-120"/>
              </a:rPr>
              <a:t>The Women We</a:t>
            </a:r>
            <a:endParaRPr lang="en-US" sz="2400" dirty="0"/>
          </a:p>
          <a:p>
            <a:pPr algn="l" indent="0" marL="0">
              <a:buNone/>
            </a:pPr>
            <a:r>
              <a:rPr lang="en-US" sz="2400" i="1" dirty="0">
                <a:solidFill>
                  <a:srgbClr val="B8923A"/>
                </a:solidFill>
                <a:latin typeface="Georgia" pitchFamily="34" charset="0"/>
                <a:ea typeface="Georgia" pitchFamily="34" charset="-122"/>
                <a:cs typeface="Georgia" pitchFamily="34" charset="-120"/>
              </a:rPr>
              <a:t>Often Forget</a:t>
            </a:r>
            <a:endParaRPr lang="en-US" sz="2400" dirty="0"/>
          </a:p>
        </p:txBody>
      </p:sp>
      <p:sp>
        <p:nvSpPr>
          <p:cNvPr id="11" name="Text 8"/>
          <p:cNvSpPr/>
          <p:nvPr/>
        </p:nvSpPr>
        <p:spPr>
          <a:xfrm>
            <a:off x="658368" y="2267712"/>
            <a:ext cx="3931920" cy="201168"/>
          </a:xfrm>
          <a:prstGeom prst="rect">
            <a:avLst/>
          </a:prstGeom>
          <a:noFill/>
          <a:ln/>
        </p:spPr>
        <p:txBody>
          <a:bodyPr wrap="square" rtlCol="0" anchor="t"/>
          <a:lstStyle/>
          <a:p>
            <a:pPr algn="l" indent="0" marL="0">
              <a:buNone/>
            </a:pPr>
            <a:r>
              <a:rPr lang="en-US" sz="750" spc="50" kern="0" dirty="0">
                <a:solidFill>
                  <a:srgbClr val="C47A93"/>
                </a:solidFill>
                <a:latin typeface="Calibri" pitchFamily="34" charset="0"/>
                <a:ea typeface="Calibri" pitchFamily="34" charset="-122"/>
                <a:cs typeface="Calibri" pitchFamily="34" charset="-120"/>
              </a:rPr>
              <a:t>Beauty Hut Africa × LASUTH  ·  March 2025  ·  IWD</a:t>
            </a:r>
            <a:endParaRPr lang="en-US" sz="750" dirty="0"/>
          </a:p>
        </p:txBody>
      </p:sp>
      <p:sp>
        <p:nvSpPr>
          <p:cNvPr id="12" name="Shape 9"/>
          <p:cNvSpPr/>
          <p:nvPr/>
        </p:nvSpPr>
        <p:spPr>
          <a:xfrm>
            <a:off x="658368" y="2542032"/>
            <a:ext cx="3931920" cy="0"/>
          </a:xfrm>
          <a:prstGeom prst="line">
            <a:avLst/>
          </a:prstGeom>
          <a:noFill/>
          <a:ln w="10160">
            <a:solidFill>
              <a:srgbClr val="B8923A"/>
            </a:solidFill>
            <a:prstDash val="solid"/>
          </a:ln>
        </p:spPr>
      </p:sp>
      <p:sp>
        <p:nvSpPr>
          <p:cNvPr id="13" name="Text 10"/>
          <p:cNvSpPr/>
          <p:nvPr/>
        </p:nvSpPr>
        <p:spPr>
          <a:xfrm>
            <a:off x="658368" y="2651760"/>
            <a:ext cx="3931920" cy="548640"/>
          </a:xfrm>
          <a:prstGeom prst="rect">
            <a:avLst/>
          </a:prstGeom>
          <a:noFill/>
          <a:ln/>
        </p:spPr>
        <p:txBody>
          <a:bodyPr wrap="square" rtlCol="0" anchor="t"/>
          <a:lstStyle/>
          <a:p>
            <a:pPr algn="l" indent="0" marL="0">
              <a:buNone/>
            </a:pPr>
            <a:r>
              <a:rPr lang="en-US" sz="1000" i="1" dirty="0">
                <a:solidFill>
                  <a:srgbClr val="100810"/>
                </a:solidFill>
                <a:latin typeface="Georgia" pitchFamily="34" charset="0"/>
                <a:ea typeface="Georgia" pitchFamily="34" charset="-122"/>
                <a:cs typeface="Georgia" pitchFamily="34" charset="-120"/>
              </a:rPr>
              <a:t>Most IWD campaigns say 'I am strong.' This one asked something harder: what does beauty mean to a woman who cannot smell?</a:t>
            </a:r>
            <a:endParaRPr lang="en-US" sz="1000" dirty="0"/>
          </a:p>
        </p:txBody>
      </p:sp>
      <p:sp>
        <p:nvSpPr>
          <p:cNvPr id="14" name="Text 11"/>
          <p:cNvSpPr/>
          <p:nvPr/>
        </p:nvSpPr>
        <p:spPr>
          <a:xfrm>
            <a:off x="658368" y="3273552"/>
            <a:ext cx="3931920" cy="987552"/>
          </a:xfrm>
          <a:prstGeom prst="rect">
            <a:avLst/>
          </a:prstGeom>
          <a:noFill/>
          <a:ln/>
        </p:spPr>
        <p:txBody>
          <a:bodyPr wrap="square" rtlCol="0" anchor="t"/>
          <a:lstStyle/>
          <a:p>
            <a:pPr algn="l" indent="0" marL="0">
              <a:buNone/>
            </a:pPr>
            <a:r>
              <a:rPr lang="en-US" sz="950" dirty="0">
                <a:solidFill>
                  <a:srgbClr val="8A7A82"/>
                </a:solidFill>
                <a:latin typeface="Calibri" pitchFamily="34" charset="0"/>
                <a:ea typeface="Calibri" pitchFamily="34" charset="-122"/>
                <a:cs typeface="Calibri" pitchFamily="34" charset="-120"/>
              </a:rPr>
              <a:t>Working inside a beauty brand surrounded by fragrance, I discovered anosmia — the permanent, often invisible loss of the sense of smell. It affects memory, safety, relationships, and every daily experience. I reached out to Lagos State Teaching Hospital ENT Department with no roadmap — just conviction. Approvals secured by 2PM Thursday. Production live by 7AM Friday.</a:t>
            </a:r>
            <a:endParaRPr lang="en-US" sz="950" dirty="0"/>
          </a:p>
        </p:txBody>
      </p:sp>
      <p:sp>
        <p:nvSpPr>
          <p:cNvPr id="15" name="Shape 12"/>
          <p:cNvSpPr/>
          <p:nvPr/>
        </p:nvSpPr>
        <p:spPr>
          <a:xfrm>
            <a:off x="658368" y="4352544"/>
            <a:ext cx="3931920" cy="475488"/>
          </a:xfrm>
          <a:prstGeom prst="rect">
            <a:avLst/>
          </a:prstGeom>
          <a:solidFill>
            <a:srgbClr val="E8C8D5"/>
          </a:solidFill>
          <a:ln w="12700">
            <a:solidFill>
              <a:srgbClr val="D4B8C5"/>
            </a:solidFill>
            <a:prstDash val="solid"/>
          </a:ln>
        </p:spPr>
      </p:sp>
      <p:sp>
        <p:nvSpPr>
          <p:cNvPr id="16" name="Text 13"/>
          <p:cNvSpPr/>
          <p:nvPr/>
        </p:nvSpPr>
        <p:spPr>
          <a:xfrm>
            <a:off x="658368" y="4352544"/>
            <a:ext cx="3931920" cy="475488"/>
          </a:xfrm>
          <a:prstGeom prst="rect">
            <a:avLst/>
          </a:prstGeom>
          <a:noFill/>
          <a:ln/>
        </p:spPr>
        <p:txBody>
          <a:bodyPr wrap="square" rtlCol="0" anchor="ctr"/>
          <a:lstStyle/>
          <a:p>
            <a:pPr algn="ctr" indent="0" marL="0">
              <a:buNone/>
            </a:pPr>
            <a:r>
              <a:rPr lang="en-US" sz="850" dirty="0">
                <a:solidFill>
                  <a:srgbClr val="7A3B53"/>
                </a:solidFill>
                <a:latin typeface="Calibri" pitchFamily="34" charset="0"/>
                <a:ea typeface="Calibri" pitchFamily="34" charset="-122"/>
                <a:cs typeface="Calibri" pitchFamily="34" charset="-120"/>
              </a:rPr>
              <a:t>Coverage: Marie Claire Nigeria  ·  Donations to LASUTH ENT Dept.  ·  Category First</a:t>
            </a:r>
            <a:endParaRPr lang="en-US" sz="850" dirty="0"/>
          </a:p>
        </p:txBody>
      </p:sp>
      <p:sp>
        <p:nvSpPr>
          <p:cNvPr id="17" name="Shape 14"/>
          <p:cNvSpPr/>
          <p:nvPr/>
        </p:nvSpPr>
        <p:spPr>
          <a:xfrm>
            <a:off x="4754880" y="438912"/>
            <a:ext cx="4160520" cy="1371600"/>
          </a:xfrm>
          <a:prstGeom prst="rect">
            <a:avLst/>
          </a:prstGeom>
          <a:solidFill>
            <a:srgbClr val="FFFFFF"/>
          </a:solidFill>
          <a:ln w="12700">
            <a:solidFill>
              <a:srgbClr val="E8DDD5"/>
            </a:solidFill>
            <a:prstDash val="solid"/>
          </a:ln>
        </p:spPr>
      </p:sp>
      <p:sp>
        <p:nvSpPr>
          <p:cNvPr id="18" name="Shape 15"/>
          <p:cNvSpPr/>
          <p:nvPr/>
        </p:nvSpPr>
        <p:spPr>
          <a:xfrm>
            <a:off x="4754880" y="438912"/>
            <a:ext cx="54864" cy="1371600"/>
          </a:xfrm>
          <a:prstGeom prst="rect">
            <a:avLst/>
          </a:prstGeom>
          <a:solidFill>
            <a:srgbClr val="9E4F6B"/>
          </a:solidFill>
          <a:ln w="12700">
            <a:solidFill>
              <a:srgbClr val="9E4F6B"/>
            </a:solidFill>
            <a:prstDash val="solid"/>
          </a:ln>
        </p:spPr>
      </p:sp>
      <p:sp>
        <p:nvSpPr>
          <p:cNvPr id="19" name="Text 16"/>
          <p:cNvSpPr/>
          <p:nvPr/>
        </p:nvSpPr>
        <p:spPr>
          <a:xfrm>
            <a:off x="4919472" y="548640"/>
            <a:ext cx="3840480" cy="201168"/>
          </a:xfrm>
          <a:prstGeom prst="rect">
            <a:avLst/>
          </a:prstGeom>
          <a:noFill/>
          <a:ln/>
        </p:spPr>
        <p:txBody>
          <a:bodyPr wrap="square" rtlCol="0" anchor="t"/>
          <a:lstStyle/>
          <a:p>
            <a:pPr algn="l" indent="0" marL="0">
              <a:buNone/>
            </a:pPr>
            <a:r>
              <a:rPr lang="en-US" sz="700" b="1" spc="200" kern="0" dirty="0">
                <a:solidFill>
                  <a:srgbClr val="9E4F6B"/>
                </a:solidFill>
                <a:latin typeface="Calibri" pitchFamily="34" charset="0"/>
                <a:ea typeface="Calibri" pitchFamily="34" charset="-122"/>
                <a:cs typeface="Calibri" pitchFamily="34" charset="-120"/>
              </a:rPr>
              <a:t>THE STRATEGIC INSIGHT</a:t>
            </a:r>
            <a:endParaRPr lang="en-US" sz="700" dirty="0"/>
          </a:p>
        </p:txBody>
      </p:sp>
      <p:sp>
        <p:nvSpPr>
          <p:cNvPr id="20" name="Text 17"/>
          <p:cNvSpPr/>
          <p:nvPr/>
        </p:nvSpPr>
        <p:spPr>
          <a:xfrm>
            <a:off x="4919472" y="786384"/>
            <a:ext cx="3840480" cy="914400"/>
          </a:xfrm>
          <a:prstGeom prst="rect">
            <a:avLst/>
          </a:prstGeom>
          <a:noFill/>
          <a:ln/>
        </p:spPr>
        <p:txBody>
          <a:bodyPr wrap="square" rtlCol="0" anchor="t"/>
          <a:lstStyle/>
          <a:p>
            <a:pPr algn="l" indent="0" marL="0">
              <a:buNone/>
            </a:pPr>
            <a:r>
              <a:rPr lang="en-US" sz="950" dirty="0">
                <a:solidFill>
                  <a:srgbClr val="8A7A82"/>
                </a:solidFill>
                <a:latin typeface="Calibri" pitchFamily="34" charset="0"/>
                <a:ea typeface="Calibri" pitchFamily="34" charset="-122"/>
                <a:cs typeface="Calibri" pitchFamily="34" charset="-120"/>
              </a:rPr>
              <a:t>Beauty brands talk about what products do. This campaign asked what beauty means when a core sense is taken away — reframing the entire category around access, not aspiration.</a:t>
            </a:r>
            <a:endParaRPr lang="en-US" sz="950" dirty="0"/>
          </a:p>
        </p:txBody>
      </p:sp>
      <p:sp>
        <p:nvSpPr>
          <p:cNvPr id="21" name="Shape 18"/>
          <p:cNvSpPr/>
          <p:nvPr/>
        </p:nvSpPr>
        <p:spPr>
          <a:xfrm>
            <a:off x="4754880" y="1920240"/>
            <a:ext cx="4160520" cy="1371600"/>
          </a:xfrm>
          <a:prstGeom prst="rect">
            <a:avLst/>
          </a:prstGeom>
          <a:solidFill>
            <a:srgbClr val="FFFFFF"/>
          </a:solidFill>
          <a:ln w="12700">
            <a:solidFill>
              <a:srgbClr val="E8DDD5"/>
            </a:solidFill>
            <a:prstDash val="solid"/>
          </a:ln>
        </p:spPr>
      </p:sp>
      <p:sp>
        <p:nvSpPr>
          <p:cNvPr id="22" name="Shape 19"/>
          <p:cNvSpPr/>
          <p:nvPr/>
        </p:nvSpPr>
        <p:spPr>
          <a:xfrm>
            <a:off x="4754880" y="1920240"/>
            <a:ext cx="54864" cy="1371600"/>
          </a:xfrm>
          <a:prstGeom prst="rect">
            <a:avLst/>
          </a:prstGeom>
          <a:solidFill>
            <a:srgbClr val="9E4F6B"/>
          </a:solidFill>
          <a:ln w="12700">
            <a:solidFill>
              <a:srgbClr val="9E4F6B"/>
            </a:solidFill>
            <a:prstDash val="solid"/>
          </a:ln>
        </p:spPr>
      </p:sp>
      <p:sp>
        <p:nvSpPr>
          <p:cNvPr id="23" name="Text 20"/>
          <p:cNvSpPr/>
          <p:nvPr/>
        </p:nvSpPr>
        <p:spPr>
          <a:xfrm>
            <a:off x="4919472" y="2029968"/>
            <a:ext cx="3840480" cy="201168"/>
          </a:xfrm>
          <a:prstGeom prst="rect">
            <a:avLst/>
          </a:prstGeom>
          <a:noFill/>
          <a:ln/>
        </p:spPr>
        <p:txBody>
          <a:bodyPr wrap="square" rtlCol="0" anchor="t"/>
          <a:lstStyle/>
          <a:p>
            <a:pPr algn="l" indent="0" marL="0">
              <a:buNone/>
            </a:pPr>
            <a:r>
              <a:rPr lang="en-US" sz="700" b="1" spc="200" kern="0" dirty="0">
                <a:solidFill>
                  <a:srgbClr val="9E4F6B"/>
                </a:solidFill>
                <a:latin typeface="Calibri" pitchFamily="34" charset="0"/>
                <a:ea typeface="Calibri" pitchFamily="34" charset="-122"/>
                <a:cs typeface="Calibri" pitchFamily="34" charset="-120"/>
              </a:rPr>
              <a:t>WHAT MADE IT DIFFERENT</a:t>
            </a:r>
            <a:endParaRPr lang="en-US" sz="700" dirty="0"/>
          </a:p>
        </p:txBody>
      </p:sp>
      <p:sp>
        <p:nvSpPr>
          <p:cNvPr id="24" name="Text 21"/>
          <p:cNvSpPr/>
          <p:nvPr/>
        </p:nvSpPr>
        <p:spPr>
          <a:xfrm>
            <a:off x="4919472" y="2267712"/>
            <a:ext cx="3840480" cy="914400"/>
          </a:xfrm>
          <a:prstGeom prst="rect">
            <a:avLst/>
          </a:prstGeom>
          <a:noFill/>
          <a:ln/>
        </p:spPr>
        <p:txBody>
          <a:bodyPr wrap="square" rtlCol="0" anchor="t"/>
          <a:lstStyle/>
          <a:p>
            <a:pPr algn="l" indent="0" marL="0">
              <a:buNone/>
            </a:pPr>
            <a:r>
              <a:rPr lang="en-US" sz="950" dirty="0">
                <a:solidFill>
                  <a:srgbClr val="8A7A82"/>
                </a:solidFill>
                <a:latin typeface="Calibri" pitchFamily="34" charset="0"/>
                <a:ea typeface="Calibri" pitchFamily="34" charset="-122"/>
                <a:cs typeface="Calibri" pitchFamily="34" charset="-120"/>
              </a:rPr>
              <a:t>No inspirational soundbites. No generic empowerment visuals. Real patients. A real hospital. An issue most beauty brands would never go near. That restraint was the strategy.</a:t>
            </a:r>
            <a:endParaRPr lang="en-US" sz="950" dirty="0"/>
          </a:p>
        </p:txBody>
      </p:sp>
      <p:sp>
        <p:nvSpPr>
          <p:cNvPr id="25" name="Shape 22"/>
          <p:cNvSpPr/>
          <p:nvPr/>
        </p:nvSpPr>
        <p:spPr>
          <a:xfrm>
            <a:off x="4754880" y="3401568"/>
            <a:ext cx="4160520" cy="1371600"/>
          </a:xfrm>
          <a:prstGeom prst="rect">
            <a:avLst/>
          </a:prstGeom>
          <a:solidFill>
            <a:srgbClr val="FFFFFF"/>
          </a:solidFill>
          <a:ln w="12700">
            <a:solidFill>
              <a:srgbClr val="E8DDD5"/>
            </a:solidFill>
            <a:prstDash val="solid"/>
          </a:ln>
        </p:spPr>
      </p:sp>
      <p:sp>
        <p:nvSpPr>
          <p:cNvPr id="26" name="Shape 23"/>
          <p:cNvSpPr/>
          <p:nvPr/>
        </p:nvSpPr>
        <p:spPr>
          <a:xfrm>
            <a:off x="4754880" y="3401568"/>
            <a:ext cx="54864" cy="1371600"/>
          </a:xfrm>
          <a:prstGeom prst="rect">
            <a:avLst/>
          </a:prstGeom>
          <a:solidFill>
            <a:srgbClr val="9E4F6B"/>
          </a:solidFill>
          <a:ln w="12700">
            <a:solidFill>
              <a:srgbClr val="9E4F6B"/>
            </a:solidFill>
            <a:prstDash val="solid"/>
          </a:ln>
        </p:spPr>
      </p:sp>
      <p:sp>
        <p:nvSpPr>
          <p:cNvPr id="27" name="Text 24"/>
          <p:cNvSpPr/>
          <p:nvPr/>
        </p:nvSpPr>
        <p:spPr>
          <a:xfrm>
            <a:off x="4919472" y="3511296"/>
            <a:ext cx="3840480" cy="201168"/>
          </a:xfrm>
          <a:prstGeom prst="rect">
            <a:avLst/>
          </a:prstGeom>
          <a:noFill/>
          <a:ln/>
        </p:spPr>
        <p:txBody>
          <a:bodyPr wrap="square" rtlCol="0" anchor="t"/>
          <a:lstStyle/>
          <a:p>
            <a:pPr algn="l" indent="0" marL="0">
              <a:buNone/>
            </a:pPr>
            <a:r>
              <a:rPr lang="en-US" sz="700" b="1" spc="200" kern="0" dirty="0">
                <a:solidFill>
                  <a:srgbClr val="9E4F6B"/>
                </a:solidFill>
                <a:latin typeface="Calibri" pitchFamily="34" charset="0"/>
                <a:ea typeface="Calibri" pitchFamily="34" charset="-122"/>
                <a:cs typeface="Calibri" pitchFamily="34" charset="-120"/>
              </a:rPr>
              <a:t>WHY IT MATTERS</a:t>
            </a:r>
            <a:endParaRPr lang="en-US" sz="700" dirty="0"/>
          </a:p>
        </p:txBody>
      </p:sp>
      <p:sp>
        <p:nvSpPr>
          <p:cNvPr id="28" name="Text 25"/>
          <p:cNvSpPr/>
          <p:nvPr/>
        </p:nvSpPr>
        <p:spPr>
          <a:xfrm>
            <a:off x="4919472" y="3749040"/>
            <a:ext cx="3840480" cy="914400"/>
          </a:xfrm>
          <a:prstGeom prst="rect">
            <a:avLst/>
          </a:prstGeom>
          <a:noFill/>
          <a:ln/>
        </p:spPr>
        <p:txBody>
          <a:bodyPr wrap="square" rtlCol="0" anchor="t"/>
          <a:lstStyle/>
          <a:p>
            <a:pPr algn="l" indent="0" marL="0">
              <a:buNone/>
            </a:pPr>
            <a:r>
              <a:rPr lang="en-US" sz="950" dirty="0">
                <a:solidFill>
                  <a:srgbClr val="8A7A82"/>
                </a:solidFill>
                <a:latin typeface="Calibri" pitchFamily="34" charset="0"/>
                <a:ea typeface="Calibri" pitchFamily="34" charset="-122"/>
                <a:cs typeface="Calibri" pitchFamily="34" charset="-120"/>
              </a:rPr>
              <a:t>As marketers we have a responsibility to understand not just what people experience — but what they don't. Loss of smell affects memory, safety, relationships, and everyday experience.</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00810"/>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B8923A"/>
          </a:solidFill>
          <a:ln w="12700">
            <a:solidFill>
              <a:srgbClr val="B8923A"/>
            </a:solidFill>
            <a:prstDash val="solid"/>
          </a:ln>
        </p:spPr>
      </p:sp>
      <p:sp>
        <p:nvSpPr>
          <p:cNvPr id="3" name="Shape 1"/>
          <p:cNvSpPr/>
          <p:nvPr/>
        </p:nvSpPr>
        <p:spPr>
          <a:xfrm>
            <a:off x="6400800" y="3200400"/>
            <a:ext cx="3200400" cy="3200400"/>
          </a:xfrm>
          <a:prstGeom prst="ellipse">
            <a:avLst/>
          </a:prstGeom>
          <a:solidFill>
            <a:srgbClr val="9E4F6B">
              <a:alpha val="30000"/>
            </a:srgbClr>
          </a:solidFill>
          <a:ln w="12700">
            <a:solidFill>
              <a:srgbClr val="9E4F6B">
                <a:alpha val="30000"/>
              </a:srgbClr>
            </a:solidFill>
            <a:prstDash val="solid"/>
          </a:ln>
        </p:spPr>
      </p:sp>
      <p:sp>
        <p:nvSpPr>
          <p:cNvPr id="4" name="Text 2"/>
          <p:cNvSpPr/>
          <p:nvPr/>
        </p:nvSpPr>
        <p:spPr>
          <a:xfrm>
            <a:off x="182880" y="228600"/>
            <a:ext cx="1097280" cy="914400"/>
          </a:xfrm>
          <a:prstGeom prst="rect">
            <a:avLst/>
          </a:prstGeom>
          <a:noFill/>
          <a:ln/>
        </p:spPr>
        <p:txBody>
          <a:bodyPr wrap="square" rtlCol="0" anchor="t"/>
          <a:lstStyle/>
          <a:p>
            <a:pPr algn="l" indent="0" marL="0">
              <a:buNone/>
            </a:pPr>
            <a:r>
              <a:rPr lang="en-US" sz="5200" b="1" dirty="0">
                <a:solidFill>
                  <a:srgbClr val="1E0F18"/>
                </a:solidFill>
                <a:latin typeface="Georgia" pitchFamily="34" charset="0"/>
                <a:ea typeface="Georgia" pitchFamily="34" charset="-122"/>
                <a:cs typeface="Georgia" pitchFamily="34" charset="-120"/>
              </a:rPr>
              <a:t>04</a:t>
            </a:r>
            <a:endParaRPr lang="en-US" sz="5200" dirty="0"/>
          </a:p>
        </p:txBody>
      </p:sp>
      <p:pic>
        <p:nvPicPr>
          <p:cNvPr id="5" name="Image 0" descr="preencoded.png">    </p:cNvPr>
          <p:cNvPicPr>
            <a:picLocks noChangeAspect="1"/>
          </p:cNvPicPr>
          <p:nvPr/>
        </p:nvPicPr>
        <p:blipFill>
          <a:blip r:embed="rId1"/>
          <a:stretch>
            <a:fillRect/>
          </a:stretch>
        </p:blipFill>
        <p:spPr>
          <a:xfrm>
            <a:off x="365760" y="164592"/>
            <a:ext cx="1234440" cy="393192"/>
          </a:xfrm>
          <a:prstGeom prst="rect">
            <a:avLst/>
          </a:prstGeom>
        </p:spPr>
      </p:pic>
      <p:sp>
        <p:nvSpPr>
          <p:cNvPr id="6" name="Text 3"/>
          <p:cNvSpPr/>
          <p:nvPr/>
        </p:nvSpPr>
        <p:spPr>
          <a:xfrm>
            <a:off x="457200" y="146304"/>
            <a:ext cx="8412480" cy="201168"/>
          </a:xfrm>
          <a:prstGeom prst="rect">
            <a:avLst/>
          </a:prstGeom>
          <a:noFill/>
          <a:ln/>
        </p:spPr>
        <p:txBody>
          <a:bodyPr wrap="square" rtlCol="0" anchor="t"/>
          <a:lstStyle/>
          <a:p>
            <a:pPr algn="l" indent="0" marL="0">
              <a:buNone/>
            </a:pPr>
            <a:r>
              <a:rPr lang="en-US" sz="700" b="1" spc="350" kern="0" dirty="0">
                <a:solidFill>
                  <a:srgbClr val="B8923A"/>
                </a:solidFill>
                <a:latin typeface="Calibri" pitchFamily="34" charset="0"/>
                <a:ea typeface="Calibri" pitchFamily="34" charset="-122"/>
                <a:cs typeface="Calibri" pitchFamily="34" charset="-120"/>
              </a:rPr>
              <a:t>CAMPAIGN  ·  CERAVE BOGO FREE  ·  BEAUTY HUT AFRICA  ·  FIRST MEN'S SKINCARE PUSH</a:t>
            </a:r>
            <a:endParaRPr lang="en-US" sz="700" dirty="0"/>
          </a:p>
        </p:txBody>
      </p:sp>
      <p:sp>
        <p:nvSpPr>
          <p:cNvPr id="7" name="Shape 4"/>
          <p:cNvSpPr/>
          <p:nvPr/>
        </p:nvSpPr>
        <p:spPr>
          <a:xfrm>
            <a:off x="0" y="4873752"/>
            <a:ext cx="9144000" cy="269748"/>
          </a:xfrm>
          <a:prstGeom prst="rect">
            <a:avLst/>
          </a:prstGeom>
          <a:solidFill>
            <a:srgbClr val="7A3B53"/>
          </a:solidFill>
          <a:ln w="12700">
            <a:solidFill>
              <a:srgbClr val="7A3B53"/>
            </a:solidFill>
            <a:prstDash val="solid"/>
          </a:ln>
        </p:spPr>
      </p:sp>
      <p:sp>
        <p:nvSpPr>
          <p:cNvPr id="8" name="Text 5"/>
          <p:cNvSpPr/>
          <p:nvPr/>
        </p:nvSpPr>
        <p:spPr>
          <a:xfrm>
            <a:off x="0" y="4878324"/>
            <a:ext cx="9144000" cy="256032"/>
          </a:xfrm>
          <a:prstGeom prst="rect">
            <a:avLst/>
          </a:prstGeom>
          <a:noFill/>
          <a:ln/>
        </p:spPr>
        <p:txBody>
          <a:bodyPr wrap="square" rtlCol="0" anchor="ctr"/>
          <a:lstStyle/>
          <a:p>
            <a:pPr algn="ctr" indent="0" marL="0">
              <a:buNone/>
            </a:pPr>
            <a:r>
              <a:rPr lang="en-US" sz="700" spc="150" kern="0" dirty="0">
                <a:solidFill>
                  <a:srgbClr val="E0D4BC"/>
                </a:solidFill>
                <a:latin typeface="Calibri" pitchFamily="34" charset="0"/>
                <a:ea typeface="Calibri" pitchFamily="34" charset="-122"/>
                <a:cs typeface="Calibri" pitchFamily="34" charset="-120"/>
              </a:rPr>
              <a:t>marktn PR  ·  Onyeka Nwonah  ·  Lagos, Nigeria  ·  Perception is Different</a:t>
            </a:r>
            <a:endParaRPr lang="en-US" sz="700" dirty="0"/>
          </a:p>
        </p:txBody>
      </p:sp>
      <p:sp>
        <p:nvSpPr>
          <p:cNvPr id="9" name="Text 6"/>
          <p:cNvSpPr/>
          <p:nvPr/>
        </p:nvSpPr>
        <p:spPr>
          <a:xfrm>
            <a:off x="365760" y="475488"/>
            <a:ext cx="4389120" cy="1234440"/>
          </a:xfrm>
          <a:prstGeom prst="rect">
            <a:avLst/>
          </a:prstGeom>
          <a:noFill/>
          <a:ln/>
        </p:spPr>
        <p:txBody>
          <a:bodyPr wrap="square" rtlCol="0" anchor="t"/>
          <a:lstStyle/>
          <a:p>
            <a:pPr algn="l" indent="0" marL="0">
              <a:buNone/>
            </a:pPr>
            <a:r>
              <a:rPr lang="en-US" sz="3200" b="1" dirty="0">
                <a:solidFill>
                  <a:srgbClr val="F5EFE0"/>
                </a:solidFill>
                <a:latin typeface="Georgia" pitchFamily="34" charset="0"/>
                <a:ea typeface="Georgia" pitchFamily="34" charset="-122"/>
                <a:cs typeface="Georgia" pitchFamily="34" charset="-120"/>
              </a:rPr>
              <a:t>Men Deserve</a:t>
            </a:r>
            <a:endParaRPr lang="en-US" sz="3200" dirty="0"/>
          </a:p>
          <a:p>
            <a:pPr algn="l" indent="0" marL="0">
              <a:buNone/>
            </a:pPr>
            <a:r>
              <a:rPr lang="en-US" sz="3200" b="1" dirty="0">
                <a:solidFill>
                  <a:srgbClr val="F5EFE0"/>
                </a:solidFill>
                <a:latin typeface="Georgia" pitchFamily="34" charset="0"/>
                <a:ea typeface="Georgia" pitchFamily="34" charset="-122"/>
                <a:cs typeface="Georgia" pitchFamily="34" charset="-120"/>
              </a:rPr>
              <a:t>Better Skin Too</a:t>
            </a:r>
            <a:endParaRPr lang="en-US" sz="3200" dirty="0"/>
          </a:p>
        </p:txBody>
      </p:sp>
      <p:sp>
        <p:nvSpPr>
          <p:cNvPr id="10" name="Text 7"/>
          <p:cNvSpPr/>
          <p:nvPr/>
        </p:nvSpPr>
        <p:spPr>
          <a:xfrm>
            <a:off x="365760" y="1755648"/>
            <a:ext cx="4389120" cy="201168"/>
          </a:xfrm>
          <a:prstGeom prst="rect">
            <a:avLst/>
          </a:prstGeom>
          <a:noFill/>
          <a:ln/>
        </p:spPr>
        <p:txBody>
          <a:bodyPr wrap="square" rtlCol="0" anchor="t"/>
          <a:lstStyle/>
          <a:p>
            <a:pPr algn="l" indent="0" marL="0">
              <a:buNone/>
            </a:pPr>
            <a:r>
              <a:rPr lang="en-US" sz="750" spc="50" kern="0" dirty="0">
                <a:solidFill>
                  <a:srgbClr val="C47A93"/>
                </a:solidFill>
                <a:latin typeface="Calibri" pitchFamily="34" charset="0"/>
                <a:ea typeface="Calibri" pitchFamily="34" charset="-122"/>
                <a:cs typeface="Calibri" pitchFamily="34" charset="-120"/>
              </a:rPr>
              <a:t>Beauty Hut Africa × CeraVe  ·  July – September 2025</a:t>
            </a:r>
            <a:endParaRPr lang="en-US" sz="750" dirty="0"/>
          </a:p>
        </p:txBody>
      </p:sp>
      <p:sp>
        <p:nvSpPr>
          <p:cNvPr id="11" name="Shape 8"/>
          <p:cNvSpPr/>
          <p:nvPr/>
        </p:nvSpPr>
        <p:spPr>
          <a:xfrm>
            <a:off x="365760" y="2029968"/>
            <a:ext cx="4389120" cy="0"/>
          </a:xfrm>
          <a:prstGeom prst="line">
            <a:avLst/>
          </a:prstGeom>
          <a:noFill/>
          <a:ln w="10160">
            <a:solidFill>
              <a:srgbClr val="B8923A"/>
            </a:solidFill>
            <a:prstDash val="solid"/>
          </a:ln>
        </p:spPr>
      </p:sp>
      <p:sp>
        <p:nvSpPr>
          <p:cNvPr id="12" name="Text 9"/>
          <p:cNvSpPr/>
          <p:nvPr/>
        </p:nvSpPr>
        <p:spPr>
          <a:xfrm>
            <a:off x="365760" y="2139696"/>
            <a:ext cx="4389120" cy="1444752"/>
          </a:xfrm>
          <a:prstGeom prst="rect">
            <a:avLst/>
          </a:prstGeom>
          <a:noFill/>
          <a:ln/>
        </p:spPr>
        <p:txBody>
          <a:bodyPr wrap="square" rtlCol="0" anchor="t"/>
          <a:lstStyle/>
          <a:p>
            <a:pPr algn="l" indent="0" marL="0">
              <a:buNone/>
            </a:pPr>
            <a:r>
              <a:rPr lang="en-US" sz="950" dirty="0">
                <a:solidFill>
                  <a:srgbClr val="8A7A82"/>
                </a:solidFill>
                <a:latin typeface="Calibri" pitchFamily="34" charset="0"/>
                <a:ea typeface="Calibri" pitchFamily="34" charset="-122"/>
                <a:cs typeface="Calibri" pitchFamily="34" charset="-120"/>
              </a:rPr>
              <a:t>One of the first major men's skincare pushes from a Nigerian beauty retailer — challenging the cultural stigma around male grooming through five male influencers. Framed CeraVe as a non-negotiable part of a man's routine, not a beauty concession. Supported by a FREECERAVE tracked promo code, Meta Instagram ads, dedicated solus email to Beauty Hut subscribers, and homepage and mobile app hero banner placements. 200 units provided by CeraVe. Campaign supported by a dedicated solus email and homepage + mobile app hero banner placements.</a:t>
            </a:r>
            <a:endParaRPr lang="en-US" sz="950" dirty="0"/>
          </a:p>
        </p:txBody>
      </p:sp>
      <p:sp>
        <p:nvSpPr>
          <p:cNvPr id="13" name="Shape 10"/>
          <p:cNvSpPr/>
          <p:nvPr/>
        </p:nvSpPr>
        <p:spPr>
          <a:xfrm>
            <a:off x="365760" y="3694176"/>
            <a:ext cx="1417320" cy="621792"/>
          </a:xfrm>
          <a:prstGeom prst="rect">
            <a:avLst/>
          </a:prstGeom>
          <a:solidFill>
            <a:srgbClr val="9E4F6B"/>
          </a:solidFill>
          <a:ln w="12700">
            <a:solidFill>
              <a:srgbClr val="9E4F6B"/>
            </a:solidFill>
            <a:prstDash val="solid"/>
          </a:ln>
        </p:spPr>
      </p:sp>
      <p:sp>
        <p:nvSpPr>
          <p:cNvPr id="14" name="Shape 11"/>
          <p:cNvSpPr/>
          <p:nvPr/>
        </p:nvSpPr>
        <p:spPr>
          <a:xfrm>
            <a:off x="365760" y="3694176"/>
            <a:ext cx="1417320" cy="54864"/>
          </a:xfrm>
          <a:prstGeom prst="rect">
            <a:avLst/>
          </a:prstGeom>
          <a:solidFill>
            <a:srgbClr val="B8923A"/>
          </a:solidFill>
          <a:ln w="12700">
            <a:solidFill>
              <a:srgbClr val="B8923A"/>
            </a:solidFill>
            <a:prstDash val="solid"/>
          </a:ln>
        </p:spPr>
      </p:sp>
      <p:sp>
        <p:nvSpPr>
          <p:cNvPr id="15" name="Text 12"/>
          <p:cNvSpPr/>
          <p:nvPr/>
        </p:nvSpPr>
        <p:spPr>
          <a:xfrm>
            <a:off x="365760" y="3767328"/>
            <a:ext cx="1417320" cy="329184"/>
          </a:xfrm>
          <a:prstGeom prst="rect">
            <a:avLst/>
          </a:prstGeom>
          <a:noFill/>
          <a:ln/>
        </p:spPr>
        <p:txBody>
          <a:bodyPr wrap="square" rtlCol="0" anchor="t"/>
          <a:lstStyle/>
          <a:p>
            <a:pPr algn="ctr" indent="0" marL="0">
              <a:buNone/>
            </a:pPr>
            <a:r>
              <a:rPr lang="en-US" sz="1300" b="1" dirty="0">
                <a:solidFill>
                  <a:srgbClr val="F5EFE0"/>
                </a:solidFill>
                <a:latin typeface="Georgia" pitchFamily="34" charset="0"/>
                <a:ea typeface="Georgia" pitchFamily="34" charset="-122"/>
                <a:cs typeface="Georgia" pitchFamily="34" charset="-120"/>
              </a:rPr>
              <a:t>167K+</a:t>
            </a:r>
            <a:endParaRPr lang="en-US" sz="1300" dirty="0"/>
          </a:p>
        </p:txBody>
      </p:sp>
      <p:sp>
        <p:nvSpPr>
          <p:cNvPr id="16" name="Text 13"/>
          <p:cNvSpPr/>
          <p:nvPr/>
        </p:nvSpPr>
        <p:spPr>
          <a:xfrm>
            <a:off x="365760" y="4114800"/>
            <a:ext cx="1417320" cy="164592"/>
          </a:xfrm>
          <a:prstGeom prst="rect">
            <a:avLst/>
          </a:prstGeom>
          <a:noFill/>
          <a:ln/>
        </p:spPr>
        <p:txBody>
          <a:bodyPr wrap="square" rtlCol="0" anchor="t"/>
          <a:lstStyle/>
          <a:p>
            <a:pPr algn="ctr" indent="0" marL="0">
              <a:buNone/>
            </a:pPr>
            <a:r>
              <a:rPr lang="en-US" sz="650" dirty="0">
                <a:solidFill>
                  <a:srgbClr val="E0D4BC"/>
                </a:solidFill>
                <a:latin typeface="Calibri" pitchFamily="34" charset="0"/>
                <a:ea typeface="Calibri" pitchFamily="34" charset="-122"/>
                <a:cs typeface="Calibri" pitchFamily="34" charset="-120"/>
              </a:rPr>
              <a:t>Shaun Okojie IG</a:t>
            </a:r>
            <a:endParaRPr lang="en-US" sz="650" dirty="0"/>
          </a:p>
        </p:txBody>
      </p:sp>
      <p:sp>
        <p:nvSpPr>
          <p:cNvPr id="17" name="Shape 14"/>
          <p:cNvSpPr/>
          <p:nvPr/>
        </p:nvSpPr>
        <p:spPr>
          <a:xfrm>
            <a:off x="1874520" y="3694176"/>
            <a:ext cx="1417320" cy="621792"/>
          </a:xfrm>
          <a:prstGeom prst="rect">
            <a:avLst/>
          </a:prstGeom>
          <a:solidFill>
            <a:srgbClr val="9E4F6B"/>
          </a:solidFill>
          <a:ln w="12700">
            <a:solidFill>
              <a:srgbClr val="9E4F6B"/>
            </a:solidFill>
            <a:prstDash val="solid"/>
          </a:ln>
        </p:spPr>
      </p:sp>
      <p:sp>
        <p:nvSpPr>
          <p:cNvPr id="18" name="Shape 15"/>
          <p:cNvSpPr/>
          <p:nvPr/>
        </p:nvSpPr>
        <p:spPr>
          <a:xfrm>
            <a:off x="1874520" y="3694176"/>
            <a:ext cx="1417320" cy="54864"/>
          </a:xfrm>
          <a:prstGeom prst="rect">
            <a:avLst/>
          </a:prstGeom>
          <a:solidFill>
            <a:srgbClr val="B8923A"/>
          </a:solidFill>
          <a:ln w="12700">
            <a:solidFill>
              <a:srgbClr val="B8923A"/>
            </a:solidFill>
            <a:prstDash val="solid"/>
          </a:ln>
        </p:spPr>
      </p:sp>
      <p:sp>
        <p:nvSpPr>
          <p:cNvPr id="19" name="Text 16"/>
          <p:cNvSpPr/>
          <p:nvPr/>
        </p:nvSpPr>
        <p:spPr>
          <a:xfrm>
            <a:off x="1874520" y="3767328"/>
            <a:ext cx="1417320" cy="329184"/>
          </a:xfrm>
          <a:prstGeom prst="rect">
            <a:avLst/>
          </a:prstGeom>
          <a:noFill/>
          <a:ln/>
        </p:spPr>
        <p:txBody>
          <a:bodyPr wrap="square" rtlCol="0" anchor="t"/>
          <a:lstStyle/>
          <a:p>
            <a:pPr algn="ctr" indent="0" marL="0">
              <a:buNone/>
            </a:pPr>
            <a:r>
              <a:rPr lang="en-US" sz="1300" b="1" dirty="0">
                <a:solidFill>
                  <a:srgbClr val="F5EFE0"/>
                </a:solidFill>
                <a:latin typeface="Georgia" pitchFamily="34" charset="0"/>
                <a:ea typeface="Georgia" pitchFamily="34" charset="-122"/>
                <a:cs typeface="Georgia" pitchFamily="34" charset="-120"/>
              </a:rPr>
              <a:t>118K+</a:t>
            </a:r>
            <a:endParaRPr lang="en-US" sz="1300" dirty="0"/>
          </a:p>
        </p:txBody>
      </p:sp>
      <p:sp>
        <p:nvSpPr>
          <p:cNvPr id="20" name="Text 17"/>
          <p:cNvSpPr/>
          <p:nvPr/>
        </p:nvSpPr>
        <p:spPr>
          <a:xfrm>
            <a:off x="1874520" y="4114800"/>
            <a:ext cx="1417320" cy="164592"/>
          </a:xfrm>
          <a:prstGeom prst="rect">
            <a:avLst/>
          </a:prstGeom>
          <a:noFill/>
          <a:ln/>
        </p:spPr>
        <p:txBody>
          <a:bodyPr wrap="square" rtlCol="0" anchor="t"/>
          <a:lstStyle/>
          <a:p>
            <a:pPr algn="ctr" indent="0" marL="0">
              <a:buNone/>
            </a:pPr>
            <a:r>
              <a:rPr lang="en-US" sz="650" dirty="0">
                <a:solidFill>
                  <a:srgbClr val="E0D4BC"/>
                </a:solidFill>
                <a:latin typeface="Calibri" pitchFamily="34" charset="0"/>
                <a:ea typeface="Calibri" pitchFamily="34" charset="-122"/>
                <a:cs typeface="Calibri" pitchFamily="34" charset="-120"/>
              </a:rPr>
              <a:t>Vine Olugu IG</a:t>
            </a:r>
            <a:endParaRPr lang="en-US" sz="650" dirty="0"/>
          </a:p>
        </p:txBody>
      </p:sp>
      <p:sp>
        <p:nvSpPr>
          <p:cNvPr id="21" name="Shape 18"/>
          <p:cNvSpPr/>
          <p:nvPr/>
        </p:nvSpPr>
        <p:spPr>
          <a:xfrm>
            <a:off x="3383280" y="3694176"/>
            <a:ext cx="1417320" cy="621792"/>
          </a:xfrm>
          <a:prstGeom prst="rect">
            <a:avLst/>
          </a:prstGeom>
          <a:solidFill>
            <a:srgbClr val="9E4F6B"/>
          </a:solidFill>
          <a:ln w="12700">
            <a:solidFill>
              <a:srgbClr val="9E4F6B"/>
            </a:solidFill>
            <a:prstDash val="solid"/>
          </a:ln>
        </p:spPr>
      </p:sp>
      <p:sp>
        <p:nvSpPr>
          <p:cNvPr id="22" name="Shape 19"/>
          <p:cNvSpPr/>
          <p:nvPr/>
        </p:nvSpPr>
        <p:spPr>
          <a:xfrm>
            <a:off x="3383280" y="3694176"/>
            <a:ext cx="1417320" cy="54864"/>
          </a:xfrm>
          <a:prstGeom prst="rect">
            <a:avLst/>
          </a:prstGeom>
          <a:solidFill>
            <a:srgbClr val="B8923A"/>
          </a:solidFill>
          <a:ln w="12700">
            <a:solidFill>
              <a:srgbClr val="B8923A"/>
            </a:solidFill>
            <a:prstDash val="solid"/>
          </a:ln>
        </p:spPr>
      </p:sp>
      <p:sp>
        <p:nvSpPr>
          <p:cNvPr id="23" name="Text 20"/>
          <p:cNvSpPr/>
          <p:nvPr/>
        </p:nvSpPr>
        <p:spPr>
          <a:xfrm>
            <a:off x="3383280" y="3767328"/>
            <a:ext cx="1417320" cy="329184"/>
          </a:xfrm>
          <a:prstGeom prst="rect">
            <a:avLst/>
          </a:prstGeom>
          <a:noFill/>
          <a:ln/>
        </p:spPr>
        <p:txBody>
          <a:bodyPr wrap="square" rtlCol="0" anchor="t"/>
          <a:lstStyle/>
          <a:p>
            <a:pPr algn="ctr" indent="0" marL="0">
              <a:buNone/>
            </a:pPr>
            <a:r>
              <a:rPr lang="en-US" sz="1300" b="1" dirty="0">
                <a:solidFill>
                  <a:srgbClr val="F5EFE0"/>
                </a:solidFill>
                <a:latin typeface="Georgia" pitchFamily="34" charset="0"/>
                <a:ea typeface="Georgia" pitchFamily="34" charset="-122"/>
                <a:cs typeface="Georgia" pitchFamily="34" charset="-120"/>
              </a:rPr>
              <a:t>47.2K</a:t>
            </a:r>
            <a:endParaRPr lang="en-US" sz="1300" dirty="0"/>
          </a:p>
        </p:txBody>
      </p:sp>
      <p:sp>
        <p:nvSpPr>
          <p:cNvPr id="24" name="Text 21"/>
          <p:cNvSpPr/>
          <p:nvPr/>
        </p:nvSpPr>
        <p:spPr>
          <a:xfrm>
            <a:off x="3383280" y="4114800"/>
            <a:ext cx="1417320" cy="164592"/>
          </a:xfrm>
          <a:prstGeom prst="rect">
            <a:avLst/>
          </a:prstGeom>
          <a:noFill/>
          <a:ln/>
        </p:spPr>
        <p:txBody>
          <a:bodyPr wrap="square" rtlCol="0" anchor="t"/>
          <a:lstStyle/>
          <a:p>
            <a:pPr algn="ctr" indent="0" marL="0">
              <a:buNone/>
            </a:pPr>
            <a:r>
              <a:rPr lang="en-US" sz="650" dirty="0">
                <a:solidFill>
                  <a:srgbClr val="E0D4BC"/>
                </a:solidFill>
                <a:latin typeface="Calibri" pitchFamily="34" charset="0"/>
                <a:ea typeface="Calibri" pitchFamily="34" charset="-122"/>
                <a:cs typeface="Calibri" pitchFamily="34" charset="-120"/>
              </a:rPr>
              <a:t>Meta Impressions</a:t>
            </a:r>
            <a:endParaRPr lang="en-US" sz="650" dirty="0"/>
          </a:p>
        </p:txBody>
      </p:sp>
      <p:sp>
        <p:nvSpPr>
          <p:cNvPr id="25" name="Shape 22"/>
          <p:cNvSpPr/>
          <p:nvPr/>
        </p:nvSpPr>
        <p:spPr>
          <a:xfrm>
            <a:off x="365760" y="4389120"/>
            <a:ext cx="1417320" cy="621792"/>
          </a:xfrm>
          <a:prstGeom prst="rect">
            <a:avLst/>
          </a:prstGeom>
          <a:solidFill>
            <a:srgbClr val="9E4F6B"/>
          </a:solidFill>
          <a:ln w="12700">
            <a:solidFill>
              <a:srgbClr val="9E4F6B"/>
            </a:solidFill>
            <a:prstDash val="solid"/>
          </a:ln>
        </p:spPr>
      </p:sp>
      <p:sp>
        <p:nvSpPr>
          <p:cNvPr id="26" name="Shape 23"/>
          <p:cNvSpPr/>
          <p:nvPr/>
        </p:nvSpPr>
        <p:spPr>
          <a:xfrm>
            <a:off x="365760" y="4389120"/>
            <a:ext cx="1417320" cy="54864"/>
          </a:xfrm>
          <a:prstGeom prst="rect">
            <a:avLst/>
          </a:prstGeom>
          <a:solidFill>
            <a:srgbClr val="B8923A"/>
          </a:solidFill>
          <a:ln w="12700">
            <a:solidFill>
              <a:srgbClr val="B8923A"/>
            </a:solidFill>
            <a:prstDash val="solid"/>
          </a:ln>
        </p:spPr>
      </p:sp>
      <p:sp>
        <p:nvSpPr>
          <p:cNvPr id="27" name="Text 24"/>
          <p:cNvSpPr/>
          <p:nvPr/>
        </p:nvSpPr>
        <p:spPr>
          <a:xfrm>
            <a:off x="365760" y="4462272"/>
            <a:ext cx="1417320" cy="329184"/>
          </a:xfrm>
          <a:prstGeom prst="rect">
            <a:avLst/>
          </a:prstGeom>
          <a:noFill/>
          <a:ln/>
        </p:spPr>
        <p:txBody>
          <a:bodyPr wrap="square" rtlCol="0" anchor="t"/>
          <a:lstStyle/>
          <a:p>
            <a:pPr algn="ctr" indent="0" marL="0">
              <a:buNone/>
            </a:pPr>
            <a:r>
              <a:rPr lang="en-US" sz="1300" b="1" dirty="0">
                <a:solidFill>
                  <a:srgbClr val="F5EFE0"/>
                </a:solidFill>
                <a:latin typeface="Georgia" pitchFamily="34" charset="0"/>
                <a:ea typeface="Georgia" pitchFamily="34" charset="-122"/>
                <a:cs typeface="Georgia" pitchFamily="34" charset="-120"/>
              </a:rPr>
              <a:t>$74</a:t>
            </a:r>
            <a:endParaRPr lang="en-US" sz="1300" dirty="0"/>
          </a:p>
        </p:txBody>
      </p:sp>
      <p:sp>
        <p:nvSpPr>
          <p:cNvPr id="28" name="Text 25"/>
          <p:cNvSpPr/>
          <p:nvPr/>
        </p:nvSpPr>
        <p:spPr>
          <a:xfrm>
            <a:off x="365760" y="4809744"/>
            <a:ext cx="1417320" cy="164592"/>
          </a:xfrm>
          <a:prstGeom prst="rect">
            <a:avLst/>
          </a:prstGeom>
          <a:noFill/>
          <a:ln/>
        </p:spPr>
        <p:txBody>
          <a:bodyPr wrap="square" rtlCol="0" anchor="t"/>
          <a:lstStyle/>
          <a:p>
            <a:pPr algn="ctr" indent="0" marL="0">
              <a:buNone/>
            </a:pPr>
            <a:r>
              <a:rPr lang="en-US" sz="650" dirty="0">
                <a:solidFill>
                  <a:srgbClr val="E0D4BC"/>
                </a:solidFill>
                <a:latin typeface="Calibri" pitchFamily="34" charset="0"/>
                <a:ea typeface="Calibri" pitchFamily="34" charset="-122"/>
                <a:cs typeface="Calibri" pitchFamily="34" charset="-120"/>
              </a:rPr>
              <a:t>Ad Spend</a:t>
            </a:r>
            <a:endParaRPr lang="en-US" sz="650" dirty="0"/>
          </a:p>
        </p:txBody>
      </p:sp>
      <p:sp>
        <p:nvSpPr>
          <p:cNvPr id="29" name="Shape 26"/>
          <p:cNvSpPr/>
          <p:nvPr/>
        </p:nvSpPr>
        <p:spPr>
          <a:xfrm>
            <a:off x="1874520" y="4389120"/>
            <a:ext cx="1417320" cy="621792"/>
          </a:xfrm>
          <a:prstGeom prst="rect">
            <a:avLst/>
          </a:prstGeom>
          <a:solidFill>
            <a:srgbClr val="9E4F6B"/>
          </a:solidFill>
          <a:ln w="12700">
            <a:solidFill>
              <a:srgbClr val="9E4F6B"/>
            </a:solidFill>
            <a:prstDash val="solid"/>
          </a:ln>
        </p:spPr>
      </p:sp>
      <p:sp>
        <p:nvSpPr>
          <p:cNvPr id="30" name="Shape 27"/>
          <p:cNvSpPr/>
          <p:nvPr/>
        </p:nvSpPr>
        <p:spPr>
          <a:xfrm>
            <a:off x="1874520" y="4389120"/>
            <a:ext cx="1417320" cy="54864"/>
          </a:xfrm>
          <a:prstGeom prst="rect">
            <a:avLst/>
          </a:prstGeom>
          <a:solidFill>
            <a:srgbClr val="B8923A"/>
          </a:solidFill>
          <a:ln w="12700">
            <a:solidFill>
              <a:srgbClr val="B8923A"/>
            </a:solidFill>
            <a:prstDash val="solid"/>
          </a:ln>
        </p:spPr>
      </p:sp>
      <p:sp>
        <p:nvSpPr>
          <p:cNvPr id="31" name="Text 28"/>
          <p:cNvSpPr/>
          <p:nvPr/>
        </p:nvSpPr>
        <p:spPr>
          <a:xfrm>
            <a:off x="1874520" y="4462272"/>
            <a:ext cx="1417320" cy="329184"/>
          </a:xfrm>
          <a:prstGeom prst="rect">
            <a:avLst/>
          </a:prstGeom>
          <a:noFill/>
          <a:ln/>
        </p:spPr>
        <p:txBody>
          <a:bodyPr wrap="square" rtlCol="0" anchor="t"/>
          <a:lstStyle/>
          <a:p>
            <a:pPr algn="ctr" indent="0" marL="0">
              <a:buNone/>
            </a:pPr>
            <a:r>
              <a:rPr lang="en-US" sz="1300" b="1" dirty="0">
                <a:solidFill>
                  <a:srgbClr val="F5EFE0"/>
                </a:solidFill>
                <a:latin typeface="Georgia" pitchFamily="34" charset="0"/>
                <a:ea typeface="Georgia" pitchFamily="34" charset="-122"/>
                <a:cs typeface="Georgia" pitchFamily="34" charset="-120"/>
              </a:rPr>
              <a:t>5</a:t>
            </a:r>
            <a:endParaRPr lang="en-US" sz="1300" dirty="0"/>
          </a:p>
        </p:txBody>
      </p:sp>
      <p:sp>
        <p:nvSpPr>
          <p:cNvPr id="32" name="Text 29"/>
          <p:cNvSpPr/>
          <p:nvPr/>
        </p:nvSpPr>
        <p:spPr>
          <a:xfrm>
            <a:off x="1874520" y="4809744"/>
            <a:ext cx="1417320" cy="164592"/>
          </a:xfrm>
          <a:prstGeom prst="rect">
            <a:avLst/>
          </a:prstGeom>
          <a:noFill/>
          <a:ln/>
        </p:spPr>
        <p:txBody>
          <a:bodyPr wrap="square" rtlCol="0" anchor="t"/>
          <a:lstStyle/>
          <a:p>
            <a:pPr algn="ctr" indent="0" marL="0">
              <a:buNone/>
            </a:pPr>
            <a:r>
              <a:rPr lang="en-US" sz="650" dirty="0">
                <a:solidFill>
                  <a:srgbClr val="E0D4BC"/>
                </a:solidFill>
                <a:latin typeface="Calibri" pitchFamily="34" charset="0"/>
                <a:ea typeface="Calibri" pitchFamily="34" charset="-122"/>
                <a:cs typeface="Calibri" pitchFamily="34" charset="-120"/>
              </a:rPr>
              <a:t>Male Influencers</a:t>
            </a:r>
            <a:endParaRPr lang="en-US" sz="650" dirty="0"/>
          </a:p>
        </p:txBody>
      </p:sp>
      <p:sp>
        <p:nvSpPr>
          <p:cNvPr id="33" name="Text 30"/>
          <p:cNvSpPr/>
          <p:nvPr/>
        </p:nvSpPr>
        <p:spPr>
          <a:xfrm>
            <a:off x="4937760" y="475488"/>
            <a:ext cx="3977640" cy="201168"/>
          </a:xfrm>
          <a:prstGeom prst="rect">
            <a:avLst/>
          </a:prstGeom>
          <a:noFill/>
          <a:ln/>
        </p:spPr>
        <p:txBody>
          <a:bodyPr wrap="square" rtlCol="0" anchor="t"/>
          <a:lstStyle/>
          <a:p>
            <a:pPr algn="l" indent="0" marL="0">
              <a:buNone/>
            </a:pPr>
            <a:r>
              <a:rPr lang="en-US" sz="700" b="1" spc="300" kern="0" dirty="0">
                <a:solidFill>
                  <a:srgbClr val="B8923A"/>
                </a:solidFill>
                <a:latin typeface="Calibri" pitchFamily="34" charset="0"/>
                <a:ea typeface="Calibri" pitchFamily="34" charset="-122"/>
                <a:cs typeface="Calibri" pitchFamily="34" charset="-120"/>
              </a:rPr>
              <a:t>KEY INFLUENCERS</a:t>
            </a:r>
            <a:endParaRPr lang="en-US" sz="700" dirty="0"/>
          </a:p>
        </p:txBody>
      </p:sp>
      <p:sp>
        <p:nvSpPr>
          <p:cNvPr id="34" name="Shape 31"/>
          <p:cNvSpPr/>
          <p:nvPr/>
        </p:nvSpPr>
        <p:spPr>
          <a:xfrm>
            <a:off x="4937760" y="749808"/>
            <a:ext cx="3977640" cy="694944"/>
          </a:xfrm>
          <a:prstGeom prst="rect">
            <a:avLst/>
          </a:prstGeom>
          <a:solidFill>
            <a:srgbClr val="7A3B53"/>
          </a:solidFill>
          <a:ln w="12700">
            <a:solidFill>
              <a:srgbClr val="7A3B53"/>
            </a:solidFill>
            <a:prstDash val="solid"/>
          </a:ln>
        </p:spPr>
      </p:sp>
      <p:sp>
        <p:nvSpPr>
          <p:cNvPr id="35" name="Shape 32"/>
          <p:cNvSpPr/>
          <p:nvPr/>
        </p:nvSpPr>
        <p:spPr>
          <a:xfrm>
            <a:off x="4937760" y="749808"/>
            <a:ext cx="54864" cy="694944"/>
          </a:xfrm>
          <a:prstGeom prst="rect">
            <a:avLst/>
          </a:prstGeom>
          <a:solidFill>
            <a:srgbClr val="B8923A"/>
          </a:solidFill>
          <a:ln w="12700">
            <a:solidFill>
              <a:srgbClr val="B8923A"/>
            </a:solidFill>
            <a:prstDash val="solid"/>
          </a:ln>
        </p:spPr>
      </p:sp>
      <p:sp>
        <p:nvSpPr>
          <p:cNvPr id="36" name="Text 33"/>
          <p:cNvSpPr/>
          <p:nvPr/>
        </p:nvSpPr>
        <p:spPr>
          <a:xfrm>
            <a:off x="5102352" y="822960"/>
            <a:ext cx="3657600" cy="237744"/>
          </a:xfrm>
          <a:prstGeom prst="rect">
            <a:avLst/>
          </a:prstGeom>
          <a:noFill/>
          <a:ln/>
        </p:spPr>
        <p:txBody>
          <a:bodyPr wrap="square" rtlCol="0" anchor="t"/>
          <a:lstStyle/>
          <a:p>
            <a:pPr algn="l" indent="0" marL="0">
              <a:buNone/>
            </a:pPr>
            <a:r>
              <a:rPr lang="en-US" sz="1000" b="1" dirty="0">
                <a:solidFill>
                  <a:srgbClr val="F5EFE0"/>
                </a:solidFill>
                <a:latin typeface="Calibri" pitchFamily="34" charset="0"/>
                <a:ea typeface="Calibri" pitchFamily="34" charset="-122"/>
                <a:cs typeface="Calibri" pitchFamily="34" charset="-120"/>
              </a:rPr>
              <a:t>Shaun Okojie</a:t>
            </a:r>
            <a:endParaRPr lang="en-US" sz="1000" dirty="0"/>
          </a:p>
        </p:txBody>
      </p:sp>
      <p:sp>
        <p:nvSpPr>
          <p:cNvPr id="37" name="Text 34"/>
          <p:cNvSpPr/>
          <p:nvPr/>
        </p:nvSpPr>
        <p:spPr>
          <a:xfrm>
            <a:off x="5102352" y="1078992"/>
            <a:ext cx="3657600" cy="274320"/>
          </a:xfrm>
          <a:prstGeom prst="rect">
            <a:avLst/>
          </a:prstGeom>
          <a:noFill/>
          <a:ln/>
        </p:spPr>
        <p:txBody>
          <a:bodyPr wrap="square" rtlCol="0" anchor="t"/>
          <a:lstStyle/>
          <a:p>
            <a:pPr algn="l" indent="0" marL="0">
              <a:buNone/>
            </a:pPr>
            <a:r>
              <a:rPr lang="en-US" sz="800" dirty="0">
                <a:solidFill>
                  <a:srgbClr val="8A7A82"/>
                </a:solidFill>
                <a:latin typeface="Calibri" pitchFamily="34" charset="0"/>
                <a:ea typeface="Calibri" pitchFamily="34" charset="-122"/>
                <a:cs typeface="Calibri" pitchFamily="34" charset="-120"/>
              </a:rPr>
              <a:t>297K IG  ·  167K+ Engagements  ·  1,022 Comments</a:t>
            </a:r>
            <a:endParaRPr lang="en-US" sz="800" dirty="0"/>
          </a:p>
        </p:txBody>
      </p:sp>
      <p:sp>
        <p:nvSpPr>
          <p:cNvPr id="38" name="Shape 35"/>
          <p:cNvSpPr/>
          <p:nvPr/>
        </p:nvSpPr>
        <p:spPr>
          <a:xfrm>
            <a:off x="4937760" y="1554480"/>
            <a:ext cx="3977640" cy="694944"/>
          </a:xfrm>
          <a:prstGeom prst="rect">
            <a:avLst/>
          </a:prstGeom>
          <a:solidFill>
            <a:srgbClr val="7A3B53"/>
          </a:solidFill>
          <a:ln w="12700">
            <a:solidFill>
              <a:srgbClr val="7A3B53"/>
            </a:solidFill>
            <a:prstDash val="solid"/>
          </a:ln>
        </p:spPr>
      </p:sp>
      <p:sp>
        <p:nvSpPr>
          <p:cNvPr id="39" name="Shape 36"/>
          <p:cNvSpPr/>
          <p:nvPr/>
        </p:nvSpPr>
        <p:spPr>
          <a:xfrm>
            <a:off x="4937760" y="1554480"/>
            <a:ext cx="54864" cy="694944"/>
          </a:xfrm>
          <a:prstGeom prst="rect">
            <a:avLst/>
          </a:prstGeom>
          <a:solidFill>
            <a:srgbClr val="B8923A"/>
          </a:solidFill>
          <a:ln w="12700">
            <a:solidFill>
              <a:srgbClr val="B8923A"/>
            </a:solidFill>
            <a:prstDash val="solid"/>
          </a:ln>
        </p:spPr>
      </p:sp>
      <p:sp>
        <p:nvSpPr>
          <p:cNvPr id="40" name="Text 37"/>
          <p:cNvSpPr/>
          <p:nvPr/>
        </p:nvSpPr>
        <p:spPr>
          <a:xfrm>
            <a:off x="5102352" y="1627632"/>
            <a:ext cx="3657600" cy="237744"/>
          </a:xfrm>
          <a:prstGeom prst="rect">
            <a:avLst/>
          </a:prstGeom>
          <a:noFill/>
          <a:ln/>
        </p:spPr>
        <p:txBody>
          <a:bodyPr wrap="square" rtlCol="0" anchor="t"/>
          <a:lstStyle/>
          <a:p>
            <a:pPr algn="l" indent="0" marL="0">
              <a:buNone/>
            </a:pPr>
            <a:r>
              <a:rPr lang="en-US" sz="1000" b="1" dirty="0">
                <a:solidFill>
                  <a:srgbClr val="F5EFE0"/>
                </a:solidFill>
                <a:latin typeface="Calibri" pitchFamily="34" charset="0"/>
                <a:ea typeface="Calibri" pitchFamily="34" charset="-122"/>
                <a:cs typeface="Calibri" pitchFamily="34" charset="-120"/>
              </a:rPr>
              <a:t>Vine Olugu</a:t>
            </a:r>
            <a:endParaRPr lang="en-US" sz="1000" dirty="0"/>
          </a:p>
        </p:txBody>
      </p:sp>
      <p:sp>
        <p:nvSpPr>
          <p:cNvPr id="41" name="Text 38"/>
          <p:cNvSpPr/>
          <p:nvPr/>
        </p:nvSpPr>
        <p:spPr>
          <a:xfrm>
            <a:off x="5102352" y="1883664"/>
            <a:ext cx="3657600" cy="274320"/>
          </a:xfrm>
          <a:prstGeom prst="rect">
            <a:avLst/>
          </a:prstGeom>
          <a:noFill/>
          <a:ln/>
        </p:spPr>
        <p:txBody>
          <a:bodyPr wrap="square" rtlCol="0" anchor="t"/>
          <a:lstStyle/>
          <a:p>
            <a:pPr algn="l" indent="0" marL="0">
              <a:buNone/>
            </a:pPr>
            <a:r>
              <a:rPr lang="en-US" sz="800" dirty="0">
                <a:solidFill>
                  <a:srgbClr val="8A7A82"/>
                </a:solidFill>
                <a:latin typeface="Calibri" pitchFamily="34" charset="0"/>
                <a:ea typeface="Calibri" pitchFamily="34" charset="-122"/>
                <a:cs typeface="Calibri" pitchFamily="34" charset="-120"/>
              </a:rPr>
              <a:t>102K IG  ·  118K+ Engagements  ·  38.5K TikTok  ·  287 Saves</a:t>
            </a:r>
            <a:endParaRPr lang="en-US" sz="800" dirty="0"/>
          </a:p>
        </p:txBody>
      </p:sp>
      <p:sp>
        <p:nvSpPr>
          <p:cNvPr id="42" name="Shape 39"/>
          <p:cNvSpPr/>
          <p:nvPr/>
        </p:nvSpPr>
        <p:spPr>
          <a:xfrm>
            <a:off x="4937760" y="2359152"/>
            <a:ext cx="3977640" cy="694944"/>
          </a:xfrm>
          <a:prstGeom prst="rect">
            <a:avLst/>
          </a:prstGeom>
          <a:solidFill>
            <a:srgbClr val="7A3B53"/>
          </a:solidFill>
          <a:ln w="12700">
            <a:solidFill>
              <a:srgbClr val="7A3B53"/>
            </a:solidFill>
            <a:prstDash val="solid"/>
          </a:ln>
        </p:spPr>
      </p:sp>
      <p:sp>
        <p:nvSpPr>
          <p:cNvPr id="43" name="Shape 40"/>
          <p:cNvSpPr/>
          <p:nvPr/>
        </p:nvSpPr>
        <p:spPr>
          <a:xfrm>
            <a:off x="4937760" y="2359152"/>
            <a:ext cx="54864" cy="694944"/>
          </a:xfrm>
          <a:prstGeom prst="rect">
            <a:avLst/>
          </a:prstGeom>
          <a:solidFill>
            <a:srgbClr val="B8923A"/>
          </a:solidFill>
          <a:ln w="12700">
            <a:solidFill>
              <a:srgbClr val="B8923A"/>
            </a:solidFill>
            <a:prstDash val="solid"/>
          </a:ln>
        </p:spPr>
      </p:sp>
      <p:sp>
        <p:nvSpPr>
          <p:cNvPr id="44" name="Text 41"/>
          <p:cNvSpPr/>
          <p:nvPr/>
        </p:nvSpPr>
        <p:spPr>
          <a:xfrm>
            <a:off x="5102352" y="2432304"/>
            <a:ext cx="3657600" cy="237744"/>
          </a:xfrm>
          <a:prstGeom prst="rect">
            <a:avLst/>
          </a:prstGeom>
          <a:noFill/>
          <a:ln/>
        </p:spPr>
        <p:txBody>
          <a:bodyPr wrap="square" rtlCol="0" anchor="t"/>
          <a:lstStyle/>
          <a:p>
            <a:pPr algn="l" indent="0" marL="0">
              <a:buNone/>
            </a:pPr>
            <a:r>
              <a:rPr lang="en-US" sz="1000" b="1" dirty="0">
                <a:solidFill>
                  <a:srgbClr val="F5EFE0"/>
                </a:solidFill>
                <a:latin typeface="Calibri" pitchFamily="34" charset="0"/>
                <a:ea typeface="Calibri" pitchFamily="34" charset="-122"/>
                <a:cs typeface="Calibri" pitchFamily="34" charset="-120"/>
              </a:rPr>
              <a:t>Samuel Osuji</a:t>
            </a:r>
            <a:endParaRPr lang="en-US" sz="1000" dirty="0"/>
          </a:p>
        </p:txBody>
      </p:sp>
      <p:sp>
        <p:nvSpPr>
          <p:cNvPr id="45" name="Text 42"/>
          <p:cNvSpPr/>
          <p:nvPr/>
        </p:nvSpPr>
        <p:spPr>
          <a:xfrm>
            <a:off x="5102352" y="2688336"/>
            <a:ext cx="3657600" cy="274320"/>
          </a:xfrm>
          <a:prstGeom prst="rect">
            <a:avLst/>
          </a:prstGeom>
          <a:noFill/>
          <a:ln/>
        </p:spPr>
        <p:txBody>
          <a:bodyPr wrap="square" rtlCol="0" anchor="t"/>
          <a:lstStyle/>
          <a:p>
            <a:pPr algn="l" indent="0" marL="0">
              <a:buNone/>
            </a:pPr>
            <a:r>
              <a:rPr lang="en-US" sz="800" dirty="0">
                <a:solidFill>
                  <a:srgbClr val="8A7A82"/>
                </a:solidFill>
                <a:latin typeface="Calibri" pitchFamily="34" charset="0"/>
                <a:ea typeface="Calibri" pitchFamily="34" charset="-122"/>
                <a:cs typeface="Calibri" pitchFamily="34" charset="-120"/>
              </a:rPr>
              <a:t>110K IG  ·  33.3K+ Engagements  ·  26.9K TikTok</a:t>
            </a:r>
            <a:endParaRPr lang="en-US" sz="800" dirty="0"/>
          </a:p>
        </p:txBody>
      </p:sp>
      <p:sp>
        <p:nvSpPr>
          <p:cNvPr id="46" name="Shape 43"/>
          <p:cNvSpPr/>
          <p:nvPr/>
        </p:nvSpPr>
        <p:spPr>
          <a:xfrm>
            <a:off x="4937760" y="3163824"/>
            <a:ext cx="3977640" cy="694944"/>
          </a:xfrm>
          <a:prstGeom prst="rect">
            <a:avLst/>
          </a:prstGeom>
          <a:solidFill>
            <a:srgbClr val="7A3B53"/>
          </a:solidFill>
          <a:ln w="12700">
            <a:solidFill>
              <a:srgbClr val="7A3B53"/>
            </a:solidFill>
            <a:prstDash val="solid"/>
          </a:ln>
        </p:spPr>
      </p:sp>
      <p:sp>
        <p:nvSpPr>
          <p:cNvPr id="47" name="Shape 44"/>
          <p:cNvSpPr/>
          <p:nvPr/>
        </p:nvSpPr>
        <p:spPr>
          <a:xfrm>
            <a:off x="4937760" y="3163824"/>
            <a:ext cx="54864" cy="694944"/>
          </a:xfrm>
          <a:prstGeom prst="rect">
            <a:avLst/>
          </a:prstGeom>
          <a:solidFill>
            <a:srgbClr val="B8923A"/>
          </a:solidFill>
          <a:ln w="12700">
            <a:solidFill>
              <a:srgbClr val="B8923A"/>
            </a:solidFill>
            <a:prstDash val="solid"/>
          </a:ln>
        </p:spPr>
      </p:sp>
      <p:sp>
        <p:nvSpPr>
          <p:cNvPr id="48" name="Text 45"/>
          <p:cNvSpPr/>
          <p:nvPr/>
        </p:nvSpPr>
        <p:spPr>
          <a:xfrm>
            <a:off x="5102352" y="3236976"/>
            <a:ext cx="3657600" cy="237744"/>
          </a:xfrm>
          <a:prstGeom prst="rect">
            <a:avLst/>
          </a:prstGeom>
          <a:noFill/>
          <a:ln/>
        </p:spPr>
        <p:txBody>
          <a:bodyPr wrap="square" rtlCol="0" anchor="t"/>
          <a:lstStyle/>
          <a:p>
            <a:pPr algn="l" indent="0" marL="0">
              <a:buNone/>
            </a:pPr>
            <a:r>
              <a:rPr lang="en-US" sz="1000" b="1" dirty="0">
                <a:solidFill>
                  <a:srgbClr val="F5EFE0"/>
                </a:solidFill>
                <a:latin typeface="Calibri" pitchFamily="34" charset="0"/>
                <a:ea typeface="Calibri" pitchFamily="34" charset="-122"/>
                <a:cs typeface="Calibri" pitchFamily="34" charset="-120"/>
              </a:rPr>
              <a:t>Yemi Cregx</a:t>
            </a:r>
            <a:endParaRPr lang="en-US" sz="1000" dirty="0"/>
          </a:p>
        </p:txBody>
      </p:sp>
      <p:sp>
        <p:nvSpPr>
          <p:cNvPr id="49" name="Text 46"/>
          <p:cNvSpPr/>
          <p:nvPr/>
        </p:nvSpPr>
        <p:spPr>
          <a:xfrm>
            <a:off x="5102352" y="3493008"/>
            <a:ext cx="3657600" cy="274320"/>
          </a:xfrm>
          <a:prstGeom prst="rect">
            <a:avLst/>
          </a:prstGeom>
          <a:noFill/>
          <a:ln/>
        </p:spPr>
        <p:txBody>
          <a:bodyPr wrap="square" rtlCol="0" anchor="t"/>
          <a:lstStyle/>
          <a:p>
            <a:pPr algn="l" indent="0" marL="0">
              <a:buNone/>
            </a:pPr>
            <a:r>
              <a:rPr lang="en-US" sz="800" dirty="0">
                <a:solidFill>
                  <a:srgbClr val="8A7A82"/>
                </a:solidFill>
                <a:latin typeface="Calibri" pitchFamily="34" charset="0"/>
                <a:ea typeface="Calibri" pitchFamily="34" charset="-122"/>
                <a:cs typeface="Calibri" pitchFamily="34" charset="-120"/>
              </a:rPr>
              <a:t>348K IG  ·  13K+ TikTok Engagement  ·  93.6K TikTok Followers</a:t>
            </a:r>
            <a:endParaRPr lang="en-US" sz="800" dirty="0"/>
          </a:p>
        </p:txBody>
      </p:sp>
      <p:sp>
        <p:nvSpPr>
          <p:cNvPr id="50" name="Shape 47"/>
          <p:cNvSpPr/>
          <p:nvPr/>
        </p:nvSpPr>
        <p:spPr>
          <a:xfrm>
            <a:off x="4937760" y="3968496"/>
            <a:ext cx="3977640" cy="694944"/>
          </a:xfrm>
          <a:prstGeom prst="rect">
            <a:avLst/>
          </a:prstGeom>
          <a:solidFill>
            <a:srgbClr val="7A3B53"/>
          </a:solidFill>
          <a:ln w="12700">
            <a:solidFill>
              <a:srgbClr val="7A3B53"/>
            </a:solidFill>
            <a:prstDash val="solid"/>
          </a:ln>
        </p:spPr>
      </p:sp>
      <p:sp>
        <p:nvSpPr>
          <p:cNvPr id="51" name="Shape 48"/>
          <p:cNvSpPr/>
          <p:nvPr/>
        </p:nvSpPr>
        <p:spPr>
          <a:xfrm>
            <a:off x="4937760" y="3968496"/>
            <a:ext cx="54864" cy="694944"/>
          </a:xfrm>
          <a:prstGeom prst="rect">
            <a:avLst/>
          </a:prstGeom>
          <a:solidFill>
            <a:srgbClr val="B8923A"/>
          </a:solidFill>
          <a:ln w="12700">
            <a:solidFill>
              <a:srgbClr val="B8923A"/>
            </a:solidFill>
            <a:prstDash val="solid"/>
          </a:ln>
        </p:spPr>
      </p:sp>
      <p:sp>
        <p:nvSpPr>
          <p:cNvPr id="52" name="Text 49"/>
          <p:cNvSpPr/>
          <p:nvPr/>
        </p:nvSpPr>
        <p:spPr>
          <a:xfrm>
            <a:off x="5102352" y="4041648"/>
            <a:ext cx="3657600" cy="237744"/>
          </a:xfrm>
          <a:prstGeom prst="rect">
            <a:avLst/>
          </a:prstGeom>
          <a:noFill/>
          <a:ln/>
        </p:spPr>
        <p:txBody>
          <a:bodyPr wrap="square" rtlCol="0" anchor="t"/>
          <a:lstStyle/>
          <a:p>
            <a:pPr algn="l" indent="0" marL="0">
              <a:buNone/>
            </a:pPr>
            <a:r>
              <a:rPr lang="en-US" sz="1000" b="1" dirty="0">
                <a:solidFill>
                  <a:srgbClr val="F5EFE0"/>
                </a:solidFill>
                <a:latin typeface="Calibri" pitchFamily="34" charset="0"/>
                <a:ea typeface="Calibri" pitchFamily="34" charset="-122"/>
                <a:cs typeface="Calibri" pitchFamily="34" charset="-120"/>
              </a:rPr>
              <a:t>Nedu Johnson</a:t>
            </a:r>
            <a:endParaRPr lang="en-US" sz="1000" dirty="0"/>
          </a:p>
        </p:txBody>
      </p:sp>
      <p:sp>
        <p:nvSpPr>
          <p:cNvPr id="53" name="Text 50"/>
          <p:cNvSpPr/>
          <p:nvPr/>
        </p:nvSpPr>
        <p:spPr>
          <a:xfrm>
            <a:off x="5102352" y="4297680"/>
            <a:ext cx="3657600" cy="274320"/>
          </a:xfrm>
          <a:prstGeom prst="rect">
            <a:avLst/>
          </a:prstGeom>
          <a:noFill/>
          <a:ln/>
        </p:spPr>
        <p:txBody>
          <a:bodyPr wrap="square" rtlCol="0" anchor="t"/>
          <a:lstStyle/>
          <a:p>
            <a:pPr algn="l" indent="0" marL="0">
              <a:buNone/>
            </a:pPr>
            <a:r>
              <a:rPr lang="en-US" sz="800" dirty="0">
                <a:solidFill>
                  <a:srgbClr val="8A7A82"/>
                </a:solidFill>
                <a:latin typeface="Calibri" pitchFamily="34" charset="0"/>
                <a:ea typeface="Calibri" pitchFamily="34" charset="-122"/>
                <a:cs typeface="Calibri" pitchFamily="34" charset="-120"/>
              </a:rPr>
              <a:t>40.4K IG  ·  20K+ Engagement  ·  11K TikTok</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F1"/>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B8923A"/>
          </a:solidFill>
          <a:ln w="12700">
            <a:solidFill>
              <a:srgbClr val="B8923A"/>
            </a:solidFill>
            <a:prstDash val="solid"/>
          </a:ln>
        </p:spPr>
      </p:sp>
      <p:sp>
        <p:nvSpPr>
          <p:cNvPr id="3" name="Shape 1"/>
          <p:cNvSpPr/>
          <p:nvPr/>
        </p:nvSpPr>
        <p:spPr>
          <a:xfrm>
            <a:off x="0" y="0"/>
            <a:ext cx="502920" cy="5143500"/>
          </a:xfrm>
          <a:prstGeom prst="rect">
            <a:avLst/>
          </a:prstGeom>
          <a:solidFill>
            <a:srgbClr val="9E4F6B"/>
          </a:solidFill>
          <a:ln w="12700">
            <a:solidFill>
              <a:srgbClr val="9E4F6B"/>
            </a:solidFill>
            <a:prstDash val="solid"/>
          </a:ln>
        </p:spPr>
      </p:sp>
      <p:pic>
        <p:nvPicPr>
          <p:cNvPr id="4" name="Image 0" descr="preencoded.png">    </p:cNvPr>
          <p:cNvPicPr>
            <a:picLocks noChangeAspect="1"/>
          </p:cNvPicPr>
          <p:nvPr/>
        </p:nvPicPr>
        <p:blipFill>
          <a:blip r:embed="rId1"/>
          <a:stretch>
            <a:fillRect/>
          </a:stretch>
        </p:blipFill>
        <p:spPr>
          <a:xfrm>
            <a:off x="658368" y="109728"/>
            <a:ext cx="1280160" cy="411480"/>
          </a:xfrm>
          <a:prstGeom prst="rect">
            <a:avLst/>
          </a:prstGeom>
        </p:spPr>
      </p:pic>
      <p:sp>
        <p:nvSpPr>
          <p:cNvPr id="5" name="Text 2"/>
          <p:cNvSpPr/>
          <p:nvPr/>
        </p:nvSpPr>
        <p:spPr>
          <a:xfrm>
            <a:off x="457200" y="146304"/>
            <a:ext cx="8412480" cy="201168"/>
          </a:xfrm>
          <a:prstGeom prst="rect">
            <a:avLst/>
          </a:prstGeom>
          <a:noFill/>
          <a:ln/>
        </p:spPr>
        <p:txBody>
          <a:bodyPr wrap="square" rtlCol="0" anchor="t"/>
          <a:lstStyle/>
          <a:p>
            <a:pPr algn="l" indent="0" marL="0">
              <a:buNone/>
            </a:pPr>
            <a:r>
              <a:rPr lang="en-US" sz="700" b="1" spc="250" kern="0" dirty="0">
                <a:solidFill>
                  <a:srgbClr val="9E4F6B"/>
                </a:solidFill>
                <a:latin typeface="Calibri" pitchFamily="34" charset="0"/>
                <a:ea typeface="Calibri" pitchFamily="34" charset="-122"/>
                <a:cs typeface="Calibri" pitchFamily="34" charset="-120"/>
              </a:rPr>
              <a:t>Campaign · Hut Girl Summer · 818 Spirits × Beauty Hut Africa</a:t>
            </a:r>
            <a:endParaRPr lang="en-US" sz="700" dirty="0"/>
          </a:p>
        </p:txBody>
      </p:sp>
      <p:sp>
        <p:nvSpPr>
          <p:cNvPr id="6" name="Shape 3"/>
          <p:cNvSpPr/>
          <p:nvPr/>
        </p:nvSpPr>
        <p:spPr>
          <a:xfrm>
            <a:off x="0" y="4873752"/>
            <a:ext cx="9144000" cy="269748"/>
          </a:xfrm>
          <a:prstGeom prst="rect">
            <a:avLst/>
          </a:prstGeom>
          <a:solidFill>
            <a:srgbClr val="7A3B53"/>
          </a:solidFill>
          <a:ln w="12700">
            <a:solidFill>
              <a:srgbClr val="7A3B53"/>
            </a:solidFill>
            <a:prstDash val="solid"/>
          </a:ln>
        </p:spPr>
      </p:sp>
      <p:sp>
        <p:nvSpPr>
          <p:cNvPr id="7" name="Text 4"/>
          <p:cNvSpPr/>
          <p:nvPr/>
        </p:nvSpPr>
        <p:spPr>
          <a:xfrm>
            <a:off x="0" y="4878324"/>
            <a:ext cx="9144000" cy="256032"/>
          </a:xfrm>
          <a:prstGeom prst="rect">
            <a:avLst/>
          </a:prstGeom>
          <a:noFill/>
          <a:ln/>
        </p:spPr>
        <p:txBody>
          <a:bodyPr wrap="square" rtlCol="0" anchor="ctr"/>
          <a:lstStyle/>
          <a:p>
            <a:pPr algn="ctr" indent="0" marL="0">
              <a:buNone/>
            </a:pPr>
            <a:r>
              <a:rPr lang="en-US" sz="700" spc="150" kern="0" dirty="0">
                <a:solidFill>
                  <a:srgbClr val="E0D4BC"/>
                </a:solidFill>
                <a:latin typeface="Calibri" pitchFamily="34" charset="0"/>
                <a:ea typeface="Calibri" pitchFamily="34" charset="-122"/>
                <a:cs typeface="Calibri" pitchFamily="34" charset="-120"/>
              </a:rPr>
              <a:t>marktn PR  ·  Onyeka Nwonah  ·  Lagos, Nigeria  ·  Perception is Different</a:t>
            </a:r>
            <a:endParaRPr lang="en-US" sz="700" dirty="0"/>
          </a:p>
        </p:txBody>
      </p:sp>
      <p:sp>
        <p:nvSpPr>
          <p:cNvPr id="8" name="Text 5"/>
          <p:cNvSpPr/>
          <p:nvPr/>
        </p:nvSpPr>
        <p:spPr>
          <a:xfrm>
            <a:off x="658368" y="438912"/>
            <a:ext cx="7772400" cy="566928"/>
          </a:xfrm>
          <a:prstGeom prst="rect">
            <a:avLst/>
          </a:prstGeom>
          <a:noFill/>
          <a:ln/>
        </p:spPr>
        <p:txBody>
          <a:bodyPr wrap="square" rtlCol="0" anchor="t"/>
          <a:lstStyle/>
          <a:p>
            <a:pPr algn="l" indent="0" marL="0">
              <a:buNone/>
            </a:pPr>
            <a:r>
              <a:rPr lang="en-US" sz="3000" b="1" dirty="0">
                <a:solidFill>
                  <a:srgbClr val="7A3B53"/>
                </a:solidFill>
                <a:latin typeface="Georgia" pitchFamily="34" charset="0"/>
                <a:ea typeface="Georgia" pitchFamily="34" charset="-122"/>
                <a:cs typeface="Georgia" pitchFamily="34" charset="-120"/>
              </a:rPr>
              <a:t>Hut Girl Summer</a:t>
            </a:r>
            <a:endParaRPr lang="en-US" sz="3000" dirty="0"/>
          </a:p>
        </p:txBody>
      </p:sp>
      <p:sp>
        <p:nvSpPr>
          <p:cNvPr id="9" name="Text 6"/>
          <p:cNvSpPr/>
          <p:nvPr/>
        </p:nvSpPr>
        <p:spPr>
          <a:xfrm>
            <a:off x="658368" y="1115568"/>
            <a:ext cx="5943600" cy="329184"/>
          </a:xfrm>
          <a:prstGeom prst="rect">
            <a:avLst/>
          </a:prstGeom>
          <a:noFill/>
          <a:ln/>
        </p:spPr>
        <p:txBody>
          <a:bodyPr wrap="square" rtlCol="0" anchor="t"/>
          <a:lstStyle/>
          <a:p>
            <a:pPr algn="l" indent="0" marL="0">
              <a:buNone/>
            </a:pPr>
            <a:r>
              <a:rPr lang="en-US" sz="1800" i="1" dirty="0">
                <a:solidFill>
                  <a:srgbClr val="B8923A"/>
                </a:solidFill>
                <a:latin typeface="Georgia" pitchFamily="34" charset="0"/>
                <a:ea typeface="Georgia" pitchFamily="34" charset="-122"/>
                <a:cs typeface="Georgia" pitchFamily="34" charset="-120"/>
              </a:rPr>
              <a:t>with Ayra Starr &amp; Mavin Records</a:t>
            </a:r>
            <a:endParaRPr lang="en-US" sz="1800" dirty="0"/>
          </a:p>
        </p:txBody>
      </p:sp>
      <p:sp>
        <p:nvSpPr>
          <p:cNvPr id="10" name="Text 7"/>
          <p:cNvSpPr/>
          <p:nvPr/>
        </p:nvSpPr>
        <p:spPr>
          <a:xfrm>
            <a:off x="658368" y="1536192"/>
            <a:ext cx="5943600" cy="201168"/>
          </a:xfrm>
          <a:prstGeom prst="rect">
            <a:avLst/>
          </a:prstGeom>
          <a:noFill/>
          <a:ln/>
        </p:spPr>
        <p:txBody>
          <a:bodyPr wrap="square" rtlCol="0" anchor="t"/>
          <a:lstStyle/>
          <a:p>
            <a:pPr algn="l" indent="0" marL="0">
              <a:buNone/>
            </a:pPr>
            <a:r>
              <a:rPr lang="en-US" sz="750" spc="30" kern="0" dirty="0">
                <a:solidFill>
                  <a:srgbClr val="C47A93"/>
                </a:solidFill>
                <a:latin typeface="Calibri" pitchFamily="34" charset="0"/>
                <a:ea typeface="Calibri" pitchFamily="34" charset="-122"/>
                <a:cs typeface="Calibri" pitchFamily="34" charset="-120"/>
              </a:rPr>
              <a:t>Beauty Hut Africa × 818 Spirits  ·  Summer 2025  ·  #HutGirlSummer</a:t>
            </a:r>
            <a:endParaRPr lang="en-US" sz="750" dirty="0"/>
          </a:p>
        </p:txBody>
      </p:sp>
      <p:sp>
        <p:nvSpPr>
          <p:cNvPr id="11" name="Shape 8"/>
          <p:cNvSpPr/>
          <p:nvPr/>
        </p:nvSpPr>
        <p:spPr>
          <a:xfrm>
            <a:off x="658368" y="1810512"/>
            <a:ext cx="8229600" cy="0"/>
          </a:xfrm>
          <a:prstGeom prst="line">
            <a:avLst/>
          </a:prstGeom>
          <a:noFill/>
          <a:ln w="10160">
            <a:solidFill>
              <a:srgbClr val="B8923A"/>
            </a:solidFill>
            <a:prstDash val="solid"/>
          </a:ln>
        </p:spPr>
      </p:sp>
      <p:sp>
        <p:nvSpPr>
          <p:cNvPr id="12" name="Text 9"/>
          <p:cNvSpPr/>
          <p:nvPr/>
        </p:nvSpPr>
        <p:spPr>
          <a:xfrm>
            <a:off x="658368" y="1938528"/>
            <a:ext cx="3931920" cy="274320"/>
          </a:xfrm>
          <a:prstGeom prst="rect">
            <a:avLst/>
          </a:prstGeom>
          <a:noFill/>
          <a:ln/>
        </p:spPr>
        <p:txBody>
          <a:bodyPr wrap="square" rtlCol="0" anchor="t"/>
          <a:lstStyle/>
          <a:p>
            <a:pPr algn="l" indent="0" marL="0">
              <a:buNone/>
            </a:pPr>
            <a:r>
              <a:rPr lang="en-US" sz="1300" i="1" dirty="0">
                <a:solidFill>
                  <a:srgbClr val="7A3B53"/>
                </a:solidFill>
                <a:latin typeface="Georgia" pitchFamily="34" charset="0"/>
                <a:ea typeface="Georgia" pitchFamily="34" charset="-122"/>
                <a:cs typeface="Georgia" pitchFamily="34" charset="-120"/>
              </a:rPr>
              <a:t>The Campaign</a:t>
            </a:r>
            <a:endParaRPr lang="en-US" sz="1300" dirty="0"/>
          </a:p>
        </p:txBody>
      </p:sp>
      <p:sp>
        <p:nvSpPr>
          <p:cNvPr id="13" name="Text 10"/>
          <p:cNvSpPr/>
          <p:nvPr/>
        </p:nvSpPr>
        <p:spPr>
          <a:xfrm>
            <a:off x="658368" y="2304288"/>
            <a:ext cx="3931920" cy="1261872"/>
          </a:xfrm>
          <a:prstGeom prst="rect">
            <a:avLst/>
          </a:prstGeom>
          <a:noFill/>
          <a:ln/>
        </p:spPr>
        <p:txBody>
          <a:bodyPr wrap="square" rtlCol="0" anchor="t"/>
          <a:lstStyle/>
          <a:p>
            <a:pPr algn="l" indent="0" marL="0">
              <a:buNone/>
            </a:pPr>
            <a:r>
              <a:rPr lang="en-US" sz="950" dirty="0">
                <a:solidFill>
                  <a:srgbClr val="8A7A82"/>
                </a:solidFill>
                <a:latin typeface="Calibri" pitchFamily="34" charset="0"/>
                <a:ea typeface="Calibri" pitchFamily="34" charset="-122"/>
                <a:cs typeface="Calibri" pitchFamily="34" charset="-120"/>
              </a:rPr>
              <a:t>To mark World Tequila Day, 818 Spirits, Beauty Hut Africa, and Mavin Records came together for an exclusive event featuring the first listen of Ayra Starr's hot single 'Hot Body'. The campaign tapped directly into Nigeria's cultural summer peak — positioning Beauty Hut at the intersection of premium spirits, music, and lifestyle. Ayra Starr and Tyla's music soundtracked the season, with Culture Custodian calling it a defining Nigerian summer cultural moment.</a:t>
            </a:r>
            <a:endParaRPr lang="en-US" sz="950" dirty="0"/>
          </a:p>
        </p:txBody>
      </p:sp>
      <p:sp>
        <p:nvSpPr>
          <p:cNvPr id="14" name="Text 11"/>
          <p:cNvSpPr/>
          <p:nvPr/>
        </p:nvSpPr>
        <p:spPr>
          <a:xfrm>
            <a:off x="658368" y="3657600"/>
            <a:ext cx="3931920" cy="237744"/>
          </a:xfrm>
          <a:prstGeom prst="rect">
            <a:avLst/>
          </a:prstGeom>
          <a:noFill/>
          <a:ln/>
        </p:spPr>
        <p:txBody>
          <a:bodyPr wrap="square" rtlCol="0" anchor="t"/>
          <a:lstStyle/>
          <a:p>
            <a:pPr algn="l" indent="0" marL="0">
              <a:buNone/>
            </a:pPr>
            <a:r>
              <a:rPr lang="en-US" sz="1000" b="1" dirty="0">
                <a:solidFill>
                  <a:srgbClr val="9E4F6B"/>
                </a:solidFill>
                <a:latin typeface="Georgia" pitchFamily="34" charset="0"/>
                <a:ea typeface="Georgia" pitchFamily="34" charset="-122"/>
                <a:cs typeface="Georgia" pitchFamily="34" charset="-120"/>
              </a:rPr>
              <a:t>Culture Custodian Coverage</a:t>
            </a:r>
            <a:endParaRPr lang="en-US" sz="1000" dirty="0"/>
          </a:p>
        </p:txBody>
      </p:sp>
      <p:sp>
        <p:nvSpPr>
          <p:cNvPr id="15" name="Text 12"/>
          <p:cNvSpPr/>
          <p:nvPr/>
        </p:nvSpPr>
        <p:spPr>
          <a:xfrm>
            <a:off x="658368" y="3968496"/>
            <a:ext cx="3931920" cy="548640"/>
          </a:xfrm>
          <a:prstGeom prst="rect">
            <a:avLst/>
          </a:prstGeom>
          <a:noFill/>
          <a:ln/>
        </p:spPr>
        <p:txBody>
          <a:bodyPr wrap="square" rtlCol="0" anchor="t"/>
          <a:lstStyle/>
          <a:p>
            <a:pPr algn="l" indent="0" marL="0">
              <a:buNone/>
            </a:pPr>
            <a:r>
              <a:rPr lang="en-US" sz="900" i="1" dirty="0">
                <a:solidFill>
                  <a:srgbClr val="8A7A82"/>
                </a:solidFill>
                <a:latin typeface="Calibri" pitchFamily="34" charset="0"/>
                <a:ea typeface="Calibri" pitchFamily="34" charset="-122"/>
                <a:cs typeface="Calibri" pitchFamily="34" charset="-120"/>
              </a:rPr>
              <a:t>'Ayra Starr and Tyla are soundtracking our summer' — Culture Custodian featured the Hut Girl Summer campaign as a defining Nigerian cultural moment of 2025.</a:t>
            </a:r>
            <a:endParaRPr lang="en-US" sz="900" dirty="0"/>
          </a:p>
        </p:txBody>
      </p:sp>
      <p:sp>
        <p:nvSpPr>
          <p:cNvPr id="16" name="Shape 13"/>
          <p:cNvSpPr/>
          <p:nvPr/>
        </p:nvSpPr>
        <p:spPr>
          <a:xfrm>
            <a:off x="4754880" y="384048"/>
            <a:ext cx="4160520" cy="4352544"/>
          </a:xfrm>
          <a:prstGeom prst="rect">
            <a:avLst/>
          </a:prstGeom>
          <a:solidFill>
            <a:srgbClr val="FFFFFF"/>
          </a:solidFill>
          <a:ln w="12700">
            <a:solidFill>
              <a:srgbClr val="E8DDD5"/>
            </a:solidFill>
            <a:prstDash val="solid"/>
          </a:ln>
        </p:spPr>
      </p:sp>
      <p:sp>
        <p:nvSpPr>
          <p:cNvPr id="17" name="Shape 14"/>
          <p:cNvSpPr/>
          <p:nvPr/>
        </p:nvSpPr>
        <p:spPr>
          <a:xfrm>
            <a:off x="4754880" y="384048"/>
            <a:ext cx="4160520" cy="54864"/>
          </a:xfrm>
          <a:prstGeom prst="rect">
            <a:avLst/>
          </a:prstGeom>
          <a:solidFill>
            <a:srgbClr val="9E4F6B"/>
          </a:solidFill>
          <a:ln w="12700">
            <a:solidFill>
              <a:srgbClr val="9E4F6B"/>
            </a:solidFill>
            <a:prstDash val="solid"/>
          </a:ln>
        </p:spPr>
      </p:sp>
      <p:sp>
        <p:nvSpPr>
          <p:cNvPr id="18" name="Text 15"/>
          <p:cNvSpPr/>
          <p:nvPr/>
        </p:nvSpPr>
        <p:spPr>
          <a:xfrm>
            <a:off x="4919472" y="512064"/>
            <a:ext cx="3840480" cy="256032"/>
          </a:xfrm>
          <a:prstGeom prst="rect">
            <a:avLst/>
          </a:prstGeom>
          <a:noFill/>
          <a:ln/>
        </p:spPr>
        <p:txBody>
          <a:bodyPr wrap="square" rtlCol="0" anchor="t"/>
          <a:lstStyle/>
          <a:p>
            <a:pPr algn="l" indent="0" marL="0">
              <a:buNone/>
            </a:pPr>
            <a:r>
              <a:rPr lang="en-US" sz="1200" b="1" dirty="0">
                <a:solidFill>
                  <a:srgbClr val="7A3B53"/>
                </a:solidFill>
                <a:latin typeface="Georgia" pitchFamily="34" charset="0"/>
                <a:ea typeface="Georgia" pitchFamily="34" charset="-122"/>
                <a:cs typeface="Georgia" pitchFamily="34" charset="-120"/>
              </a:rPr>
              <a:t>Campaign Details</a:t>
            </a:r>
            <a:endParaRPr lang="en-US" sz="1200" dirty="0"/>
          </a:p>
        </p:txBody>
      </p:sp>
      <p:sp>
        <p:nvSpPr>
          <p:cNvPr id="19" name="Shape 16"/>
          <p:cNvSpPr/>
          <p:nvPr/>
        </p:nvSpPr>
        <p:spPr>
          <a:xfrm>
            <a:off x="4919472" y="841248"/>
            <a:ext cx="3840480" cy="0"/>
          </a:xfrm>
          <a:prstGeom prst="line">
            <a:avLst/>
          </a:prstGeom>
          <a:noFill/>
          <a:ln w="6350">
            <a:solidFill>
              <a:srgbClr val="E8C8D5"/>
            </a:solidFill>
            <a:prstDash val="solid"/>
          </a:ln>
        </p:spPr>
      </p:sp>
      <p:sp>
        <p:nvSpPr>
          <p:cNvPr id="20" name="Text 17"/>
          <p:cNvSpPr/>
          <p:nvPr/>
        </p:nvSpPr>
        <p:spPr>
          <a:xfrm>
            <a:off x="4919472" y="987552"/>
            <a:ext cx="3840480" cy="182880"/>
          </a:xfrm>
          <a:prstGeom prst="rect">
            <a:avLst/>
          </a:prstGeom>
          <a:noFill/>
          <a:ln/>
        </p:spPr>
        <p:txBody>
          <a:bodyPr wrap="square" rtlCol="0" anchor="t"/>
          <a:lstStyle/>
          <a:p>
            <a:pPr algn="l" indent="0" marL="0">
              <a:buNone/>
            </a:pPr>
            <a:r>
              <a:rPr lang="en-US" sz="700" b="1" spc="150" kern="0" dirty="0">
                <a:solidFill>
                  <a:srgbClr val="9E4F6B"/>
                </a:solidFill>
                <a:latin typeface="Calibri" pitchFamily="34" charset="0"/>
                <a:ea typeface="Calibri" pitchFamily="34" charset="-122"/>
                <a:cs typeface="Calibri" pitchFamily="34" charset="-120"/>
              </a:rPr>
              <a:t>BRAND PARTNERS</a:t>
            </a:r>
            <a:endParaRPr lang="en-US" sz="700" dirty="0"/>
          </a:p>
        </p:txBody>
      </p:sp>
      <p:sp>
        <p:nvSpPr>
          <p:cNvPr id="21" name="Text 18"/>
          <p:cNvSpPr/>
          <p:nvPr/>
        </p:nvSpPr>
        <p:spPr>
          <a:xfrm>
            <a:off x="4919472" y="1188720"/>
            <a:ext cx="3840480" cy="274320"/>
          </a:xfrm>
          <a:prstGeom prst="rect">
            <a:avLst/>
          </a:prstGeom>
          <a:noFill/>
          <a:ln/>
        </p:spPr>
        <p:txBody>
          <a:bodyPr wrap="square" rtlCol="0" anchor="t"/>
          <a:lstStyle/>
          <a:p>
            <a:pPr algn="l" indent="0" marL="0">
              <a:buNone/>
            </a:pPr>
            <a:r>
              <a:rPr lang="en-US" sz="900" dirty="0">
                <a:solidFill>
                  <a:srgbClr val="8A7A82"/>
                </a:solidFill>
                <a:latin typeface="Calibri" pitchFamily="34" charset="0"/>
                <a:ea typeface="Calibri" pitchFamily="34" charset="-122"/>
                <a:cs typeface="Calibri" pitchFamily="34" charset="-120"/>
              </a:rPr>
              <a:t>Beauty Hut Africa · 818 Spirits (co-founded by Kendall Jenner) · Mavin Records</a:t>
            </a:r>
            <a:endParaRPr lang="en-US" sz="900" dirty="0"/>
          </a:p>
        </p:txBody>
      </p:sp>
      <p:sp>
        <p:nvSpPr>
          <p:cNvPr id="22" name="Shape 19"/>
          <p:cNvSpPr/>
          <p:nvPr/>
        </p:nvSpPr>
        <p:spPr>
          <a:xfrm>
            <a:off x="4919472" y="1481328"/>
            <a:ext cx="3840480" cy="0"/>
          </a:xfrm>
          <a:prstGeom prst="line">
            <a:avLst/>
          </a:prstGeom>
          <a:noFill/>
          <a:ln w="3810">
            <a:solidFill>
              <a:srgbClr val="E8C8D5"/>
            </a:solidFill>
            <a:prstDash val="solid"/>
          </a:ln>
        </p:spPr>
      </p:sp>
      <p:sp>
        <p:nvSpPr>
          <p:cNvPr id="23" name="Text 20"/>
          <p:cNvSpPr/>
          <p:nvPr/>
        </p:nvSpPr>
        <p:spPr>
          <a:xfrm>
            <a:off x="4919472" y="1536192"/>
            <a:ext cx="3840480" cy="182880"/>
          </a:xfrm>
          <a:prstGeom prst="rect">
            <a:avLst/>
          </a:prstGeom>
          <a:noFill/>
          <a:ln/>
        </p:spPr>
        <p:txBody>
          <a:bodyPr wrap="square" rtlCol="0" anchor="t"/>
          <a:lstStyle/>
          <a:p>
            <a:pPr algn="l" indent="0" marL="0">
              <a:buNone/>
            </a:pPr>
            <a:r>
              <a:rPr lang="en-US" sz="700" b="1" spc="150" kern="0" dirty="0">
                <a:solidFill>
                  <a:srgbClr val="9E4F6B"/>
                </a:solidFill>
                <a:latin typeface="Calibri" pitchFamily="34" charset="0"/>
                <a:ea typeface="Calibri" pitchFamily="34" charset="-122"/>
                <a:cs typeface="Calibri" pitchFamily="34" charset="-120"/>
              </a:rPr>
              <a:t>MUSIC TALENT</a:t>
            </a:r>
            <a:endParaRPr lang="en-US" sz="700" dirty="0"/>
          </a:p>
        </p:txBody>
      </p:sp>
      <p:sp>
        <p:nvSpPr>
          <p:cNvPr id="24" name="Text 21"/>
          <p:cNvSpPr/>
          <p:nvPr/>
        </p:nvSpPr>
        <p:spPr>
          <a:xfrm>
            <a:off x="4919472" y="1737360"/>
            <a:ext cx="3840480" cy="274320"/>
          </a:xfrm>
          <a:prstGeom prst="rect">
            <a:avLst/>
          </a:prstGeom>
          <a:noFill/>
          <a:ln/>
        </p:spPr>
        <p:txBody>
          <a:bodyPr wrap="square" rtlCol="0" anchor="t"/>
          <a:lstStyle/>
          <a:p>
            <a:pPr algn="l" indent="0" marL="0">
              <a:buNone/>
            </a:pPr>
            <a:r>
              <a:rPr lang="en-US" sz="900" dirty="0">
                <a:solidFill>
                  <a:srgbClr val="8A7A82"/>
                </a:solidFill>
                <a:latin typeface="Calibri" pitchFamily="34" charset="0"/>
                <a:ea typeface="Calibri" pitchFamily="34" charset="-122"/>
                <a:cs typeface="Calibri" pitchFamily="34" charset="-120"/>
              </a:rPr>
              <a:t>Ayra Starr × Tyla — Summer Soundtrack · 'Soundtracking Our Summer' — Culture Custodian</a:t>
            </a:r>
            <a:endParaRPr lang="en-US" sz="900" dirty="0"/>
          </a:p>
        </p:txBody>
      </p:sp>
      <p:sp>
        <p:nvSpPr>
          <p:cNvPr id="25" name="Shape 22"/>
          <p:cNvSpPr/>
          <p:nvPr/>
        </p:nvSpPr>
        <p:spPr>
          <a:xfrm>
            <a:off x="4919472" y="2029968"/>
            <a:ext cx="3840480" cy="0"/>
          </a:xfrm>
          <a:prstGeom prst="line">
            <a:avLst/>
          </a:prstGeom>
          <a:noFill/>
          <a:ln w="3810">
            <a:solidFill>
              <a:srgbClr val="E8C8D5"/>
            </a:solidFill>
            <a:prstDash val="solid"/>
          </a:ln>
        </p:spPr>
      </p:sp>
      <p:sp>
        <p:nvSpPr>
          <p:cNvPr id="26" name="Text 23"/>
          <p:cNvSpPr/>
          <p:nvPr/>
        </p:nvSpPr>
        <p:spPr>
          <a:xfrm>
            <a:off x="4919472" y="2084832"/>
            <a:ext cx="3840480" cy="182880"/>
          </a:xfrm>
          <a:prstGeom prst="rect">
            <a:avLst/>
          </a:prstGeom>
          <a:noFill/>
          <a:ln/>
        </p:spPr>
        <p:txBody>
          <a:bodyPr wrap="square" rtlCol="0" anchor="t"/>
          <a:lstStyle/>
          <a:p>
            <a:pPr algn="l" indent="0" marL="0">
              <a:buNone/>
            </a:pPr>
            <a:r>
              <a:rPr lang="en-US" sz="700" b="1" spc="150" kern="0" dirty="0">
                <a:solidFill>
                  <a:srgbClr val="9E4F6B"/>
                </a:solidFill>
                <a:latin typeface="Calibri" pitchFamily="34" charset="0"/>
                <a:ea typeface="Calibri" pitchFamily="34" charset="-122"/>
                <a:cs typeface="Calibri" pitchFamily="34" charset="-120"/>
              </a:rPr>
              <a:t>CAMPAIGN THEME</a:t>
            </a:r>
            <a:endParaRPr lang="en-US" sz="700" dirty="0"/>
          </a:p>
        </p:txBody>
      </p:sp>
      <p:sp>
        <p:nvSpPr>
          <p:cNvPr id="27" name="Text 24"/>
          <p:cNvSpPr/>
          <p:nvPr/>
        </p:nvSpPr>
        <p:spPr>
          <a:xfrm>
            <a:off x="4919472" y="2286000"/>
            <a:ext cx="3840480" cy="274320"/>
          </a:xfrm>
          <a:prstGeom prst="rect">
            <a:avLst/>
          </a:prstGeom>
          <a:noFill/>
          <a:ln/>
        </p:spPr>
        <p:txBody>
          <a:bodyPr wrap="square" rtlCol="0" anchor="t"/>
          <a:lstStyle/>
          <a:p>
            <a:pPr algn="l" indent="0" marL="0">
              <a:buNone/>
            </a:pPr>
            <a:r>
              <a:rPr lang="en-US" sz="900" dirty="0">
                <a:solidFill>
                  <a:srgbClr val="8A7A82"/>
                </a:solidFill>
                <a:latin typeface="Calibri" pitchFamily="34" charset="0"/>
                <a:ea typeface="Calibri" pitchFamily="34" charset="-122"/>
                <a:cs typeface="Calibri" pitchFamily="34" charset="-120"/>
              </a:rPr>
              <a:t>Hut Girl Summer — beauty, music, and Nigerian summer lifestyle culture</a:t>
            </a:r>
            <a:endParaRPr lang="en-US" sz="900" dirty="0"/>
          </a:p>
        </p:txBody>
      </p:sp>
      <p:sp>
        <p:nvSpPr>
          <p:cNvPr id="28" name="Shape 25"/>
          <p:cNvSpPr/>
          <p:nvPr/>
        </p:nvSpPr>
        <p:spPr>
          <a:xfrm>
            <a:off x="4919472" y="2578608"/>
            <a:ext cx="3840480" cy="0"/>
          </a:xfrm>
          <a:prstGeom prst="line">
            <a:avLst/>
          </a:prstGeom>
          <a:noFill/>
          <a:ln w="3810">
            <a:solidFill>
              <a:srgbClr val="E8C8D5"/>
            </a:solidFill>
            <a:prstDash val="solid"/>
          </a:ln>
        </p:spPr>
      </p:sp>
      <p:sp>
        <p:nvSpPr>
          <p:cNvPr id="29" name="Text 26"/>
          <p:cNvSpPr/>
          <p:nvPr/>
        </p:nvSpPr>
        <p:spPr>
          <a:xfrm>
            <a:off x="4919472" y="2633472"/>
            <a:ext cx="3840480" cy="182880"/>
          </a:xfrm>
          <a:prstGeom prst="rect">
            <a:avLst/>
          </a:prstGeom>
          <a:noFill/>
          <a:ln/>
        </p:spPr>
        <p:txBody>
          <a:bodyPr wrap="square" rtlCol="0" anchor="t"/>
          <a:lstStyle/>
          <a:p>
            <a:pPr algn="l" indent="0" marL="0">
              <a:buNone/>
            </a:pPr>
            <a:r>
              <a:rPr lang="en-US" sz="700" b="1" spc="150" kern="0" dirty="0">
                <a:solidFill>
                  <a:srgbClr val="9E4F6B"/>
                </a:solidFill>
                <a:latin typeface="Calibri" pitchFamily="34" charset="0"/>
                <a:ea typeface="Calibri" pitchFamily="34" charset="-122"/>
                <a:cs typeface="Calibri" pitchFamily="34" charset="-120"/>
              </a:rPr>
              <a:t>PLATFORM</a:t>
            </a:r>
            <a:endParaRPr lang="en-US" sz="700" dirty="0"/>
          </a:p>
        </p:txBody>
      </p:sp>
      <p:sp>
        <p:nvSpPr>
          <p:cNvPr id="30" name="Text 27"/>
          <p:cNvSpPr/>
          <p:nvPr/>
        </p:nvSpPr>
        <p:spPr>
          <a:xfrm>
            <a:off x="4919472" y="2834640"/>
            <a:ext cx="3840480" cy="274320"/>
          </a:xfrm>
          <a:prstGeom prst="rect">
            <a:avLst/>
          </a:prstGeom>
          <a:noFill/>
          <a:ln/>
        </p:spPr>
        <p:txBody>
          <a:bodyPr wrap="square" rtlCol="0" anchor="t"/>
          <a:lstStyle/>
          <a:p>
            <a:pPr algn="l" indent="0" marL="0">
              <a:buNone/>
            </a:pPr>
            <a:r>
              <a:rPr lang="en-US" sz="900" dirty="0">
                <a:solidFill>
                  <a:srgbClr val="8A7A82"/>
                </a:solidFill>
                <a:latin typeface="Calibri" pitchFamily="34" charset="0"/>
                <a:ea typeface="Calibri" pitchFamily="34" charset="-122"/>
                <a:cs typeface="Calibri" pitchFamily="34" charset="-120"/>
              </a:rPr>
              <a:t>Instagram · TikTok · Content-led influencer strategy</a:t>
            </a:r>
            <a:endParaRPr lang="en-US" sz="900" dirty="0"/>
          </a:p>
        </p:txBody>
      </p:sp>
      <p:sp>
        <p:nvSpPr>
          <p:cNvPr id="31" name="Shape 28"/>
          <p:cNvSpPr/>
          <p:nvPr/>
        </p:nvSpPr>
        <p:spPr>
          <a:xfrm>
            <a:off x="4919472" y="3127248"/>
            <a:ext cx="3840480" cy="0"/>
          </a:xfrm>
          <a:prstGeom prst="line">
            <a:avLst/>
          </a:prstGeom>
          <a:noFill/>
          <a:ln w="3810">
            <a:solidFill>
              <a:srgbClr val="E8C8D5"/>
            </a:solidFill>
            <a:prstDash val="solid"/>
          </a:ln>
        </p:spPr>
      </p:sp>
      <p:sp>
        <p:nvSpPr>
          <p:cNvPr id="32" name="Text 29"/>
          <p:cNvSpPr/>
          <p:nvPr/>
        </p:nvSpPr>
        <p:spPr>
          <a:xfrm>
            <a:off x="4919472" y="3182112"/>
            <a:ext cx="3840480" cy="182880"/>
          </a:xfrm>
          <a:prstGeom prst="rect">
            <a:avLst/>
          </a:prstGeom>
          <a:noFill/>
          <a:ln/>
        </p:spPr>
        <p:txBody>
          <a:bodyPr wrap="square" rtlCol="0" anchor="t"/>
          <a:lstStyle/>
          <a:p>
            <a:pPr algn="l" indent="0" marL="0">
              <a:buNone/>
            </a:pPr>
            <a:r>
              <a:rPr lang="en-US" sz="700" b="1" spc="150" kern="0" dirty="0">
                <a:solidFill>
                  <a:srgbClr val="9E4F6B"/>
                </a:solidFill>
                <a:latin typeface="Calibri" pitchFamily="34" charset="0"/>
                <a:ea typeface="Calibri" pitchFamily="34" charset="-122"/>
                <a:cs typeface="Calibri" pitchFamily="34" charset="-120"/>
              </a:rPr>
              <a:t>PRESS</a:t>
            </a:r>
            <a:endParaRPr lang="en-US" sz="700" dirty="0"/>
          </a:p>
        </p:txBody>
      </p:sp>
      <p:sp>
        <p:nvSpPr>
          <p:cNvPr id="33" name="Text 30"/>
          <p:cNvSpPr/>
          <p:nvPr/>
        </p:nvSpPr>
        <p:spPr>
          <a:xfrm>
            <a:off x="4919472" y="3383280"/>
            <a:ext cx="3840480" cy="274320"/>
          </a:xfrm>
          <a:prstGeom prst="rect">
            <a:avLst/>
          </a:prstGeom>
          <a:noFill/>
          <a:ln/>
        </p:spPr>
        <p:txBody>
          <a:bodyPr wrap="square" rtlCol="0" anchor="t"/>
          <a:lstStyle/>
          <a:p>
            <a:pPr algn="l" indent="0" marL="0">
              <a:buNone/>
            </a:pPr>
            <a:r>
              <a:rPr lang="en-US" sz="900" dirty="0">
                <a:solidFill>
                  <a:srgbClr val="8A7A82"/>
                </a:solidFill>
                <a:latin typeface="Calibri" pitchFamily="34" charset="0"/>
                <a:ea typeface="Calibri" pitchFamily="34" charset="-122"/>
                <a:cs typeface="Calibri" pitchFamily="34" charset="-120"/>
              </a:rPr>
              <a:t>Culture Custodian — Full editorial feature</a:t>
            </a:r>
            <a:endParaRPr lang="en-US" sz="900" dirty="0"/>
          </a:p>
        </p:txBody>
      </p:sp>
      <p:sp>
        <p:nvSpPr>
          <p:cNvPr id="34" name="Shape 31"/>
          <p:cNvSpPr/>
          <p:nvPr/>
        </p:nvSpPr>
        <p:spPr>
          <a:xfrm>
            <a:off x="4919472" y="3675888"/>
            <a:ext cx="3840480" cy="0"/>
          </a:xfrm>
          <a:prstGeom prst="line">
            <a:avLst/>
          </a:prstGeom>
          <a:noFill/>
          <a:ln w="3810">
            <a:solidFill>
              <a:srgbClr val="E8C8D5"/>
            </a:solidFill>
            <a:prstDash val="solid"/>
          </a:ln>
        </p:spPr>
      </p:sp>
      <p:sp>
        <p:nvSpPr>
          <p:cNvPr id="35" name="Text 32"/>
          <p:cNvSpPr/>
          <p:nvPr/>
        </p:nvSpPr>
        <p:spPr>
          <a:xfrm>
            <a:off x="4919472" y="3730752"/>
            <a:ext cx="3840480" cy="182880"/>
          </a:xfrm>
          <a:prstGeom prst="rect">
            <a:avLst/>
          </a:prstGeom>
          <a:noFill/>
          <a:ln/>
        </p:spPr>
        <p:txBody>
          <a:bodyPr wrap="square" rtlCol="0" anchor="t"/>
          <a:lstStyle/>
          <a:p>
            <a:pPr algn="l" indent="0" marL="0">
              <a:buNone/>
            </a:pPr>
            <a:r>
              <a:rPr lang="en-US" sz="700" b="1" spc="150" kern="0" dirty="0">
                <a:solidFill>
                  <a:srgbClr val="9E4F6B"/>
                </a:solidFill>
                <a:latin typeface="Calibri" pitchFamily="34" charset="0"/>
                <a:ea typeface="Calibri" pitchFamily="34" charset="-122"/>
                <a:cs typeface="Calibri" pitchFamily="34" charset="-120"/>
              </a:rPr>
              <a:t>ROLE</a:t>
            </a:r>
            <a:endParaRPr lang="en-US" sz="700" dirty="0"/>
          </a:p>
        </p:txBody>
      </p:sp>
      <p:sp>
        <p:nvSpPr>
          <p:cNvPr id="36" name="Text 33"/>
          <p:cNvSpPr/>
          <p:nvPr/>
        </p:nvSpPr>
        <p:spPr>
          <a:xfrm>
            <a:off x="4919472" y="3931920"/>
            <a:ext cx="3840480" cy="274320"/>
          </a:xfrm>
          <a:prstGeom prst="rect">
            <a:avLst/>
          </a:prstGeom>
          <a:noFill/>
          <a:ln/>
        </p:spPr>
        <p:txBody>
          <a:bodyPr wrap="square" rtlCol="0" anchor="t"/>
          <a:lstStyle/>
          <a:p>
            <a:pPr algn="l" indent="0" marL="0">
              <a:buNone/>
            </a:pPr>
            <a:r>
              <a:rPr lang="en-US" sz="900" dirty="0">
                <a:solidFill>
                  <a:srgbClr val="8A7A82"/>
                </a:solidFill>
                <a:latin typeface="Calibri" pitchFamily="34" charset="0"/>
                <a:ea typeface="Calibri" pitchFamily="34" charset="-122"/>
                <a:cs typeface="Calibri" pitchFamily="34" charset="-120"/>
              </a:rPr>
              <a:t>Marketing &amp; PR Executive, Beauty Hut Africa</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F1"/>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B8923A"/>
          </a:solidFill>
          <a:ln w="12700">
            <a:solidFill>
              <a:srgbClr val="B8923A"/>
            </a:solidFill>
            <a:prstDash val="solid"/>
          </a:ln>
        </p:spPr>
      </p:sp>
      <p:sp>
        <p:nvSpPr>
          <p:cNvPr id="3" name="Shape 1"/>
          <p:cNvSpPr/>
          <p:nvPr/>
        </p:nvSpPr>
        <p:spPr>
          <a:xfrm>
            <a:off x="0" y="0"/>
            <a:ext cx="502920" cy="5143500"/>
          </a:xfrm>
          <a:prstGeom prst="rect">
            <a:avLst/>
          </a:prstGeom>
          <a:solidFill>
            <a:srgbClr val="9E4F6B"/>
          </a:solidFill>
          <a:ln w="12700">
            <a:solidFill>
              <a:srgbClr val="9E4F6B"/>
            </a:solidFill>
            <a:prstDash val="solid"/>
          </a:ln>
        </p:spPr>
      </p:sp>
      <p:pic>
        <p:nvPicPr>
          <p:cNvPr id="4" name="Image 0" descr="preencoded.png">    </p:cNvPr>
          <p:cNvPicPr>
            <a:picLocks noChangeAspect="1"/>
          </p:cNvPicPr>
          <p:nvPr/>
        </p:nvPicPr>
        <p:blipFill>
          <a:blip r:embed="rId1"/>
          <a:stretch>
            <a:fillRect/>
          </a:stretch>
        </p:blipFill>
        <p:spPr>
          <a:xfrm>
            <a:off x="658368" y="164592"/>
            <a:ext cx="1280160" cy="411480"/>
          </a:xfrm>
          <a:prstGeom prst="rect">
            <a:avLst/>
          </a:prstGeom>
        </p:spPr>
      </p:pic>
      <p:sp>
        <p:nvSpPr>
          <p:cNvPr id="5" name="Text 2"/>
          <p:cNvSpPr/>
          <p:nvPr/>
        </p:nvSpPr>
        <p:spPr>
          <a:xfrm>
            <a:off x="457200" y="146304"/>
            <a:ext cx="8412480" cy="201168"/>
          </a:xfrm>
          <a:prstGeom prst="rect">
            <a:avLst/>
          </a:prstGeom>
          <a:noFill/>
          <a:ln/>
        </p:spPr>
        <p:txBody>
          <a:bodyPr wrap="square" rtlCol="0" anchor="t"/>
          <a:lstStyle/>
          <a:p>
            <a:pPr algn="l" indent="0" marL="0">
              <a:buNone/>
            </a:pPr>
            <a:r>
              <a:rPr lang="en-US" sz="700" b="1" spc="350" kern="0" dirty="0">
                <a:solidFill>
                  <a:srgbClr val="9E4F6B"/>
                </a:solidFill>
                <a:latin typeface="Calibri" pitchFamily="34" charset="0"/>
                <a:ea typeface="Calibri" pitchFamily="34" charset="-122"/>
                <a:cs typeface="Calibri" pitchFamily="34" charset="-120"/>
              </a:rPr>
              <a:t>BRAND LAUNCH  ·  DANESSA MYRICKS BEAUTY  ·  NIGERIA DEBUT  ·  BEAUTY HUT AFRICA</a:t>
            </a:r>
            <a:endParaRPr lang="en-US" sz="700" dirty="0"/>
          </a:p>
        </p:txBody>
      </p:sp>
      <p:sp>
        <p:nvSpPr>
          <p:cNvPr id="6" name="Shape 3"/>
          <p:cNvSpPr/>
          <p:nvPr/>
        </p:nvSpPr>
        <p:spPr>
          <a:xfrm>
            <a:off x="0" y="4873752"/>
            <a:ext cx="9144000" cy="269748"/>
          </a:xfrm>
          <a:prstGeom prst="rect">
            <a:avLst/>
          </a:prstGeom>
          <a:solidFill>
            <a:srgbClr val="7A3B53"/>
          </a:solidFill>
          <a:ln w="12700">
            <a:solidFill>
              <a:srgbClr val="7A3B53"/>
            </a:solidFill>
            <a:prstDash val="solid"/>
          </a:ln>
        </p:spPr>
      </p:sp>
      <p:sp>
        <p:nvSpPr>
          <p:cNvPr id="7" name="Text 4"/>
          <p:cNvSpPr/>
          <p:nvPr/>
        </p:nvSpPr>
        <p:spPr>
          <a:xfrm>
            <a:off x="0" y="4878324"/>
            <a:ext cx="9144000" cy="256032"/>
          </a:xfrm>
          <a:prstGeom prst="rect">
            <a:avLst/>
          </a:prstGeom>
          <a:noFill/>
          <a:ln/>
        </p:spPr>
        <p:txBody>
          <a:bodyPr wrap="square" rtlCol="0" anchor="ctr"/>
          <a:lstStyle/>
          <a:p>
            <a:pPr algn="ctr" indent="0" marL="0">
              <a:buNone/>
            </a:pPr>
            <a:r>
              <a:rPr lang="en-US" sz="700" spc="150" kern="0" dirty="0">
                <a:solidFill>
                  <a:srgbClr val="E0D4BC"/>
                </a:solidFill>
                <a:latin typeface="Calibri" pitchFamily="34" charset="0"/>
                <a:ea typeface="Calibri" pitchFamily="34" charset="-122"/>
                <a:cs typeface="Calibri" pitchFamily="34" charset="-120"/>
              </a:rPr>
              <a:t>marktn PR  ·  Onyeka Nwonah  ·  Lagos, Nigeria  ·  Perception is Different</a:t>
            </a:r>
            <a:endParaRPr lang="en-US" sz="700" dirty="0"/>
          </a:p>
        </p:txBody>
      </p:sp>
      <p:sp>
        <p:nvSpPr>
          <p:cNvPr id="8" name="Text 5"/>
          <p:cNvSpPr/>
          <p:nvPr/>
        </p:nvSpPr>
        <p:spPr>
          <a:xfrm>
            <a:off x="7132320" y="182880"/>
            <a:ext cx="1645920" cy="1005840"/>
          </a:xfrm>
          <a:prstGeom prst="rect">
            <a:avLst/>
          </a:prstGeom>
          <a:noFill/>
          <a:ln/>
        </p:spPr>
        <p:txBody>
          <a:bodyPr wrap="square" rtlCol="0" anchor="t"/>
          <a:lstStyle/>
          <a:p>
            <a:pPr algn="l" indent="0" marL="0">
              <a:buNone/>
            </a:pPr>
            <a:r>
              <a:rPr lang="en-US" sz="6000" b="1" dirty="0">
                <a:solidFill>
                  <a:srgbClr val="E8C8D5"/>
                </a:solidFill>
                <a:latin typeface="Georgia" pitchFamily="34" charset="0"/>
                <a:ea typeface="Georgia" pitchFamily="34" charset="-122"/>
                <a:cs typeface="Georgia" pitchFamily="34" charset="-120"/>
              </a:rPr>
              <a:t>05</a:t>
            </a:r>
            <a:endParaRPr lang="en-US" sz="6000" dirty="0"/>
          </a:p>
        </p:txBody>
      </p:sp>
      <p:sp>
        <p:nvSpPr>
          <p:cNvPr id="9" name="Text 6"/>
          <p:cNvSpPr/>
          <p:nvPr/>
        </p:nvSpPr>
        <p:spPr>
          <a:xfrm>
            <a:off x="658368" y="438912"/>
            <a:ext cx="4114800" cy="566928"/>
          </a:xfrm>
          <a:prstGeom prst="rect">
            <a:avLst/>
          </a:prstGeom>
          <a:noFill/>
          <a:ln/>
        </p:spPr>
        <p:txBody>
          <a:bodyPr wrap="square" rtlCol="0" anchor="t"/>
          <a:lstStyle/>
          <a:p>
            <a:pPr algn="l" indent="0" marL="0">
              <a:buNone/>
            </a:pPr>
            <a:r>
              <a:rPr lang="en-US" sz="2200" b="1" dirty="0">
                <a:solidFill>
                  <a:srgbClr val="7A3B53"/>
                </a:solidFill>
                <a:latin typeface="Georgia" pitchFamily="34" charset="0"/>
                <a:ea typeface="Georgia" pitchFamily="34" charset="-122"/>
                <a:cs typeface="Georgia" pitchFamily="34" charset="-120"/>
              </a:rPr>
              <a:t>Danessa Myricks Beauty</a:t>
            </a:r>
            <a:endParaRPr lang="en-US" sz="2200" dirty="0"/>
          </a:p>
        </p:txBody>
      </p:sp>
      <p:sp>
        <p:nvSpPr>
          <p:cNvPr id="10" name="Text 7"/>
          <p:cNvSpPr/>
          <p:nvPr/>
        </p:nvSpPr>
        <p:spPr>
          <a:xfrm>
            <a:off x="658368" y="1207008"/>
            <a:ext cx="5029200" cy="201168"/>
          </a:xfrm>
          <a:prstGeom prst="rect">
            <a:avLst/>
          </a:prstGeom>
          <a:noFill/>
          <a:ln/>
        </p:spPr>
        <p:txBody>
          <a:bodyPr wrap="square" rtlCol="0" anchor="t"/>
          <a:lstStyle/>
          <a:p>
            <a:pPr algn="l" indent="0" marL="0">
              <a:buNone/>
            </a:pPr>
            <a:r>
              <a:rPr lang="en-US" sz="750" spc="50" kern="0" dirty="0">
                <a:solidFill>
                  <a:srgbClr val="C47A93"/>
                </a:solidFill>
                <a:latin typeface="Calibri" pitchFamily="34" charset="0"/>
                <a:ea typeface="Calibri" pitchFamily="34" charset="-122"/>
                <a:cs typeface="Calibri" pitchFamily="34" charset="-120"/>
              </a:rPr>
              <a:t>Nigeria Debut  ·  6 November 2024  ·  Soho Lagos, Lekki</a:t>
            </a:r>
            <a:endParaRPr lang="en-US" sz="750" dirty="0"/>
          </a:p>
        </p:txBody>
      </p:sp>
      <p:sp>
        <p:nvSpPr>
          <p:cNvPr id="11" name="Shape 8"/>
          <p:cNvSpPr/>
          <p:nvPr/>
        </p:nvSpPr>
        <p:spPr>
          <a:xfrm>
            <a:off x="658368" y="1389888"/>
            <a:ext cx="5029200" cy="0"/>
          </a:xfrm>
          <a:prstGeom prst="line">
            <a:avLst/>
          </a:prstGeom>
          <a:noFill/>
          <a:ln w="10160">
            <a:solidFill>
              <a:srgbClr val="B8923A"/>
            </a:solidFill>
            <a:prstDash val="solid"/>
          </a:ln>
        </p:spPr>
      </p:sp>
      <p:sp>
        <p:nvSpPr>
          <p:cNvPr id="12" name="Text 9"/>
          <p:cNvSpPr/>
          <p:nvPr/>
        </p:nvSpPr>
        <p:spPr>
          <a:xfrm>
            <a:off x="658368" y="1517904"/>
            <a:ext cx="3931920" cy="932688"/>
          </a:xfrm>
          <a:prstGeom prst="rect">
            <a:avLst/>
          </a:prstGeom>
          <a:noFill/>
          <a:ln/>
        </p:spPr>
        <p:txBody>
          <a:bodyPr wrap="square" rtlCol="0" anchor="t"/>
          <a:lstStyle/>
          <a:p>
            <a:pPr algn="l" indent="0" marL="0">
              <a:buNone/>
            </a:pPr>
            <a:r>
              <a:rPr lang="en-US" sz="950" dirty="0">
                <a:solidFill>
                  <a:srgbClr val="100810"/>
                </a:solidFill>
                <a:latin typeface="Calibri" pitchFamily="34" charset="0"/>
                <a:ea typeface="Calibri" pitchFamily="34" charset="-122"/>
                <a:cs typeface="Calibri" pitchFamily="34" charset="-120"/>
              </a:rPr>
              <a:t>Produced the Nigeria debut of Danessa Myricks Beauty — a critically acclaimed New York-based prestige makeup brand known for its 'Beauty Without Boundaries' philosophy. Founded by self-taught makeup artist turned entrepreneur Danessa Myricks, the brand is renowned for innovative, multi-functional, high-performance products co-signed by TikTokers with millions of views.</a:t>
            </a:r>
            <a:endParaRPr lang="en-US" sz="950" dirty="0"/>
          </a:p>
        </p:txBody>
      </p:sp>
      <p:sp>
        <p:nvSpPr>
          <p:cNvPr id="13" name="Text 10"/>
          <p:cNvSpPr/>
          <p:nvPr/>
        </p:nvSpPr>
        <p:spPr>
          <a:xfrm>
            <a:off x="658368" y="2505456"/>
            <a:ext cx="3931920" cy="914400"/>
          </a:xfrm>
          <a:prstGeom prst="rect">
            <a:avLst/>
          </a:prstGeom>
          <a:noFill/>
          <a:ln/>
        </p:spPr>
        <p:txBody>
          <a:bodyPr wrap="square" rtlCol="0" anchor="t"/>
          <a:lstStyle/>
          <a:p>
            <a:pPr algn="l" indent="0" marL="0">
              <a:buNone/>
            </a:pPr>
            <a:r>
              <a:rPr lang="en-US" sz="950" dirty="0">
                <a:solidFill>
                  <a:srgbClr val="8A7A82"/>
                </a:solidFill>
                <a:latin typeface="Calibri" pitchFamily="34" charset="0"/>
                <a:ea typeface="Calibri" pitchFamily="34" charset="-122"/>
                <a:cs typeface="Calibri" pitchFamily="34" charset="-120"/>
              </a:rPr>
              <a:t>Rather than a conventional press launch, the introduction was designed as an intimate curated dinner at Soho Lagos — a room of Nigeria's most influential beauty voices: Diana Eneje, Henrietta Itepu, Hawa Magaji, Frances Theodore, Kiky Festus, and Chika Winnie. The conversation turned from small talk to insider beauty secrets — exactly the organic engagement luxury brands require.</a:t>
            </a:r>
            <a:endParaRPr lang="en-US" sz="950" dirty="0"/>
          </a:p>
        </p:txBody>
      </p:sp>
      <p:sp>
        <p:nvSpPr>
          <p:cNvPr id="14" name="Text 11"/>
          <p:cNvSpPr/>
          <p:nvPr/>
        </p:nvSpPr>
        <p:spPr>
          <a:xfrm>
            <a:off x="658368" y="3474720"/>
            <a:ext cx="3931920" cy="658368"/>
          </a:xfrm>
          <a:prstGeom prst="rect">
            <a:avLst/>
          </a:prstGeom>
          <a:noFill/>
          <a:ln/>
        </p:spPr>
        <p:txBody>
          <a:bodyPr wrap="square" rtlCol="0" anchor="t"/>
          <a:lstStyle/>
          <a:p>
            <a:pPr algn="l" indent="0" marL="0">
              <a:buNone/>
            </a:pPr>
            <a:r>
              <a:rPr lang="en-US" sz="950" dirty="0">
                <a:solidFill>
                  <a:srgbClr val="8A7A82"/>
                </a:solidFill>
                <a:latin typeface="Calibri" pitchFamily="34" charset="0"/>
                <a:ea typeface="Calibri" pitchFamily="34" charset="-122"/>
                <a:cs typeface="Calibri" pitchFamily="34" charset="-120"/>
              </a:rPr>
              <a:t>The star product — the Yummy Skin Blurring Balm — became the focal point. Influencers left not just with product but with genuine conviction, generating organic content that reinforced the brand's positioning as a serious prestige player in the Nigerian market.</a:t>
            </a:r>
            <a:endParaRPr lang="en-US" sz="950" dirty="0"/>
          </a:p>
        </p:txBody>
      </p:sp>
      <p:sp>
        <p:nvSpPr>
          <p:cNvPr id="15" name="Shape 12"/>
          <p:cNvSpPr/>
          <p:nvPr/>
        </p:nvSpPr>
        <p:spPr>
          <a:xfrm>
            <a:off x="658368" y="4224528"/>
            <a:ext cx="3931920" cy="512064"/>
          </a:xfrm>
          <a:prstGeom prst="rect">
            <a:avLst/>
          </a:prstGeom>
          <a:solidFill>
            <a:srgbClr val="E8C8D5"/>
          </a:solidFill>
          <a:ln w="12700">
            <a:solidFill>
              <a:srgbClr val="D4B8C5"/>
            </a:solidFill>
            <a:prstDash val="solid"/>
          </a:ln>
        </p:spPr>
      </p:sp>
      <p:sp>
        <p:nvSpPr>
          <p:cNvPr id="16" name="Text 13"/>
          <p:cNvSpPr/>
          <p:nvPr/>
        </p:nvSpPr>
        <p:spPr>
          <a:xfrm>
            <a:off x="658368" y="4224528"/>
            <a:ext cx="3931920" cy="512064"/>
          </a:xfrm>
          <a:prstGeom prst="rect">
            <a:avLst/>
          </a:prstGeom>
          <a:noFill/>
          <a:ln/>
        </p:spPr>
        <p:txBody>
          <a:bodyPr wrap="square" rtlCol="0" anchor="ctr"/>
          <a:lstStyle/>
          <a:p>
            <a:pPr algn="ctr" indent="0" marL="0">
              <a:buNone/>
            </a:pPr>
            <a:r>
              <a:rPr lang="en-US" sz="850" dirty="0">
                <a:solidFill>
                  <a:srgbClr val="7A3B53"/>
                </a:solidFill>
                <a:latin typeface="Calibri" pitchFamily="34" charset="0"/>
                <a:ea typeface="Calibri" pitchFamily="34" charset="-122"/>
                <a:cs typeface="Calibri" pitchFamily="34" charset="-120"/>
              </a:rPr>
              <a:t>Press: Marie Claire Nigeria  ·  Business of Fashion  ·  Africa Reimagined</a:t>
            </a:r>
            <a:endParaRPr lang="en-US" sz="850" dirty="0"/>
          </a:p>
          <a:p>
            <a:pPr algn="ctr" indent="0" marL="0">
              <a:buNone/>
            </a:pPr>
            <a:r>
              <a:rPr lang="en-US" sz="850" dirty="0">
                <a:solidFill>
                  <a:srgbClr val="7A3B53"/>
                </a:solidFill>
                <a:latin typeface="Calibri" pitchFamily="34" charset="0"/>
                <a:ea typeface="Calibri" pitchFamily="34" charset="-122"/>
                <a:cs typeface="Calibri" pitchFamily="34" charset="-120"/>
              </a:rPr>
              <a:t>Role: Marketing &amp; PR Executive, Beauty Hut Africa</a:t>
            </a:r>
            <a:endParaRPr lang="en-US" sz="850" dirty="0"/>
          </a:p>
        </p:txBody>
      </p:sp>
      <p:sp>
        <p:nvSpPr>
          <p:cNvPr id="17" name="Shape 14"/>
          <p:cNvSpPr/>
          <p:nvPr/>
        </p:nvSpPr>
        <p:spPr>
          <a:xfrm>
            <a:off x="4754880" y="438912"/>
            <a:ext cx="4160520" cy="1024128"/>
          </a:xfrm>
          <a:prstGeom prst="rect">
            <a:avLst/>
          </a:prstGeom>
          <a:solidFill>
            <a:srgbClr val="FFFFFF"/>
          </a:solidFill>
          <a:ln w="12700">
            <a:solidFill>
              <a:srgbClr val="E8DDD5"/>
            </a:solidFill>
            <a:prstDash val="solid"/>
          </a:ln>
        </p:spPr>
      </p:sp>
      <p:sp>
        <p:nvSpPr>
          <p:cNvPr id="18" name="Shape 15"/>
          <p:cNvSpPr/>
          <p:nvPr/>
        </p:nvSpPr>
        <p:spPr>
          <a:xfrm>
            <a:off x="4754880" y="438912"/>
            <a:ext cx="54864" cy="1024128"/>
          </a:xfrm>
          <a:prstGeom prst="rect">
            <a:avLst/>
          </a:prstGeom>
          <a:solidFill>
            <a:srgbClr val="9E4F6B"/>
          </a:solidFill>
          <a:ln w="12700">
            <a:solidFill>
              <a:srgbClr val="9E4F6B"/>
            </a:solidFill>
            <a:prstDash val="solid"/>
          </a:ln>
        </p:spPr>
      </p:sp>
      <p:sp>
        <p:nvSpPr>
          <p:cNvPr id="19" name="Text 16"/>
          <p:cNvSpPr/>
          <p:nvPr/>
        </p:nvSpPr>
        <p:spPr>
          <a:xfrm>
            <a:off x="4919472" y="530352"/>
            <a:ext cx="3840480" cy="182880"/>
          </a:xfrm>
          <a:prstGeom prst="rect">
            <a:avLst/>
          </a:prstGeom>
          <a:noFill/>
          <a:ln/>
        </p:spPr>
        <p:txBody>
          <a:bodyPr wrap="square" rtlCol="0" anchor="t"/>
          <a:lstStyle/>
          <a:p>
            <a:pPr algn="l" indent="0" marL="0">
              <a:buNone/>
            </a:pPr>
            <a:r>
              <a:rPr lang="en-US" sz="700" b="1" spc="200" kern="0" dirty="0">
                <a:solidFill>
                  <a:srgbClr val="9E4F6B"/>
                </a:solidFill>
                <a:latin typeface="Calibri" pitchFamily="34" charset="0"/>
                <a:ea typeface="Calibri" pitchFamily="34" charset="-122"/>
                <a:cs typeface="Calibri" pitchFamily="34" charset="-120"/>
              </a:rPr>
              <a:t>THE EVENT</a:t>
            </a:r>
            <a:endParaRPr lang="en-US" sz="700" dirty="0"/>
          </a:p>
        </p:txBody>
      </p:sp>
      <p:sp>
        <p:nvSpPr>
          <p:cNvPr id="20" name="Text 17"/>
          <p:cNvSpPr/>
          <p:nvPr/>
        </p:nvSpPr>
        <p:spPr>
          <a:xfrm>
            <a:off x="4919472" y="749808"/>
            <a:ext cx="3840480" cy="640080"/>
          </a:xfrm>
          <a:prstGeom prst="rect">
            <a:avLst/>
          </a:prstGeom>
          <a:noFill/>
          <a:ln/>
        </p:spPr>
        <p:txBody>
          <a:bodyPr wrap="square" rtlCol="0" anchor="t"/>
          <a:lstStyle/>
          <a:p>
            <a:pPr algn="l" indent="0" marL="0">
              <a:buNone/>
            </a:pPr>
            <a:r>
              <a:rPr lang="en-US" sz="900" dirty="0">
                <a:solidFill>
                  <a:srgbClr val="8A7A82"/>
                </a:solidFill>
                <a:latin typeface="Calibri" pitchFamily="34" charset="0"/>
                <a:ea typeface="Calibri" pitchFamily="34" charset="-122"/>
                <a:cs typeface="Calibri" pitchFamily="34" charset="-120"/>
              </a:rPr>
              <a:t>6 November 2024</a:t>
            </a:r>
            <a:endParaRPr lang="en-US" sz="900" dirty="0"/>
          </a:p>
          <a:p>
            <a:pPr algn="l" indent="0" marL="0">
              <a:buNone/>
            </a:pPr>
            <a:r>
              <a:rPr lang="en-US" sz="900" dirty="0">
                <a:solidFill>
                  <a:srgbClr val="8A7A82"/>
                </a:solidFill>
                <a:latin typeface="Calibri" pitchFamily="34" charset="0"/>
                <a:ea typeface="Calibri" pitchFamily="34" charset="-122"/>
                <a:cs typeface="Calibri" pitchFamily="34" charset="-120"/>
              </a:rPr>
              <a:t>Soho Lagos, Lekki</a:t>
            </a:r>
            <a:endParaRPr lang="en-US" sz="900" dirty="0"/>
          </a:p>
          <a:p>
            <a:pPr algn="l" indent="0" marL="0">
              <a:buNone/>
            </a:pPr>
            <a:r>
              <a:rPr lang="en-US" sz="900" dirty="0">
                <a:solidFill>
                  <a:srgbClr val="8A7A82"/>
                </a:solidFill>
                <a:latin typeface="Calibri" pitchFamily="34" charset="0"/>
                <a:ea typeface="Calibri" pitchFamily="34" charset="-122"/>
                <a:cs typeface="Calibri" pitchFamily="34" charset="-120"/>
              </a:rPr>
              <a:t>Invitation-only dinner</a:t>
            </a:r>
            <a:endParaRPr lang="en-US" sz="900" dirty="0"/>
          </a:p>
        </p:txBody>
      </p:sp>
      <p:sp>
        <p:nvSpPr>
          <p:cNvPr id="21" name="Shape 18"/>
          <p:cNvSpPr/>
          <p:nvPr/>
        </p:nvSpPr>
        <p:spPr>
          <a:xfrm>
            <a:off x="4754880" y="1554480"/>
            <a:ext cx="4160520" cy="1024128"/>
          </a:xfrm>
          <a:prstGeom prst="rect">
            <a:avLst/>
          </a:prstGeom>
          <a:solidFill>
            <a:srgbClr val="FFFFFF"/>
          </a:solidFill>
          <a:ln w="12700">
            <a:solidFill>
              <a:srgbClr val="E8DDD5"/>
            </a:solidFill>
            <a:prstDash val="solid"/>
          </a:ln>
        </p:spPr>
      </p:sp>
      <p:sp>
        <p:nvSpPr>
          <p:cNvPr id="22" name="Shape 19"/>
          <p:cNvSpPr/>
          <p:nvPr/>
        </p:nvSpPr>
        <p:spPr>
          <a:xfrm>
            <a:off x="4754880" y="1554480"/>
            <a:ext cx="54864" cy="1024128"/>
          </a:xfrm>
          <a:prstGeom prst="rect">
            <a:avLst/>
          </a:prstGeom>
          <a:solidFill>
            <a:srgbClr val="9E4F6B"/>
          </a:solidFill>
          <a:ln w="12700">
            <a:solidFill>
              <a:srgbClr val="9E4F6B"/>
            </a:solidFill>
            <a:prstDash val="solid"/>
          </a:ln>
        </p:spPr>
      </p:sp>
      <p:sp>
        <p:nvSpPr>
          <p:cNvPr id="23" name="Text 20"/>
          <p:cNvSpPr/>
          <p:nvPr/>
        </p:nvSpPr>
        <p:spPr>
          <a:xfrm>
            <a:off x="4919472" y="1645920"/>
            <a:ext cx="3840480" cy="182880"/>
          </a:xfrm>
          <a:prstGeom prst="rect">
            <a:avLst/>
          </a:prstGeom>
          <a:noFill/>
          <a:ln/>
        </p:spPr>
        <p:txBody>
          <a:bodyPr wrap="square" rtlCol="0" anchor="t"/>
          <a:lstStyle/>
          <a:p>
            <a:pPr algn="l" indent="0" marL="0">
              <a:buNone/>
            </a:pPr>
            <a:r>
              <a:rPr lang="en-US" sz="700" b="1" spc="200" kern="0" dirty="0">
                <a:solidFill>
                  <a:srgbClr val="9E4F6B"/>
                </a:solidFill>
                <a:latin typeface="Calibri" pitchFamily="34" charset="0"/>
                <a:ea typeface="Calibri" pitchFamily="34" charset="-122"/>
                <a:cs typeface="Calibri" pitchFamily="34" charset="-120"/>
              </a:rPr>
              <a:t>GUEST LIST</a:t>
            </a:r>
            <a:endParaRPr lang="en-US" sz="700" dirty="0"/>
          </a:p>
        </p:txBody>
      </p:sp>
      <p:sp>
        <p:nvSpPr>
          <p:cNvPr id="24" name="Text 21"/>
          <p:cNvSpPr/>
          <p:nvPr/>
        </p:nvSpPr>
        <p:spPr>
          <a:xfrm>
            <a:off x="4919472" y="1865376"/>
            <a:ext cx="3840480" cy="640080"/>
          </a:xfrm>
          <a:prstGeom prst="rect">
            <a:avLst/>
          </a:prstGeom>
          <a:noFill/>
          <a:ln/>
        </p:spPr>
        <p:txBody>
          <a:bodyPr wrap="square" rtlCol="0" anchor="t"/>
          <a:lstStyle/>
          <a:p>
            <a:pPr algn="l" indent="0" marL="0">
              <a:buNone/>
            </a:pPr>
            <a:r>
              <a:rPr lang="en-US" sz="900" dirty="0">
                <a:solidFill>
                  <a:srgbClr val="8A7A82"/>
                </a:solidFill>
                <a:latin typeface="Calibri" pitchFamily="34" charset="0"/>
                <a:ea typeface="Calibri" pitchFamily="34" charset="-122"/>
                <a:cs typeface="Calibri" pitchFamily="34" charset="-120"/>
              </a:rPr>
              <a:t>Diana Eneje · Henrietta Itepu</a:t>
            </a:r>
            <a:endParaRPr lang="en-US" sz="900" dirty="0"/>
          </a:p>
          <a:p>
            <a:pPr algn="l" indent="0" marL="0">
              <a:buNone/>
            </a:pPr>
            <a:r>
              <a:rPr lang="en-US" sz="900" dirty="0">
                <a:solidFill>
                  <a:srgbClr val="8A7A82"/>
                </a:solidFill>
                <a:latin typeface="Calibri" pitchFamily="34" charset="0"/>
                <a:ea typeface="Calibri" pitchFamily="34" charset="-122"/>
                <a:cs typeface="Calibri" pitchFamily="34" charset="-120"/>
              </a:rPr>
              <a:t>Hawa Magaji · Frances Theodore</a:t>
            </a:r>
            <a:endParaRPr lang="en-US" sz="900" dirty="0"/>
          </a:p>
          <a:p>
            <a:pPr algn="l" indent="0" marL="0">
              <a:buNone/>
            </a:pPr>
            <a:r>
              <a:rPr lang="en-US" sz="900" dirty="0">
                <a:solidFill>
                  <a:srgbClr val="8A7A82"/>
                </a:solidFill>
                <a:latin typeface="Calibri" pitchFamily="34" charset="0"/>
                <a:ea typeface="Calibri" pitchFamily="34" charset="-122"/>
                <a:cs typeface="Calibri" pitchFamily="34" charset="-120"/>
              </a:rPr>
              <a:t>Kiky Festus · Chika Winnie</a:t>
            </a:r>
            <a:endParaRPr lang="en-US" sz="900" dirty="0"/>
          </a:p>
        </p:txBody>
      </p:sp>
      <p:sp>
        <p:nvSpPr>
          <p:cNvPr id="25" name="Shape 22"/>
          <p:cNvSpPr/>
          <p:nvPr/>
        </p:nvSpPr>
        <p:spPr>
          <a:xfrm>
            <a:off x="4754880" y="2670048"/>
            <a:ext cx="4160520" cy="1024128"/>
          </a:xfrm>
          <a:prstGeom prst="rect">
            <a:avLst/>
          </a:prstGeom>
          <a:solidFill>
            <a:srgbClr val="FFFFFF"/>
          </a:solidFill>
          <a:ln w="12700">
            <a:solidFill>
              <a:srgbClr val="E8DDD5"/>
            </a:solidFill>
            <a:prstDash val="solid"/>
          </a:ln>
        </p:spPr>
      </p:sp>
      <p:sp>
        <p:nvSpPr>
          <p:cNvPr id="26" name="Shape 23"/>
          <p:cNvSpPr/>
          <p:nvPr/>
        </p:nvSpPr>
        <p:spPr>
          <a:xfrm>
            <a:off x="4754880" y="2670048"/>
            <a:ext cx="54864" cy="1024128"/>
          </a:xfrm>
          <a:prstGeom prst="rect">
            <a:avLst/>
          </a:prstGeom>
          <a:solidFill>
            <a:srgbClr val="9E4F6B"/>
          </a:solidFill>
          <a:ln w="12700">
            <a:solidFill>
              <a:srgbClr val="9E4F6B"/>
            </a:solidFill>
            <a:prstDash val="solid"/>
          </a:ln>
        </p:spPr>
      </p:sp>
      <p:sp>
        <p:nvSpPr>
          <p:cNvPr id="27" name="Text 24"/>
          <p:cNvSpPr/>
          <p:nvPr/>
        </p:nvSpPr>
        <p:spPr>
          <a:xfrm>
            <a:off x="4919472" y="2761488"/>
            <a:ext cx="3840480" cy="182880"/>
          </a:xfrm>
          <a:prstGeom prst="rect">
            <a:avLst/>
          </a:prstGeom>
          <a:noFill/>
          <a:ln/>
        </p:spPr>
        <p:txBody>
          <a:bodyPr wrap="square" rtlCol="0" anchor="t"/>
          <a:lstStyle/>
          <a:p>
            <a:pPr algn="l" indent="0" marL="0">
              <a:buNone/>
            </a:pPr>
            <a:r>
              <a:rPr lang="en-US" sz="700" b="1" spc="200" kern="0" dirty="0">
                <a:solidFill>
                  <a:srgbClr val="9E4F6B"/>
                </a:solidFill>
                <a:latin typeface="Calibri" pitchFamily="34" charset="0"/>
                <a:ea typeface="Calibri" pitchFamily="34" charset="-122"/>
                <a:cs typeface="Calibri" pitchFamily="34" charset="-120"/>
              </a:rPr>
              <a:t>STAR PRODUCT</a:t>
            </a:r>
            <a:endParaRPr lang="en-US" sz="700" dirty="0"/>
          </a:p>
        </p:txBody>
      </p:sp>
      <p:sp>
        <p:nvSpPr>
          <p:cNvPr id="28" name="Text 25"/>
          <p:cNvSpPr/>
          <p:nvPr/>
        </p:nvSpPr>
        <p:spPr>
          <a:xfrm>
            <a:off x="4919472" y="2980944"/>
            <a:ext cx="3840480" cy="640080"/>
          </a:xfrm>
          <a:prstGeom prst="rect">
            <a:avLst/>
          </a:prstGeom>
          <a:noFill/>
          <a:ln/>
        </p:spPr>
        <p:txBody>
          <a:bodyPr wrap="square" rtlCol="0" anchor="t"/>
          <a:lstStyle/>
          <a:p>
            <a:pPr algn="l" indent="0" marL="0">
              <a:buNone/>
            </a:pPr>
            <a:r>
              <a:rPr lang="en-US" sz="900" dirty="0">
                <a:solidFill>
                  <a:srgbClr val="8A7A82"/>
                </a:solidFill>
                <a:latin typeface="Calibri" pitchFamily="34" charset="0"/>
                <a:ea typeface="Calibri" pitchFamily="34" charset="-122"/>
                <a:cs typeface="Calibri" pitchFamily="34" charset="-120"/>
              </a:rPr>
              <a:t>Yummy Skin Blurring Balm</a:t>
            </a:r>
            <a:endParaRPr lang="en-US" sz="900" dirty="0"/>
          </a:p>
          <a:p>
            <a:pPr algn="l" indent="0" marL="0">
              <a:buNone/>
            </a:pPr>
            <a:r>
              <a:rPr lang="en-US" sz="900" dirty="0">
                <a:solidFill>
                  <a:srgbClr val="8A7A82"/>
                </a:solidFill>
                <a:latin typeface="Calibri" pitchFamily="34" charset="0"/>
                <a:ea typeface="Calibri" pitchFamily="34" charset="-122"/>
                <a:cs typeface="Calibri" pitchFamily="34" charset="-120"/>
              </a:rPr>
              <a:t>'Beauty is about to get 10 million x better' — TikTok, 2.9M views</a:t>
            </a:r>
            <a:endParaRPr lang="en-US" sz="900" dirty="0"/>
          </a:p>
        </p:txBody>
      </p:sp>
      <p:sp>
        <p:nvSpPr>
          <p:cNvPr id="29" name="Shape 26"/>
          <p:cNvSpPr/>
          <p:nvPr/>
        </p:nvSpPr>
        <p:spPr>
          <a:xfrm>
            <a:off x="4754880" y="3785616"/>
            <a:ext cx="4160520" cy="1024128"/>
          </a:xfrm>
          <a:prstGeom prst="rect">
            <a:avLst/>
          </a:prstGeom>
          <a:solidFill>
            <a:srgbClr val="FFFFFF"/>
          </a:solidFill>
          <a:ln w="12700">
            <a:solidFill>
              <a:srgbClr val="E8DDD5"/>
            </a:solidFill>
            <a:prstDash val="solid"/>
          </a:ln>
        </p:spPr>
      </p:sp>
      <p:sp>
        <p:nvSpPr>
          <p:cNvPr id="30" name="Shape 27"/>
          <p:cNvSpPr/>
          <p:nvPr/>
        </p:nvSpPr>
        <p:spPr>
          <a:xfrm>
            <a:off x="4754880" y="3785616"/>
            <a:ext cx="54864" cy="1024128"/>
          </a:xfrm>
          <a:prstGeom prst="rect">
            <a:avLst/>
          </a:prstGeom>
          <a:solidFill>
            <a:srgbClr val="9E4F6B"/>
          </a:solidFill>
          <a:ln w="12700">
            <a:solidFill>
              <a:srgbClr val="9E4F6B"/>
            </a:solidFill>
            <a:prstDash val="solid"/>
          </a:ln>
        </p:spPr>
      </p:sp>
      <p:sp>
        <p:nvSpPr>
          <p:cNvPr id="31" name="Text 28"/>
          <p:cNvSpPr/>
          <p:nvPr/>
        </p:nvSpPr>
        <p:spPr>
          <a:xfrm>
            <a:off x="4919472" y="3877056"/>
            <a:ext cx="3840480" cy="182880"/>
          </a:xfrm>
          <a:prstGeom prst="rect">
            <a:avLst/>
          </a:prstGeom>
          <a:noFill/>
          <a:ln/>
        </p:spPr>
        <p:txBody>
          <a:bodyPr wrap="square" rtlCol="0" anchor="t"/>
          <a:lstStyle/>
          <a:p>
            <a:pPr algn="l" indent="0" marL="0">
              <a:buNone/>
            </a:pPr>
            <a:r>
              <a:rPr lang="en-US" sz="700" b="1" spc="200" kern="0" dirty="0">
                <a:solidFill>
                  <a:srgbClr val="9E4F6B"/>
                </a:solidFill>
                <a:latin typeface="Calibri" pitchFamily="34" charset="0"/>
                <a:ea typeface="Calibri" pitchFamily="34" charset="-122"/>
                <a:cs typeface="Calibri" pitchFamily="34" charset="-120"/>
              </a:rPr>
              <a:t>PRESS</a:t>
            </a:r>
            <a:endParaRPr lang="en-US" sz="700" dirty="0"/>
          </a:p>
        </p:txBody>
      </p:sp>
      <p:sp>
        <p:nvSpPr>
          <p:cNvPr id="32" name="Text 29"/>
          <p:cNvSpPr/>
          <p:nvPr/>
        </p:nvSpPr>
        <p:spPr>
          <a:xfrm>
            <a:off x="4919472" y="4096512"/>
            <a:ext cx="3840480" cy="640080"/>
          </a:xfrm>
          <a:prstGeom prst="rect">
            <a:avLst/>
          </a:prstGeom>
          <a:noFill/>
          <a:ln/>
        </p:spPr>
        <p:txBody>
          <a:bodyPr wrap="square" rtlCol="0" anchor="t"/>
          <a:lstStyle/>
          <a:p>
            <a:pPr algn="l" indent="0" marL="0">
              <a:buNone/>
            </a:pPr>
            <a:r>
              <a:rPr lang="en-US" sz="900" dirty="0">
                <a:solidFill>
                  <a:srgbClr val="8A7A82"/>
                </a:solidFill>
                <a:latin typeface="Calibri" pitchFamily="34" charset="0"/>
                <a:ea typeface="Calibri" pitchFamily="34" charset="-122"/>
                <a:cs typeface="Calibri" pitchFamily="34" charset="-120"/>
              </a:rPr>
              <a:t>Marie Claire Nigeria</a:t>
            </a:r>
            <a:endParaRPr lang="en-US" sz="900" dirty="0"/>
          </a:p>
          <a:p>
            <a:pPr algn="l" indent="0" marL="0">
              <a:buNone/>
            </a:pPr>
            <a:r>
              <a:rPr lang="en-US" sz="900" dirty="0">
                <a:solidFill>
                  <a:srgbClr val="8A7A82"/>
                </a:solidFill>
                <a:latin typeface="Calibri" pitchFamily="34" charset="0"/>
                <a:ea typeface="Calibri" pitchFamily="34" charset="-122"/>
                <a:cs typeface="Calibri" pitchFamily="34" charset="-120"/>
              </a:rPr>
              <a:t>Business of Fashion</a:t>
            </a:r>
            <a:endParaRPr lang="en-US" sz="900" dirty="0"/>
          </a:p>
          <a:p>
            <a:pPr algn="l" indent="0" marL="0">
              <a:buNone/>
            </a:pPr>
            <a:r>
              <a:rPr lang="en-US" sz="900" dirty="0">
                <a:solidFill>
                  <a:srgbClr val="8A7A82"/>
                </a:solidFill>
                <a:latin typeface="Calibri" pitchFamily="34" charset="0"/>
                <a:ea typeface="Calibri" pitchFamily="34" charset="-122"/>
                <a:cs typeface="Calibri" pitchFamily="34" charset="-120"/>
              </a:rPr>
              <a:t>Africa Reimagined</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00810"/>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B8923A"/>
          </a:solidFill>
          <a:ln w="12700">
            <a:solidFill>
              <a:srgbClr val="B8923A"/>
            </a:solidFill>
            <a:prstDash val="solid"/>
          </a:ln>
        </p:spPr>
      </p:sp>
      <p:sp>
        <p:nvSpPr>
          <p:cNvPr id="3" name="Text 1"/>
          <p:cNvSpPr/>
          <p:nvPr/>
        </p:nvSpPr>
        <p:spPr>
          <a:xfrm>
            <a:off x="182880" y="228600"/>
            <a:ext cx="1097280" cy="914400"/>
          </a:xfrm>
          <a:prstGeom prst="rect">
            <a:avLst/>
          </a:prstGeom>
          <a:noFill/>
          <a:ln/>
        </p:spPr>
        <p:txBody>
          <a:bodyPr wrap="square" rtlCol="0" anchor="t"/>
          <a:lstStyle/>
          <a:p>
            <a:pPr algn="l" indent="0" marL="0">
              <a:buNone/>
            </a:pPr>
            <a:r>
              <a:rPr lang="en-US" sz="5200" b="1" dirty="0">
                <a:solidFill>
                  <a:srgbClr val="1E0F18"/>
                </a:solidFill>
                <a:latin typeface="Georgia" pitchFamily="34" charset="0"/>
                <a:ea typeface="Georgia" pitchFamily="34" charset="-122"/>
                <a:cs typeface="Georgia" pitchFamily="34" charset="-120"/>
              </a:rPr>
              <a:t>06</a:t>
            </a:r>
            <a:endParaRPr lang="en-US" sz="5200" dirty="0"/>
          </a:p>
        </p:txBody>
      </p:sp>
      <p:pic>
        <p:nvPicPr>
          <p:cNvPr id="4" name="Image 0" descr="preencoded.png">    </p:cNvPr>
          <p:cNvPicPr>
            <a:picLocks noChangeAspect="1"/>
          </p:cNvPicPr>
          <p:nvPr/>
        </p:nvPicPr>
        <p:blipFill>
          <a:blip r:embed="rId1"/>
          <a:stretch>
            <a:fillRect/>
          </a:stretch>
        </p:blipFill>
        <p:spPr>
          <a:xfrm>
            <a:off x="365760" y="164592"/>
            <a:ext cx="1234440" cy="393192"/>
          </a:xfrm>
          <a:prstGeom prst="rect">
            <a:avLst/>
          </a:prstGeom>
        </p:spPr>
      </p:pic>
      <p:sp>
        <p:nvSpPr>
          <p:cNvPr id="5" name="Text 2"/>
          <p:cNvSpPr/>
          <p:nvPr/>
        </p:nvSpPr>
        <p:spPr>
          <a:xfrm>
            <a:off x="457200" y="146304"/>
            <a:ext cx="8412480" cy="201168"/>
          </a:xfrm>
          <a:prstGeom prst="rect">
            <a:avLst/>
          </a:prstGeom>
          <a:noFill/>
          <a:ln/>
        </p:spPr>
        <p:txBody>
          <a:bodyPr wrap="square" rtlCol="0" anchor="t"/>
          <a:lstStyle/>
          <a:p>
            <a:pPr algn="l" indent="0" marL="0">
              <a:buNone/>
            </a:pPr>
            <a:r>
              <a:rPr lang="en-US" sz="700" b="1" spc="350" kern="0" dirty="0">
                <a:solidFill>
                  <a:srgbClr val="B8923A"/>
                </a:solidFill>
                <a:latin typeface="Calibri" pitchFamily="34" charset="0"/>
                <a:ea typeface="Calibri" pitchFamily="34" charset="-122"/>
                <a:cs typeface="Calibri" pitchFamily="34" charset="-120"/>
              </a:rPr>
              <a:t>BRAND LAUNCH  ·  L'ORÉAL PROFESSIONNEL PARIS  ·  NIGERIA DEBUT  ·  BEAUTY HUT AFRICA</a:t>
            </a:r>
            <a:endParaRPr lang="en-US" sz="700" dirty="0"/>
          </a:p>
        </p:txBody>
      </p:sp>
      <p:sp>
        <p:nvSpPr>
          <p:cNvPr id="6" name="Shape 3"/>
          <p:cNvSpPr/>
          <p:nvPr/>
        </p:nvSpPr>
        <p:spPr>
          <a:xfrm>
            <a:off x="0" y="4873752"/>
            <a:ext cx="9144000" cy="269748"/>
          </a:xfrm>
          <a:prstGeom prst="rect">
            <a:avLst/>
          </a:prstGeom>
          <a:solidFill>
            <a:srgbClr val="7A3B53"/>
          </a:solidFill>
          <a:ln w="12700">
            <a:solidFill>
              <a:srgbClr val="7A3B53"/>
            </a:solidFill>
            <a:prstDash val="solid"/>
          </a:ln>
        </p:spPr>
      </p:sp>
      <p:sp>
        <p:nvSpPr>
          <p:cNvPr id="7" name="Text 4"/>
          <p:cNvSpPr/>
          <p:nvPr/>
        </p:nvSpPr>
        <p:spPr>
          <a:xfrm>
            <a:off x="0" y="4878324"/>
            <a:ext cx="9144000" cy="256032"/>
          </a:xfrm>
          <a:prstGeom prst="rect">
            <a:avLst/>
          </a:prstGeom>
          <a:noFill/>
          <a:ln/>
        </p:spPr>
        <p:txBody>
          <a:bodyPr wrap="square" rtlCol="0" anchor="ctr"/>
          <a:lstStyle/>
          <a:p>
            <a:pPr algn="ctr" indent="0" marL="0">
              <a:buNone/>
            </a:pPr>
            <a:r>
              <a:rPr lang="en-US" sz="700" spc="150" kern="0" dirty="0">
                <a:solidFill>
                  <a:srgbClr val="E0D4BC"/>
                </a:solidFill>
                <a:latin typeface="Calibri" pitchFamily="34" charset="0"/>
                <a:ea typeface="Calibri" pitchFamily="34" charset="-122"/>
                <a:cs typeface="Calibri" pitchFamily="34" charset="-120"/>
              </a:rPr>
              <a:t>marktn PR  ·  Onyeka Nwonah  ·  Lagos, Nigeria  ·  Perception is Different</a:t>
            </a:r>
            <a:endParaRPr lang="en-US" sz="700" dirty="0"/>
          </a:p>
        </p:txBody>
      </p:sp>
      <p:sp>
        <p:nvSpPr>
          <p:cNvPr id="8" name="Shape 5"/>
          <p:cNvSpPr/>
          <p:nvPr/>
        </p:nvSpPr>
        <p:spPr>
          <a:xfrm>
            <a:off x="6400800" y="1371600"/>
            <a:ext cx="3657600" cy="3657600"/>
          </a:xfrm>
          <a:prstGeom prst="ellipse">
            <a:avLst/>
          </a:prstGeom>
          <a:solidFill>
            <a:srgbClr val="9E4F6B">
              <a:alpha val="30000"/>
            </a:srgbClr>
          </a:solidFill>
          <a:ln w="12700">
            <a:solidFill>
              <a:srgbClr val="9E4F6B">
                <a:alpha val="30000"/>
              </a:srgbClr>
            </a:solidFill>
            <a:prstDash val="solid"/>
          </a:ln>
        </p:spPr>
      </p:sp>
      <p:sp>
        <p:nvSpPr>
          <p:cNvPr id="9" name="Text 6"/>
          <p:cNvSpPr/>
          <p:nvPr/>
        </p:nvSpPr>
        <p:spPr>
          <a:xfrm>
            <a:off x="365760" y="475488"/>
            <a:ext cx="5029200" cy="1371600"/>
          </a:xfrm>
          <a:prstGeom prst="rect">
            <a:avLst/>
          </a:prstGeom>
          <a:noFill/>
          <a:ln/>
        </p:spPr>
        <p:txBody>
          <a:bodyPr wrap="square" rtlCol="0" anchor="t"/>
          <a:lstStyle/>
          <a:p>
            <a:pPr algn="l" indent="0" marL="0">
              <a:buNone/>
            </a:pPr>
            <a:r>
              <a:rPr lang="en-US" sz="3400" b="1" dirty="0">
                <a:solidFill>
                  <a:srgbClr val="F5EFE0"/>
                </a:solidFill>
                <a:latin typeface="Georgia" pitchFamily="34" charset="0"/>
                <a:ea typeface="Georgia" pitchFamily="34" charset="-122"/>
                <a:cs typeface="Georgia" pitchFamily="34" charset="-120"/>
              </a:rPr>
              <a:t>L'Oréal</a:t>
            </a:r>
            <a:endParaRPr lang="en-US" sz="3400" dirty="0"/>
          </a:p>
          <a:p>
            <a:pPr algn="l" indent="0" marL="0">
              <a:buNone/>
            </a:pPr>
            <a:r>
              <a:rPr lang="en-US" sz="3400" b="1" dirty="0">
                <a:solidFill>
                  <a:srgbClr val="F5EFE0"/>
                </a:solidFill>
                <a:latin typeface="Georgia" pitchFamily="34" charset="0"/>
                <a:ea typeface="Georgia" pitchFamily="34" charset="-122"/>
                <a:cs typeface="Georgia" pitchFamily="34" charset="-120"/>
              </a:rPr>
              <a:t>Professionnel</a:t>
            </a:r>
            <a:endParaRPr lang="en-US" sz="3400" dirty="0"/>
          </a:p>
          <a:p>
            <a:pPr algn="l" indent="0" marL="0">
              <a:buNone/>
            </a:pPr>
            <a:r>
              <a:rPr lang="en-US" sz="3400" b="1" dirty="0">
                <a:solidFill>
                  <a:srgbClr val="F5EFE0"/>
                </a:solidFill>
                <a:latin typeface="Georgia" pitchFamily="34" charset="0"/>
                <a:ea typeface="Georgia" pitchFamily="34" charset="-122"/>
                <a:cs typeface="Georgia" pitchFamily="34" charset="-120"/>
              </a:rPr>
              <a:t>Paris</a:t>
            </a:r>
            <a:endParaRPr lang="en-US" sz="3400" dirty="0"/>
          </a:p>
        </p:txBody>
      </p:sp>
      <p:sp>
        <p:nvSpPr>
          <p:cNvPr id="10" name="Text 7"/>
          <p:cNvSpPr/>
          <p:nvPr/>
        </p:nvSpPr>
        <p:spPr>
          <a:xfrm>
            <a:off x="365760" y="1901952"/>
            <a:ext cx="5029200" cy="201168"/>
          </a:xfrm>
          <a:prstGeom prst="rect">
            <a:avLst/>
          </a:prstGeom>
          <a:noFill/>
          <a:ln/>
        </p:spPr>
        <p:txBody>
          <a:bodyPr wrap="square" rtlCol="0" anchor="t"/>
          <a:lstStyle/>
          <a:p>
            <a:pPr algn="l" indent="0" marL="0">
              <a:buNone/>
            </a:pPr>
            <a:r>
              <a:rPr lang="en-US" sz="750" spc="50" kern="0" dirty="0">
                <a:solidFill>
                  <a:srgbClr val="C47A93"/>
                </a:solidFill>
                <a:latin typeface="Calibri" pitchFamily="34" charset="0"/>
                <a:ea typeface="Calibri" pitchFamily="34" charset="-122"/>
                <a:cs typeface="Calibri" pitchFamily="34" charset="-120"/>
              </a:rPr>
              <a:t>L'Oréal Group  ·  Nigeria Launch  ·  Beauty Hut Africa</a:t>
            </a:r>
            <a:endParaRPr lang="en-US" sz="750" dirty="0"/>
          </a:p>
        </p:txBody>
      </p:sp>
      <p:sp>
        <p:nvSpPr>
          <p:cNvPr id="11" name="Shape 8"/>
          <p:cNvSpPr/>
          <p:nvPr/>
        </p:nvSpPr>
        <p:spPr>
          <a:xfrm>
            <a:off x="365760" y="2176272"/>
            <a:ext cx="5029200" cy="0"/>
          </a:xfrm>
          <a:prstGeom prst="line">
            <a:avLst/>
          </a:prstGeom>
          <a:noFill/>
          <a:ln w="10160">
            <a:solidFill>
              <a:srgbClr val="B8923A"/>
            </a:solidFill>
            <a:prstDash val="solid"/>
          </a:ln>
        </p:spPr>
      </p:sp>
      <p:sp>
        <p:nvSpPr>
          <p:cNvPr id="12" name="Text 9"/>
          <p:cNvSpPr/>
          <p:nvPr/>
        </p:nvSpPr>
        <p:spPr>
          <a:xfrm>
            <a:off x="365760" y="2304288"/>
            <a:ext cx="3931920" cy="640080"/>
          </a:xfrm>
          <a:prstGeom prst="rect">
            <a:avLst/>
          </a:prstGeom>
          <a:noFill/>
          <a:ln/>
        </p:spPr>
        <p:txBody>
          <a:bodyPr wrap="square" rtlCol="0" anchor="t"/>
          <a:lstStyle/>
          <a:p>
            <a:pPr algn="l" indent="0" marL="0">
              <a:buNone/>
            </a:pPr>
            <a:r>
              <a:rPr lang="en-US" sz="1000" i="1" dirty="0">
                <a:solidFill>
                  <a:srgbClr val="E0D4BC"/>
                </a:solidFill>
                <a:latin typeface="Georgia" pitchFamily="34" charset="0"/>
                <a:ea typeface="Georgia" pitchFamily="34" charset="-122"/>
                <a:cs typeface="Georgia" pitchFamily="34" charset="-120"/>
              </a:rPr>
              <a:t>Led the Nigeria debut of L'Oréal Professionnel Paris at Beauty Hut Africa — positioning one of the world's most respected professional haircare ranges within Nigeria's most culturally relevant beauty retail platform.</a:t>
            </a:r>
            <a:endParaRPr lang="en-US" sz="1000" dirty="0"/>
          </a:p>
        </p:txBody>
      </p:sp>
      <p:sp>
        <p:nvSpPr>
          <p:cNvPr id="13" name="Text 10"/>
          <p:cNvSpPr/>
          <p:nvPr/>
        </p:nvSpPr>
        <p:spPr>
          <a:xfrm>
            <a:off x="365760" y="3017520"/>
            <a:ext cx="3931920" cy="1078992"/>
          </a:xfrm>
          <a:prstGeom prst="rect">
            <a:avLst/>
          </a:prstGeom>
          <a:noFill/>
          <a:ln/>
        </p:spPr>
        <p:txBody>
          <a:bodyPr wrap="square" rtlCol="0" anchor="t"/>
          <a:lstStyle/>
          <a:p>
            <a:pPr algn="l" indent="0" marL="0">
              <a:buNone/>
            </a:pPr>
            <a:r>
              <a:rPr lang="en-US" sz="950" dirty="0">
                <a:solidFill>
                  <a:srgbClr val="8A7A82"/>
                </a:solidFill>
                <a:latin typeface="Calibri" pitchFamily="34" charset="0"/>
                <a:ea typeface="Calibri" pitchFamily="34" charset="-122"/>
                <a:cs typeface="Calibri" pitchFamily="34" charset="-120"/>
              </a:rPr>
              <a:t>The launch required a dual strategy: a trade-facing announcement establishing Beauty Hut as the authorised stockist, and a consumer-facing campaign translating L'Oréal Professionnel's heritage into everyday Nigerian aspiration. Press and influencer strategy was managed end-to-end — securing full editorial coverage in Marie Claire Nigeria, placing the launch within the continent's most authoritative beauty publication.</a:t>
            </a:r>
            <a:endParaRPr lang="en-US" sz="950" dirty="0"/>
          </a:p>
        </p:txBody>
      </p:sp>
      <p:sp>
        <p:nvSpPr>
          <p:cNvPr id="14" name="Shape 11"/>
          <p:cNvSpPr/>
          <p:nvPr/>
        </p:nvSpPr>
        <p:spPr>
          <a:xfrm>
            <a:off x="4754880" y="475488"/>
            <a:ext cx="4160520" cy="4297680"/>
          </a:xfrm>
          <a:prstGeom prst="rect">
            <a:avLst/>
          </a:prstGeom>
          <a:solidFill>
            <a:srgbClr val="7A3B53"/>
          </a:solidFill>
          <a:ln w="12700">
            <a:solidFill>
              <a:srgbClr val="7A3B53"/>
            </a:solidFill>
            <a:prstDash val="solid"/>
          </a:ln>
        </p:spPr>
      </p:sp>
      <p:sp>
        <p:nvSpPr>
          <p:cNvPr id="15" name="Shape 12"/>
          <p:cNvSpPr/>
          <p:nvPr/>
        </p:nvSpPr>
        <p:spPr>
          <a:xfrm>
            <a:off x="4754880" y="475488"/>
            <a:ext cx="4160520" cy="64008"/>
          </a:xfrm>
          <a:prstGeom prst="rect">
            <a:avLst/>
          </a:prstGeom>
          <a:solidFill>
            <a:srgbClr val="B8923A"/>
          </a:solidFill>
          <a:ln w="12700">
            <a:solidFill>
              <a:srgbClr val="B8923A"/>
            </a:solidFill>
            <a:prstDash val="solid"/>
          </a:ln>
        </p:spPr>
      </p:sp>
      <p:sp>
        <p:nvSpPr>
          <p:cNvPr id="16" name="Text 13"/>
          <p:cNvSpPr/>
          <p:nvPr/>
        </p:nvSpPr>
        <p:spPr>
          <a:xfrm>
            <a:off x="4919472" y="603504"/>
            <a:ext cx="3840480" cy="201168"/>
          </a:xfrm>
          <a:prstGeom prst="rect">
            <a:avLst/>
          </a:prstGeom>
          <a:noFill/>
          <a:ln/>
        </p:spPr>
        <p:txBody>
          <a:bodyPr wrap="square" rtlCol="0" anchor="t"/>
          <a:lstStyle/>
          <a:p>
            <a:pPr algn="l" indent="0" marL="0">
              <a:buNone/>
            </a:pPr>
            <a:r>
              <a:rPr lang="en-US" sz="700" b="1" spc="300" kern="0" dirty="0">
                <a:solidFill>
                  <a:srgbClr val="B8923A"/>
                </a:solidFill>
                <a:latin typeface="Calibri" pitchFamily="34" charset="0"/>
                <a:ea typeface="Calibri" pitchFamily="34" charset="-122"/>
                <a:cs typeface="Calibri" pitchFamily="34" charset="-120"/>
              </a:rPr>
              <a:t>LAUNCH OUTCOME</a:t>
            </a:r>
            <a:endParaRPr lang="en-US" sz="700" dirty="0"/>
          </a:p>
        </p:txBody>
      </p:sp>
      <p:sp>
        <p:nvSpPr>
          <p:cNvPr id="17" name="Shape 14"/>
          <p:cNvSpPr/>
          <p:nvPr/>
        </p:nvSpPr>
        <p:spPr>
          <a:xfrm>
            <a:off x="4919472" y="877824"/>
            <a:ext cx="3840480" cy="0"/>
          </a:xfrm>
          <a:prstGeom prst="line">
            <a:avLst/>
          </a:prstGeom>
          <a:noFill/>
          <a:ln w="6350">
            <a:solidFill>
              <a:srgbClr val="C47A93"/>
            </a:solidFill>
            <a:prstDash val="solid"/>
          </a:ln>
        </p:spPr>
      </p:sp>
      <p:sp>
        <p:nvSpPr>
          <p:cNvPr id="18" name="Text 15"/>
          <p:cNvSpPr/>
          <p:nvPr/>
        </p:nvSpPr>
        <p:spPr>
          <a:xfrm>
            <a:off x="4919472" y="969264"/>
            <a:ext cx="1371600" cy="201168"/>
          </a:xfrm>
          <a:prstGeom prst="rect">
            <a:avLst/>
          </a:prstGeom>
          <a:noFill/>
          <a:ln/>
        </p:spPr>
        <p:txBody>
          <a:bodyPr wrap="square" rtlCol="0" anchor="t"/>
          <a:lstStyle/>
          <a:p>
            <a:pPr algn="l" indent="0" marL="0">
              <a:buNone/>
            </a:pPr>
            <a:r>
              <a:rPr lang="en-US" sz="700" b="1" spc="100" kern="0" dirty="0">
                <a:solidFill>
                  <a:srgbClr val="B8923A"/>
                </a:solidFill>
                <a:latin typeface="Calibri" pitchFamily="34" charset="0"/>
                <a:ea typeface="Calibri" pitchFamily="34" charset="-122"/>
                <a:cs typeface="Calibri" pitchFamily="34" charset="-120"/>
              </a:rPr>
              <a:t>PLACEMENT</a:t>
            </a:r>
            <a:endParaRPr lang="en-US" sz="700" dirty="0"/>
          </a:p>
        </p:txBody>
      </p:sp>
      <p:sp>
        <p:nvSpPr>
          <p:cNvPr id="19" name="Text 16"/>
          <p:cNvSpPr/>
          <p:nvPr/>
        </p:nvSpPr>
        <p:spPr>
          <a:xfrm>
            <a:off x="6382512" y="969264"/>
            <a:ext cx="2395728" cy="384048"/>
          </a:xfrm>
          <a:prstGeom prst="rect">
            <a:avLst/>
          </a:prstGeom>
          <a:noFill/>
          <a:ln/>
        </p:spPr>
        <p:txBody>
          <a:bodyPr wrap="square" rtlCol="0" anchor="t"/>
          <a:lstStyle/>
          <a:p>
            <a:pPr algn="l" indent="0" marL="0">
              <a:buNone/>
            </a:pPr>
            <a:r>
              <a:rPr lang="en-US" sz="850" dirty="0">
                <a:solidFill>
                  <a:srgbClr val="E0D4BC"/>
                </a:solidFill>
                <a:latin typeface="Calibri" pitchFamily="34" charset="0"/>
                <a:ea typeface="Calibri" pitchFamily="34" charset="-122"/>
                <a:cs typeface="Calibri" pitchFamily="34" charset="-120"/>
              </a:rPr>
              <a:t>Marie Claire Nigeria — full editorial feature</a:t>
            </a:r>
            <a:endParaRPr lang="en-US" sz="850" dirty="0"/>
          </a:p>
        </p:txBody>
      </p:sp>
      <p:sp>
        <p:nvSpPr>
          <p:cNvPr id="20" name="Text 17"/>
          <p:cNvSpPr/>
          <p:nvPr/>
        </p:nvSpPr>
        <p:spPr>
          <a:xfrm>
            <a:off x="4919472" y="1499616"/>
            <a:ext cx="1371600" cy="201168"/>
          </a:xfrm>
          <a:prstGeom prst="rect">
            <a:avLst/>
          </a:prstGeom>
          <a:noFill/>
          <a:ln/>
        </p:spPr>
        <p:txBody>
          <a:bodyPr wrap="square" rtlCol="0" anchor="t"/>
          <a:lstStyle/>
          <a:p>
            <a:pPr algn="l" indent="0" marL="0">
              <a:buNone/>
            </a:pPr>
            <a:r>
              <a:rPr lang="en-US" sz="700" b="1" spc="100" kern="0" dirty="0">
                <a:solidFill>
                  <a:srgbClr val="B8923A"/>
                </a:solidFill>
                <a:latin typeface="Calibri" pitchFamily="34" charset="0"/>
                <a:ea typeface="Calibri" pitchFamily="34" charset="-122"/>
                <a:cs typeface="Calibri" pitchFamily="34" charset="-120"/>
              </a:rPr>
              <a:t>FORMAT</a:t>
            </a:r>
            <a:endParaRPr lang="en-US" sz="700" dirty="0"/>
          </a:p>
        </p:txBody>
      </p:sp>
      <p:sp>
        <p:nvSpPr>
          <p:cNvPr id="21" name="Text 18"/>
          <p:cNvSpPr/>
          <p:nvPr/>
        </p:nvSpPr>
        <p:spPr>
          <a:xfrm>
            <a:off x="6382512" y="1499616"/>
            <a:ext cx="2395728" cy="384048"/>
          </a:xfrm>
          <a:prstGeom prst="rect">
            <a:avLst/>
          </a:prstGeom>
          <a:noFill/>
          <a:ln/>
        </p:spPr>
        <p:txBody>
          <a:bodyPr wrap="square" rtlCol="0" anchor="t"/>
          <a:lstStyle/>
          <a:p>
            <a:pPr algn="l" indent="0" marL="0">
              <a:buNone/>
            </a:pPr>
            <a:r>
              <a:rPr lang="en-US" sz="850" dirty="0">
                <a:solidFill>
                  <a:srgbClr val="E0D4BC"/>
                </a:solidFill>
                <a:latin typeface="Calibri" pitchFamily="34" charset="0"/>
                <a:ea typeface="Calibri" pitchFamily="34" charset="-122"/>
                <a:cs typeface="Calibri" pitchFamily="34" charset="-120"/>
              </a:rPr>
              <a:t>Trade announcement + consumer influencer campaign</a:t>
            </a:r>
            <a:endParaRPr lang="en-US" sz="850" dirty="0"/>
          </a:p>
        </p:txBody>
      </p:sp>
      <p:sp>
        <p:nvSpPr>
          <p:cNvPr id="22" name="Text 19"/>
          <p:cNvSpPr/>
          <p:nvPr/>
        </p:nvSpPr>
        <p:spPr>
          <a:xfrm>
            <a:off x="4919472" y="2029968"/>
            <a:ext cx="1371600" cy="201168"/>
          </a:xfrm>
          <a:prstGeom prst="rect">
            <a:avLst/>
          </a:prstGeom>
          <a:noFill/>
          <a:ln/>
        </p:spPr>
        <p:txBody>
          <a:bodyPr wrap="square" rtlCol="0" anchor="t"/>
          <a:lstStyle/>
          <a:p>
            <a:pPr algn="l" indent="0" marL="0">
              <a:buNone/>
            </a:pPr>
            <a:r>
              <a:rPr lang="en-US" sz="700" b="1" spc="100" kern="0" dirty="0">
                <a:solidFill>
                  <a:srgbClr val="B8923A"/>
                </a:solidFill>
                <a:latin typeface="Calibri" pitchFamily="34" charset="0"/>
                <a:ea typeface="Calibri" pitchFamily="34" charset="-122"/>
                <a:cs typeface="Calibri" pitchFamily="34" charset="-120"/>
              </a:rPr>
              <a:t>STRATEGY</a:t>
            </a:r>
            <a:endParaRPr lang="en-US" sz="700" dirty="0"/>
          </a:p>
        </p:txBody>
      </p:sp>
      <p:sp>
        <p:nvSpPr>
          <p:cNvPr id="23" name="Text 20"/>
          <p:cNvSpPr/>
          <p:nvPr/>
        </p:nvSpPr>
        <p:spPr>
          <a:xfrm>
            <a:off x="6382512" y="2029968"/>
            <a:ext cx="2395728" cy="384048"/>
          </a:xfrm>
          <a:prstGeom prst="rect">
            <a:avLst/>
          </a:prstGeom>
          <a:noFill/>
          <a:ln/>
        </p:spPr>
        <p:txBody>
          <a:bodyPr wrap="square" rtlCol="0" anchor="t"/>
          <a:lstStyle/>
          <a:p>
            <a:pPr algn="l" indent="0" marL="0">
              <a:buNone/>
            </a:pPr>
            <a:r>
              <a:rPr lang="en-US" sz="850" dirty="0">
                <a:solidFill>
                  <a:srgbClr val="E0D4BC"/>
                </a:solidFill>
                <a:latin typeface="Calibri" pitchFamily="34" charset="0"/>
                <a:ea typeface="Calibri" pitchFamily="34" charset="-122"/>
                <a:cs typeface="Calibri" pitchFamily="34" charset="-120"/>
              </a:rPr>
              <a:t>Dual-track: stockist positioning + aspirational consumer content</a:t>
            </a:r>
            <a:endParaRPr lang="en-US" sz="850" dirty="0"/>
          </a:p>
        </p:txBody>
      </p:sp>
      <p:sp>
        <p:nvSpPr>
          <p:cNvPr id="24" name="Text 21"/>
          <p:cNvSpPr/>
          <p:nvPr/>
        </p:nvSpPr>
        <p:spPr>
          <a:xfrm>
            <a:off x="4919472" y="2560320"/>
            <a:ext cx="1371600" cy="201168"/>
          </a:xfrm>
          <a:prstGeom prst="rect">
            <a:avLst/>
          </a:prstGeom>
          <a:noFill/>
          <a:ln/>
        </p:spPr>
        <p:txBody>
          <a:bodyPr wrap="square" rtlCol="0" anchor="t"/>
          <a:lstStyle/>
          <a:p>
            <a:pPr algn="l" indent="0" marL="0">
              <a:buNone/>
            </a:pPr>
            <a:r>
              <a:rPr lang="en-US" sz="700" b="1" spc="100" kern="0" dirty="0">
                <a:solidFill>
                  <a:srgbClr val="B8923A"/>
                </a:solidFill>
                <a:latin typeface="Calibri" pitchFamily="34" charset="0"/>
                <a:ea typeface="Calibri" pitchFamily="34" charset="-122"/>
                <a:cs typeface="Calibri" pitchFamily="34" charset="-120"/>
              </a:rPr>
              <a:t>PLATFORM</a:t>
            </a:r>
            <a:endParaRPr lang="en-US" sz="700" dirty="0"/>
          </a:p>
        </p:txBody>
      </p:sp>
      <p:sp>
        <p:nvSpPr>
          <p:cNvPr id="25" name="Text 22"/>
          <p:cNvSpPr/>
          <p:nvPr/>
        </p:nvSpPr>
        <p:spPr>
          <a:xfrm>
            <a:off x="6382512" y="2560320"/>
            <a:ext cx="2395728" cy="384048"/>
          </a:xfrm>
          <a:prstGeom prst="rect">
            <a:avLst/>
          </a:prstGeom>
          <a:noFill/>
          <a:ln/>
        </p:spPr>
        <p:txBody>
          <a:bodyPr wrap="square" rtlCol="0" anchor="t"/>
          <a:lstStyle/>
          <a:p>
            <a:pPr algn="l" indent="0" marL="0">
              <a:buNone/>
            </a:pPr>
            <a:r>
              <a:rPr lang="en-US" sz="850" dirty="0">
                <a:solidFill>
                  <a:srgbClr val="E0D4BC"/>
                </a:solidFill>
                <a:latin typeface="Calibri" pitchFamily="34" charset="0"/>
                <a:ea typeface="Calibri" pitchFamily="34" charset="-122"/>
                <a:cs typeface="Calibri" pitchFamily="34" charset="-120"/>
              </a:rPr>
              <a:t>Nigeria's leading beauty retail destination</a:t>
            </a:r>
            <a:endParaRPr lang="en-US" sz="850" dirty="0"/>
          </a:p>
        </p:txBody>
      </p:sp>
      <p:sp>
        <p:nvSpPr>
          <p:cNvPr id="26" name="Text 23"/>
          <p:cNvSpPr/>
          <p:nvPr/>
        </p:nvSpPr>
        <p:spPr>
          <a:xfrm>
            <a:off x="4919472" y="3090672"/>
            <a:ext cx="1371600" cy="201168"/>
          </a:xfrm>
          <a:prstGeom prst="rect">
            <a:avLst/>
          </a:prstGeom>
          <a:noFill/>
          <a:ln/>
        </p:spPr>
        <p:txBody>
          <a:bodyPr wrap="square" rtlCol="0" anchor="t"/>
          <a:lstStyle/>
          <a:p>
            <a:pPr algn="l" indent="0" marL="0">
              <a:buNone/>
            </a:pPr>
            <a:r>
              <a:rPr lang="en-US" sz="700" b="1" spc="100" kern="0" dirty="0">
                <a:solidFill>
                  <a:srgbClr val="B8923A"/>
                </a:solidFill>
                <a:latin typeface="Calibri" pitchFamily="34" charset="0"/>
                <a:ea typeface="Calibri" pitchFamily="34" charset="-122"/>
                <a:cs typeface="Calibri" pitchFamily="34" charset="-120"/>
              </a:rPr>
              <a:t>BRAND</a:t>
            </a:r>
            <a:endParaRPr lang="en-US" sz="700" dirty="0"/>
          </a:p>
        </p:txBody>
      </p:sp>
      <p:sp>
        <p:nvSpPr>
          <p:cNvPr id="27" name="Text 24"/>
          <p:cNvSpPr/>
          <p:nvPr/>
        </p:nvSpPr>
        <p:spPr>
          <a:xfrm>
            <a:off x="6382512" y="3090672"/>
            <a:ext cx="2395728" cy="384048"/>
          </a:xfrm>
          <a:prstGeom prst="rect">
            <a:avLst/>
          </a:prstGeom>
          <a:noFill/>
          <a:ln/>
        </p:spPr>
        <p:txBody>
          <a:bodyPr wrap="square" rtlCol="0" anchor="t"/>
          <a:lstStyle/>
          <a:p>
            <a:pPr algn="l" indent="0" marL="0">
              <a:buNone/>
            </a:pPr>
            <a:r>
              <a:rPr lang="en-US" sz="850" dirty="0">
                <a:solidFill>
                  <a:srgbClr val="E0D4BC"/>
                </a:solidFill>
                <a:latin typeface="Calibri" pitchFamily="34" charset="0"/>
                <a:ea typeface="Calibri" pitchFamily="34" charset="-122"/>
                <a:cs typeface="Calibri" pitchFamily="34" charset="-120"/>
              </a:rPr>
              <a:t>L'Oréal Group — global leader in professional beauty</a:t>
            </a:r>
            <a:endParaRPr lang="en-US" sz="850" dirty="0"/>
          </a:p>
        </p:txBody>
      </p:sp>
      <p:sp>
        <p:nvSpPr>
          <p:cNvPr id="28" name="Text 25"/>
          <p:cNvSpPr/>
          <p:nvPr/>
        </p:nvSpPr>
        <p:spPr>
          <a:xfrm>
            <a:off x="4919472" y="3621024"/>
            <a:ext cx="1371600" cy="201168"/>
          </a:xfrm>
          <a:prstGeom prst="rect">
            <a:avLst/>
          </a:prstGeom>
          <a:noFill/>
          <a:ln/>
        </p:spPr>
        <p:txBody>
          <a:bodyPr wrap="square" rtlCol="0" anchor="t"/>
          <a:lstStyle/>
          <a:p>
            <a:pPr algn="l" indent="0" marL="0">
              <a:buNone/>
            </a:pPr>
            <a:r>
              <a:rPr lang="en-US" sz="700" b="1" spc="100" kern="0" dirty="0">
                <a:solidFill>
                  <a:srgbClr val="B8923A"/>
                </a:solidFill>
                <a:latin typeface="Calibri" pitchFamily="34" charset="0"/>
                <a:ea typeface="Calibri" pitchFamily="34" charset="-122"/>
                <a:cs typeface="Calibri" pitchFamily="34" charset="-120"/>
              </a:rPr>
              <a:t>ROLE</a:t>
            </a:r>
            <a:endParaRPr lang="en-US" sz="700" dirty="0"/>
          </a:p>
        </p:txBody>
      </p:sp>
      <p:sp>
        <p:nvSpPr>
          <p:cNvPr id="29" name="Text 26"/>
          <p:cNvSpPr/>
          <p:nvPr/>
        </p:nvSpPr>
        <p:spPr>
          <a:xfrm>
            <a:off x="6382512" y="3621024"/>
            <a:ext cx="2395728" cy="384048"/>
          </a:xfrm>
          <a:prstGeom prst="rect">
            <a:avLst/>
          </a:prstGeom>
          <a:noFill/>
          <a:ln/>
        </p:spPr>
        <p:txBody>
          <a:bodyPr wrap="square" rtlCol="0" anchor="t"/>
          <a:lstStyle/>
          <a:p>
            <a:pPr algn="l" indent="0" marL="0">
              <a:buNone/>
            </a:pPr>
            <a:r>
              <a:rPr lang="en-US" sz="850" dirty="0">
                <a:solidFill>
                  <a:srgbClr val="E0D4BC"/>
                </a:solidFill>
                <a:latin typeface="Calibri" pitchFamily="34" charset="0"/>
                <a:ea typeface="Calibri" pitchFamily="34" charset="-122"/>
                <a:cs typeface="Calibri" pitchFamily="34" charset="-120"/>
              </a:rPr>
              <a:t>Marketing &amp; PR Executive, Beauty Hut Africa</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F1"/>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B8923A"/>
          </a:solidFill>
          <a:ln w="12700">
            <a:solidFill>
              <a:srgbClr val="B8923A"/>
            </a:solidFill>
            <a:prstDash val="solid"/>
          </a:ln>
        </p:spPr>
      </p:sp>
      <p:sp>
        <p:nvSpPr>
          <p:cNvPr id="3" name="Shape 1"/>
          <p:cNvSpPr/>
          <p:nvPr/>
        </p:nvSpPr>
        <p:spPr>
          <a:xfrm>
            <a:off x="0" y="0"/>
            <a:ext cx="502920" cy="5143500"/>
          </a:xfrm>
          <a:prstGeom prst="rect">
            <a:avLst/>
          </a:prstGeom>
          <a:solidFill>
            <a:srgbClr val="9E4F6B"/>
          </a:solidFill>
          <a:ln w="12700">
            <a:solidFill>
              <a:srgbClr val="9E4F6B"/>
            </a:solidFill>
            <a:prstDash val="solid"/>
          </a:ln>
        </p:spPr>
      </p:sp>
      <p:pic>
        <p:nvPicPr>
          <p:cNvPr id="4" name="Image 0" descr="preencoded.png">    </p:cNvPr>
          <p:cNvPicPr>
            <a:picLocks noChangeAspect="1"/>
          </p:cNvPicPr>
          <p:nvPr/>
        </p:nvPicPr>
        <p:blipFill>
          <a:blip r:embed="rId1"/>
          <a:stretch>
            <a:fillRect/>
          </a:stretch>
        </p:blipFill>
        <p:spPr>
          <a:xfrm>
            <a:off x="658368" y="109728"/>
            <a:ext cx="1280160" cy="411480"/>
          </a:xfrm>
          <a:prstGeom prst="rect">
            <a:avLst/>
          </a:prstGeom>
        </p:spPr>
      </p:pic>
      <p:sp>
        <p:nvSpPr>
          <p:cNvPr id="5" name="Text 2"/>
          <p:cNvSpPr/>
          <p:nvPr/>
        </p:nvSpPr>
        <p:spPr>
          <a:xfrm>
            <a:off x="658368" y="128016"/>
            <a:ext cx="8229600" cy="237744"/>
          </a:xfrm>
          <a:prstGeom prst="rect">
            <a:avLst/>
          </a:prstGeom>
          <a:noFill/>
          <a:ln/>
        </p:spPr>
        <p:txBody>
          <a:bodyPr wrap="square" rtlCol="0" anchor="t"/>
          <a:lstStyle/>
          <a:p>
            <a:pPr algn="l" indent="0" marL="0">
              <a:buNone/>
            </a:pPr>
            <a:r>
              <a:rPr lang="en-US" sz="1100" b="1" dirty="0">
                <a:solidFill>
                  <a:srgbClr val="9E4F6B"/>
                </a:solidFill>
                <a:latin typeface="Georgia" pitchFamily="34" charset="0"/>
                <a:ea typeface="Georgia" pitchFamily="34" charset="-122"/>
                <a:cs typeface="Georgia" pitchFamily="34" charset="-120"/>
              </a:rPr>
              <a:t>Strategic Partnerships</a:t>
            </a:r>
            <a:endParaRPr lang="en-US" sz="1100" dirty="0"/>
          </a:p>
        </p:txBody>
      </p:sp>
      <p:sp>
        <p:nvSpPr>
          <p:cNvPr id="6" name="Shape 3"/>
          <p:cNvSpPr/>
          <p:nvPr/>
        </p:nvSpPr>
        <p:spPr>
          <a:xfrm>
            <a:off x="0" y="4873752"/>
            <a:ext cx="9144000" cy="269748"/>
          </a:xfrm>
          <a:prstGeom prst="rect">
            <a:avLst/>
          </a:prstGeom>
          <a:solidFill>
            <a:srgbClr val="7A3B53"/>
          </a:solidFill>
          <a:ln w="12700">
            <a:solidFill>
              <a:srgbClr val="7A3B53"/>
            </a:solidFill>
            <a:prstDash val="solid"/>
          </a:ln>
        </p:spPr>
      </p:sp>
      <p:sp>
        <p:nvSpPr>
          <p:cNvPr id="7" name="Text 4"/>
          <p:cNvSpPr/>
          <p:nvPr/>
        </p:nvSpPr>
        <p:spPr>
          <a:xfrm>
            <a:off x="0" y="4878324"/>
            <a:ext cx="9144000" cy="256032"/>
          </a:xfrm>
          <a:prstGeom prst="rect">
            <a:avLst/>
          </a:prstGeom>
          <a:noFill/>
          <a:ln/>
        </p:spPr>
        <p:txBody>
          <a:bodyPr wrap="square" rtlCol="0" anchor="ctr"/>
          <a:lstStyle/>
          <a:p>
            <a:pPr algn="ctr" indent="0" marL="0">
              <a:buNone/>
            </a:pPr>
            <a:r>
              <a:rPr lang="en-US" sz="700" spc="150" kern="0" dirty="0">
                <a:solidFill>
                  <a:srgbClr val="E0D4BC"/>
                </a:solidFill>
                <a:latin typeface="Calibri" pitchFamily="34" charset="0"/>
                <a:ea typeface="Calibri" pitchFamily="34" charset="-122"/>
                <a:cs typeface="Calibri" pitchFamily="34" charset="-120"/>
              </a:rPr>
              <a:t>marktn PR  ·  Onyeka Nwonah  ·  Lagos, Nigeria  ·  Perception is Different</a:t>
            </a:r>
            <a:endParaRPr lang="en-US" sz="700" dirty="0"/>
          </a:p>
        </p:txBody>
      </p:sp>
      <p:sp>
        <p:nvSpPr>
          <p:cNvPr id="8" name="Shape 5"/>
          <p:cNvSpPr/>
          <p:nvPr/>
        </p:nvSpPr>
        <p:spPr>
          <a:xfrm>
            <a:off x="502920" y="384048"/>
            <a:ext cx="8641080" cy="2487168"/>
          </a:xfrm>
          <a:prstGeom prst="rect">
            <a:avLst/>
          </a:prstGeom>
          <a:solidFill>
            <a:srgbClr val="F0E8E0"/>
          </a:solidFill>
          <a:ln w="12700">
            <a:solidFill>
              <a:srgbClr val="E8DDD5"/>
            </a:solidFill>
            <a:prstDash val="solid"/>
          </a:ln>
        </p:spPr>
      </p:sp>
      <p:sp>
        <p:nvSpPr>
          <p:cNvPr id="9" name="Shape 6"/>
          <p:cNvSpPr/>
          <p:nvPr/>
        </p:nvSpPr>
        <p:spPr>
          <a:xfrm>
            <a:off x="502920" y="384048"/>
            <a:ext cx="8641080" cy="54864"/>
          </a:xfrm>
          <a:prstGeom prst="rect">
            <a:avLst/>
          </a:prstGeom>
          <a:solidFill>
            <a:srgbClr val="B8923A"/>
          </a:solidFill>
          <a:ln w="12700">
            <a:solidFill>
              <a:srgbClr val="B8923A"/>
            </a:solidFill>
            <a:prstDash val="solid"/>
          </a:ln>
        </p:spPr>
      </p:sp>
      <p:sp>
        <p:nvSpPr>
          <p:cNvPr id="10" name="Text 7"/>
          <p:cNvSpPr/>
          <p:nvPr/>
        </p:nvSpPr>
        <p:spPr>
          <a:xfrm>
            <a:off x="658368" y="512064"/>
            <a:ext cx="5029200" cy="566928"/>
          </a:xfrm>
          <a:prstGeom prst="rect">
            <a:avLst/>
          </a:prstGeom>
          <a:noFill/>
          <a:ln/>
        </p:spPr>
        <p:txBody>
          <a:bodyPr wrap="square" rtlCol="0" anchor="t"/>
          <a:lstStyle/>
          <a:p>
            <a:pPr algn="l" indent="0" marL="0">
              <a:buNone/>
            </a:pPr>
            <a:r>
              <a:rPr lang="en-US" sz="2600" i="1" dirty="0">
                <a:solidFill>
                  <a:srgbClr val="7A3B53"/>
                </a:solidFill>
                <a:latin typeface="Georgia" pitchFamily="34" charset="0"/>
                <a:ea typeface="Georgia" pitchFamily="34" charset="-122"/>
                <a:cs typeface="Georgia" pitchFamily="34" charset="-120"/>
              </a:rPr>
              <a:t>I Said What I Said</a:t>
            </a:r>
            <a:endParaRPr lang="en-US" sz="2600" dirty="0"/>
          </a:p>
        </p:txBody>
      </p:sp>
      <p:sp>
        <p:nvSpPr>
          <p:cNvPr id="11" name="Text 8"/>
          <p:cNvSpPr/>
          <p:nvPr/>
        </p:nvSpPr>
        <p:spPr>
          <a:xfrm>
            <a:off x="658368" y="1133856"/>
            <a:ext cx="5029200" cy="201168"/>
          </a:xfrm>
          <a:prstGeom prst="rect">
            <a:avLst/>
          </a:prstGeom>
          <a:noFill/>
          <a:ln/>
        </p:spPr>
        <p:txBody>
          <a:bodyPr wrap="square" rtlCol="0" anchor="t"/>
          <a:lstStyle/>
          <a:p>
            <a:pPr algn="l" indent="0" marL="0">
              <a:buNone/>
            </a:pPr>
            <a:r>
              <a:rPr lang="en-US" sz="850" spc="50" kern="0" dirty="0">
                <a:solidFill>
                  <a:srgbClr val="C47A93"/>
                </a:solidFill>
                <a:latin typeface="Calibri" pitchFamily="34" charset="0"/>
                <a:ea typeface="Calibri" pitchFamily="34" charset="-122"/>
                <a:cs typeface="Calibri" pitchFamily="34" charset="-120"/>
              </a:rPr>
              <a:t>ISWIS × Beguile by Omaa  ·  Africa's #1 Independent Podcast</a:t>
            </a:r>
            <a:endParaRPr lang="en-US" sz="850" dirty="0"/>
          </a:p>
        </p:txBody>
      </p:sp>
      <p:sp>
        <p:nvSpPr>
          <p:cNvPr id="12" name="Shape 9"/>
          <p:cNvSpPr/>
          <p:nvPr/>
        </p:nvSpPr>
        <p:spPr>
          <a:xfrm>
            <a:off x="658368" y="1389888"/>
            <a:ext cx="5029200" cy="0"/>
          </a:xfrm>
          <a:prstGeom prst="line">
            <a:avLst/>
          </a:prstGeom>
          <a:noFill/>
          <a:ln w="10160">
            <a:solidFill>
              <a:srgbClr val="B8923A"/>
            </a:solidFill>
            <a:prstDash val="solid"/>
          </a:ln>
        </p:spPr>
      </p:sp>
      <p:sp>
        <p:nvSpPr>
          <p:cNvPr id="13" name="Text 10"/>
          <p:cNvSpPr/>
          <p:nvPr/>
        </p:nvSpPr>
        <p:spPr>
          <a:xfrm>
            <a:off x="658368" y="1499616"/>
            <a:ext cx="5029200" cy="1078992"/>
          </a:xfrm>
          <a:prstGeom prst="rect">
            <a:avLst/>
          </a:prstGeom>
          <a:noFill/>
          <a:ln/>
        </p:spPr>
        <p:txBody>
          <a:bodyPr wrap="square" rtlCol="0" anchor="t"/>
          <a:lstStyle/>
          <a:p>
            <a:pPr algn="l" indent="0" marL="0">
              <a:buNone/>
            </a:pPr>
            <a:r>
              <a:rPr lang="en-US" sz="950" dirty="0">
                <a:solidFill>
                  <a:srgbClr val="8A7A82"/>
                </a:solidFill>
                <a:latin typeface="Calibri" pitchFamily="34" charset="0"/>
                <a:ea typeface="Calibri" pitchFamily="34" charset="-122"/>
                <a:cs typeface="Calibri" pitchFamily="34" charset="-120"/>
              </a:rPr>
              <a:t>Secured and managed Beguile by Omaa's sponsorship with ISWIS — Africa's most successful independent podcast, hosted by Jola Ayeye and FK Abudu. Dedicated discount code (ISWIS55), product placement within episodes, and branded mentions alongside Nollywood's Teniola Aladese. A precision cultural placement — not a mass media buy.</a:t>
            </a:r>
            <a:endParaRPr lang="en-US" sz="950" dirty="0"/>
          </a:p>
        </p:txBody>
      </p:sp>
      <p:sp>
        <p:nvSpPr>
          <p:cNvPr id="14" name="Shape 11"/>
          <p:cNvSpPr/>
          <p:nvPr/>
        </p:nvSpPr>
        <p:spPr>
          <a:xfrm>
            <a:off x="5577840" y="566928"/>
            <a:ext cx="1572768" cy="987552"/>
          </a:xfrm>
          <a:prstGeom prst="rect">
            <a:avLst/>
          </a:prstGeom>
          <a:solidFill>
            <a:srgbClr val="9E4F6B"/>
          </a:solidFill>
          <a:ln w="12700">
            <a:solidFill>
              <a:srgbClr val="9E4F6B"/>
            </a:solidFill>
            <a:prstDash val="solid"/>
          </a:ln>
        </p:spPr>
      </p:sp>
      <p:sp>
        <p:nvSpPr>
          <p:cNvPr id="15" name="Shape 12"/>
          <p:cNvSpPr/>
          <p:nvPr/>
        </p:nvSpPr>
        <p:spPr>
          <a:xfrm>
            <a:off x="5577840" y="566928"/>
            <a:ext cx="1572768" cy="54864"/>
          </a:xfrm>
          <a:prstGeom prst="rect">
            <a:avLst/>
          </a:prstGeom>
          <a:solidFill>
            <a:srgbClr val="B8923A"/>
          </a:solidFill>
          <a:ln w="12700">
            <a:solidFill>
              <a:srgbClr val="B8923A"/>
            </a:solidFill>
            <a:prstDash val="solid"/>
          </a:ln>
        </p:spPr>
      </p:sp>
      <p:sp>
        <p:nvSpPr>
          <p:cNvPr id="16" name="Text 13"/>
          <p:cNvSpPr/>
          <p:nvPr/>
        </p:nvSpPr>
        <p:spPr>
          <a:xfrm>
            <a:off x="5577840" y="658368"/>
            <a:ext cx="1572768" cy="475488"/>
          </a:xfrm>
          <a:prstGeom prst="rect">
            <a:avLst/>
          </a:prstGeom>
          <a:noFill/>
          <a:ln/>
        </p:spPr>
        <p:txBody>
          <a:bodyPr wrap="square" rtlCol="0" anchor="t"/>
          <a:lstStyle/>
          <a:p>
            <a:pPr algn="ctr" indent="0" marL="0">
              <a:buNone/>
            </a:pPr>
            <a:r>
              <a:rPr lang="en-US" sz="1400" b="1" dirty="0">
                <a:solidFill>
                  <a:srgbClr val="F5EFE0"/>
                </a:solidFill>
                <a:latin typeface="Georgia" pitchFamily="34" charset="0"/>
                <a:ea typeface="Georgia" pitchFamily="34" charset="-122"/>
                <a:cs typeface="Georgia" pitchFamily="34" charset="-120"/>
              </a:rPr>
              <a:t>190K+</a:t>
            </a:r>
            <a:endParaRPr lang="en-US" sz="1400" dirty="0"/>
          </a:p>
        </p:txBody>
      </p:sp>
      <p:sp>
        <p:nvSpPr>
          <p:cNvPr id="17" name="Text 14"/>
          <p:cNvSpPr/>
          <p:nvPr/>
        </p:nvSpPr>
        <p:spPr>
          <a:xfrm>
            <a:off x="5577840" y="1170432"/>
            <a:ext cx="1572768" cy="292608"/>
          </a:xfrm>
          <a:prstGeom prst="rect">
            <a:avLst/>
          </a:prstGeom>
          <a:noFill/>
          <a:ln/>
        </p:spPr>
        <p:txBody>
          <a:bodyPr wrap="square" rtlCol="0" anchor="t"/>
          <a:lstStyle/>
          <a:p>
            <a:pPr algn="ctr" indent="0" marL="0">
              <a:buNone/>
            </a:pPr>
            <a:r>
              <a:rPr lang="en-US" sz="700" dirty="0">
                <a:solidFill>
                  <a:srgbClr val="E0D4BC"/>
                </a:solidFill>
                <a:latin typeface="Calibri" pitchFamily="34" charset="0"/>
                <a:ea typeface="Calibri" pitchFamily="34" charset="-122"/>
                <a:cs typeface="Calibri" pitchFamily="34" charset="-120"/>
              </a:rPr>
              <a:t>ISWIS Instagram</a:t>
            </a:r>
            <a:endParaRPr lang="en-US" sz="700" dirty="0"/>
          </a:p>
        </p:txBody>
      </p:sp>
      <p:sp>
        <p:nvSpPr>
          <p:cNvPr id="18" name="Shape 15"/>
          <p:cNvSpPr/>
          <p:nvPr/>
        </p:nvSpPr>
        <p:spPr>
          <a:xfrm>
            <a:off x="7296912" y="566928"/>
            <a:ext cx="1572768" cy="987552"/>
          </a:xfrm>
          <a:prstGeom prst="rect">
            <a:avLst/>
          </a:prstGeom>
          <a:solidFill>
            <a:srgbClr val="9E4F6B"/>
          </a:solidFill>
          <a:ln w="12700">
            <a:solidFill>
              <a:srgbClr val="9E4F6B"/>
            </a:solidFill>
            <a:prstDash val="solid"/>
          </a:ln>
        </p:spPr>
      </p:sp>
      <p:sp>
        <p:nvSpPr>
          <p:cNvPr id="19" name="Shape 16"/>
          <p:cNvSpPr/>
          <p:nvPr/>
        </p:nvSpPr>
        <p:spPr>
          <a:xfrm>
            <a:off x="7296912" y="566928"/>
            <a:ext cx="1572768" cy="54864"/>
          </a:xfrm>
          <a:prstGeom prst="rect">
            <a:avLst/>
          </a:prstGeom>
          <a:solidFill>
            <a:srgbClr val="B8923A"/>
          </a:solidFill>
          <a:ln w="12700">
            <a:solidFill>
              <a:srgbClr val="B8923A"/>
            </a:solidFill>
            <a:prstDash val="solid"/>
          </a:ln>
        </p:spPr>
      </p:sp>
      <p:sp>
        <p:nvSpPr>
          <p:cNvPr id="20" name="Text 17"/>
          <p:cNvSpPr/>
          <p:nvPr/>
        </p:nvSpPr>
        <p:spPr>
          <a:xfrm>
            <a:off x="7296912" y="658368"/>
            <a:ext cx="1572768" cy="475488"/>
          </a:xfrm>
          <a:prstGeom prst="rect">
            <a:avLst/>
          </a:prstGeom>
          <a:noFill/>
          <a:ln/>
        </p:spPr>
        <p:txBody>
          <a:bodyPr wrap="square" rtlCol="0" anchor="t"/>
          <a:lstStyle/>
          <a:p>
            <a:pPr algn="ctr" indent="0" marL="0">
              <a:buNone/>
            </a:pPr>
            <a:r>
              <a:rPr lang="en-US" sz="1400" b="1" dirty="0">
                <a:solidFill>
                  <a:srgbClr val="F5EFE0"/>
                </a:solidFill>
                <a:latin typeface="Georgia" pitchFamily="34" charset="0"/>
                <a:ea typeface="Georgia" pitchFamily="34" charset="-122"/>
                <a:cs typeface="Georgia" pitchFamily="34" charset="-120"/>
              </a:rPr>
              <a:t>Africa #1</a:t>
            </a:r>
            <a:endParaRPr lang="en-US" sz="1400" dirty="0"/>
          </a:p>
        </p:txBody>
      </p:sp>
      <p:sp>
        <p:nvSpPr>
          <p:cNvPr id="21" name="Text 18"/>
          <p:cNvSpPr/>
          <p:nvPr/>
        </p:nvSpPr>
        <p:spPr>
          <a:xfrm>
            <a:off x="7296912" y="1170432"/>
            <a:ext cx="1572768" cy="292608"/>
          </a:xfrm>
          <a:prstGeom prst="rect">
            <a:avLst/>
          </a:prstGeom>
          <a:noFill/>
          <a:ln/>
        </p:spPr>
        <p:txBody>
          <a:bodyPr wrap="square" rtlCol="0" anchor="t"/>
          <a:lstStyle/>
          <a:p>
            <a:pPr algn="ctr" indent="0" marL="0">
              <a:buNone/>
            </a:pPr>
            <a:r>
              <a:rPr lang="en-US" sz="700" dirty="0">
                <a:solidFill>
                  <a:srgbClr val="E0D4BC"/>
                </a:solidFill>
                <a:latin typeface="Calibri" pitchFamily="34" charset="0"/>
                <a:ea typeface="Calibri" pitchFamily="34" charset="-122"/>
                <a:cs typeface="Calibri" pitchFamily="34" charset="-120"/>
              </a:rPr>
              <a:t>Podcast</a:t>
            </a:r>
            <a:endParaRPr lang="en-US" sz="700" dirty="0"/>
          </a:p>
        </p:txBody>
      </p:sp>
      <p:sp>
        <p:nvSpPr>
          <p:cNvPr id="22" name="Shape 19"/>
          <p:cNvSpPr/>
          <p:nvPr/>
        </p:nvSpPr>
        <p:spPr>
          <a:xfrm>
            <a:off x="5577840" y="1719072"/>
            <a:ext cx="1572768" cy="987552"/>
          </a:xfrm>
          <a:prstGeom prst="rect">
            <a:avLst/>
          </a:prstGeom>
          <a:solidFill>
            <a:srgbClr val="9E4F6B"/>
          </a:solidFill>
          <a:ln w="12700">
            <a:solidFill>
              <a:srgbClr val="9E4F6B"/>
            </a:solidFill>
            <a:prstDash val="solid"/>
          </a:ln>
        </p:spPr>
      </p:sp>
      <p:sp>
        <p:nvSpPr>
          <p:cNvPr id="23" name="Shape 20"/>
          <p:cNvSpPr/>
          <p:nvPr/>
        </p:nvSpPr>
        <p:spPr>
          <a:xfrm>
            <a:off x="5577840" y="1719072"/>
            <a:ext cx="1572768" cy="54864"/>
          </a:xfrm>
          <a:prstGeom prst="rect">
            <a:avLst/>
          </a:prstGeom>
          <a:solidFill>
            <a:srgbClr val="B8923A"/>
          </a:solidFill>
          <a:ln w="12700">
            <a:solidFill>
              <a:srgbClr val="B8923A"/>
            </a:solidFill>
            <a:prstDash val="solid"/>
          </a:ln>
        </p:spPr>
      </p:sp>
      <p:sp>
        <p:nvSpPr>
          <p:cNvPr id="24" name="Text 21"/>
          <p:cNvSpPr/>
          <p:nvPr/>
        </p:nvSpPr>
        <p:spPr>
          <a:xfrm>
            <a:off x="5577840" y="1810512"/>
            <a:ext cx="1572768" cy="475488"/>
          </a:xfrm>
          <a:prstGeom prst="rect">
            <a:avLst/>
          </a:prstGeom>
          <a:noFill/>
          <a:ln/>
        </p:spPr>
        <p:txBody>
          <a:bodyPr wrap="square" rtlCol="0" anchor="t"/>
          <a:lstStyle/>
          <a:p>
            <a:pPr algn="ctr" indent="0" marL="0">
              <a:buNone/>
            </a:pPr>
            <a:r>
              <a:rPr lang="en-US" sz="1400" b="1" dirty="0">
                <a:solidFill>
                  <a:srgbClr val="F5EFE0"/>
                </a:solidFill>
                <a:latin typeface="Georgia" pitchFamily="34" charset="0"/>
                <a:ea typeface="Georgia" pitchFamily="34" charset="-122"/>
                <a:cs typeface="Georgia" pitchFamily="34" charset="-120"/>
              </a:rPr>
              <a:t>ISWIS55</a:t>
            </a:r>
            <a:endParaRPr lang="en-US" sz="1400" dirty="0"/>
          </a:p>
        </p:txBody>
      </p:sp>
      <p:sp>
        <p:nvSpPr>
          <p:cNvPr id="25" name="Text 22"/>
          <p:cNvSpPr/>
          <p:nvPr/>
        </p:nvSpPr>
        <p:spPr>
          <a:xfrm>
            <a:off x="5577840" y="2322576"/>
            <a:ext cx="1572768" cy="292608"/>
          </a:xfrm>
          <a:prstGeom prst="rect">
            <a:avLst/>
          </a:prstGeom>
          <a:noFill/>
          <a:ln/>
        </p:spPr>
        <p:txBody>
          <a:bodyPr wrap="square" rtlCol="0" anchor="t"/>
          <a:lstStyle/>
          <a:p>
            <a:pPr algn="ctr" indent="0" marL="0">
              <a:buNone/>
            </a:pPr>
            <a:r>
              <a:rPr lang="en-US" sz="700" dirty="0">
                <a:solidFill>
                  <a:srgbClr val="E0D4BC"/>
                </a:solidFill>
                <a:latin typeface="Calibri" pitchFamily="34" charset="0"/>
                <a:ea typeface="Calibri" pitchFamily="34" charset="-122"/>
                <a:cs typeface="Calibri" pitchFamily="34" charset="-120"/>
              </a:rPr>
              <a:t>Code</a:t>
            </a:r>
            <a:endParaRPr lang="en-US" sz="700" dirty="0"/>
          </a:p>
        </p:txBody>
      </p:sp>
      <p:sp>
        <p:nvSpPr>
          <p:cNvPr id="26" name="Shape 23"/>
          <p:cNvSpPr/>
          <p:nvPr/>
        </p:nvSpPr>
        <p:spPr>
          <a:xfrm>
            <a:off x="7296912" y="1719072"/>
            <a:ext cx="1572768" cy="987552"/>
          </a:xfrm>
          <a:prstGeom prst="rect">
            <a:avLst/>
          </a:prstGeom>
          <a:solidFill>
            <a:srgbClr val="9E4F6B"/>
          </a:solidFill>
          <a:ln w="12700">
            <a:solidFill>
              <a:srgbClr val="9E4F6B"/>
            </a:solidFill>
            <a:prstDash val="solid"/>
          </a:ln>
        </p:spPr>
      </p:sp>
      <p:sp>
        <p:nvSpPr>
          <p:cNvPr id="27" name="Shape 24"/>
          <p:cNvSpPr/>
          <p:nvPr/>
        </p:nvSpPr>
        <p:spPr>
          <a:xfrm>
            <a:off x="7296912" y="1719072"/>
            <a:ext cx="1572768" cy="54864"/>
          </a:xfrm>
          <a:prstGeom prst="rect">
            <a:avLst/>
          </a:prstGeom>
          <a:solidFill>
            <a:srgbClr val="B8923A"/>
          </a:solidFill>
          <a:ln w="12700">
            <a:solidFill>
              <a:srgbClr val="B8923A"/>
            </a:solidFill>
            <a:prstDash val="solid"/>
          </a:ln>
        </p:spPr>
      </p:sp>
      <p:sp>
        <p:nvSpPr>
          <p:cNvPr id="28" name="Text 25"/>
          <p:cNvSpPr/>
          <p:nvPr/>
        </p:nvSpPr>
        <p:spPr>
          <a:xfrm>
            <a:off x="7296912" y="1810512"/>
            <a:ext cx="1572768" cy="475488"/>
          </a:xfrm>
          <a:prstGeom prst="rect">
            <a:avLst/>
          </a:prstGeom>
          <a:noFill/>
          <a:ln/>
        </p:spPr>
        <p:txBody>
          <a:bodyPr wrap="square" rtlCol="0" anchor="t"/>
          <a:lstStyle/>
          <a:p>
            <a:pPr algn="ctr" indent="0" marL="0">
              <a:buNone/>
            </a:pPr>
            <a:r>
              <a:rPr lang="en-US" sz="1400" b="1" dirty="0">
                <a:solidFill>
                  <a:srgbClr val="F5EFE0"/>
                </a:solidFill>
                <a:latin typeface="Georgia" pitchFamily="34" charset="0"/>
                <a:ea typeface="Georgia" pitchFamily="34" charset="-122"/>
                <a:cs typeface="Georgia" pitchFamily="34" charset="-120"/>
              </a:rPr>
              <a:t>7 Cities</a:t>
            </a:r>
            <a:endParaRPr lang="en-US" sz="1400" dirty="0"/>
          </a:p>
        </p:txBody>
      </p:sp>
      <p:sp>
        <p:nvSpPr>
          <p:cNvPr id="29" name="Text 26"/>
          <p:cNvSpPr/>
          <p:nvPr/>
        </p:nvSpPr>
        <p:spPr>
          <a:xfrm>
            <a:off x="7296912" y="2322576"/>
            <a:ext cx="1572768" cy="292608"/>
          </a:xfrm>
          <a:prstGeom prst="rect">
            <a:avLst/>
          </a:prstGeom>
          <a:noFill/>
          <a:ln/>
        </p:spPr>
        <p:txBody>
          <a:bodyPr wrap="square" rtlCol="0" anchor="t"/>
          <a:lstStyle/>
          <a:p>
            <a:pPr algn="ctr" indent="0" marL="0">
              <a:buNone/>
            </a:pPr>
            <a:r>
              <a:rPr lang="en-US" sz="700" dirty="0">
                <a:solidFill>
                  <a:srgbClr val="E0D4BC"/>
                </a:solidFill>
                <a:latin typeface="Calibri" pitchFamily="34" charset="0"/>
                <a:ea typeface="Calibri" pitchFamily="34" charset="-122"/>
                <a:cs typeface="Calibri" pitchFamily="34" charset="-120"/>
              </a:rPr>
              <a:t>Live Shows</a:t>
            </a:r>
            <a:endParaRPr lang="en-US" sz="700" dirty="0"/>
          </a:p>
        </p:txBody>
      </p:sp>
      <p:sp>
        <p:nvSpPr>
          <p:cNvPr id="30" name="Text 27"/>
          <p:cNvSpPr/>
          <p:nvPr/>
        </p:nvSpPr>
        <p:spPr>
          <a:xfrm>
            <a:off x="658368" y="2944368"/>
            <a:ext cx="8229600" cy="256032"/>
          </a:xfrm>
          <a:prstGeom prst="rect">
            <a:avLst/>
          </a:prstGeom>
          <a:noFill/>
          <a:ln/>
        </p:spPr>
        <p:txBody>
          <a:bodyPr wrap="square" rtlCol="0" anchor="t"/>
          <a:lstStyle/>
          <a:p>
            <a:pPr algn="l" indent="0" marL="0">
              <a:buNone/>
            </a:pPr>
            <a:r>
              <a:rPr lang="en-US" sz="1100" b="1" dirty="0">
                <a:solidFill>
                  <a:srgbClr val="9E4F6B"/>
                </a:solidFill>
                <a:latin typeface="Georgia" pitchFamily="34" charset="0"/>
                <a:ea typeface="Georgia" pitchFamily="34" charset="-122"/>
                <a:cs typeface="Georgia" pitchFamily="34" charset="-120"/>
              </a:rPr>
              <a:t>KEY PARTNERSHIPS</a:t>
            </a:r>
            <a:endParaRPr lang="en-US" sz="1100" dirty="0"/>
          </a:p>
        </p:txBody>
      </p:sp>
      <p:sp>
        <p:nvSpPr>
          <p:cNvPr id="31" name="Shape 28"/>
          <p:cNvSpPr/>
          <p:nvPr/>
        </p:nvSpPr>
        <p:spPr>
          <a:xfrm>
            <a:off x="502920" y="3236976"/>
            <a:ext cx="1664208" cy="1591056"/>
          </a:xfrm>
          <a:prstGeom prst="rect">
            <a:avLst/>
          </a:prstGeom>
          <a:solidFill>
            <a:srgbClr val="FFFFFF"/>
          </a:solidFill>
          <a:ln w="12700">
            <a:solidFill>
              <a:srgbClr val="E8DDD5"/>
            </a:solidFill>
            <a:prstDash val="solid"/>
          </a:ln>
        </p:spPr>
      </p:sp>
      <p:sp>
        <p:nvSpPr>
          <p:cNvPr id="32" name="Shape 29"/>
          <p:cNvSpPr/>
          <p:nvPr/>
        </p:nvSpPr>
        <p:spPr>
          <a:xfrm>
            <a:off x="502920" y="3236976"/>
            <a:ext cx="1664208" cy="54864"/>
          </a:xfrm>
          <a:prstGeom prst="rect">
            <a:avLst/>
          </a:prstGeom>
          <a:solidFill>
            <a:srgbClr val="9E4F6B"/>
          </a:solidFill>
          <a:ln w="12700">
            <a:solidFill>
              <a:srgbClr val="9E4F6B"/>
            </a:solidFill>
            <a:prstDash val="solid"/>
          </a:ln>
        </p:spPr>
      </p:sp>
      <p:sp>
        <p:nvSpPr>
          <p:cNvPr id="33" name="Text 30"/>
          <p:cNvSpPr/>
          <p:nvPr/>
        </p:nvSpPr>
        <p:spPr>
          <a:xfrm>
            <a:off x="594360" y="3346704"/>
            <a:ext cx="1481328" cy="182880"/>
          </a:xfrm>
          <a:prstGeom prst="rect">
            <a:avLst/>
          </a:prstGeom>
          <a:noFill/>
          <a:ln/>
        </p:spPr>
        <p:txBody>
          <a:bodyPr wrap="square" rtlCol="0" anchor="t"/>
          <a:lstStyle/>
          <a:p>
            <a:pPr algn="l" indent="0" marL="0">
              <a:buNone/>
            </a:pPr>
            <a:r>
              <a:rPr lang="en-US" sz="600" b="1" spc="100" kern="0" dirty="0">
                <a:solidFill>
                  <a:srgbClr val="9E4F6B"/>
                </a:solidFill>
                <a:latin typeface="Calibri" pitchFamily="34" charset="0"/>
                <a:ea typeface="Calibri" pitchFamily="34" charset="-122"/>
                <a:cs typeface="Calibri" pitchFamily="34" charset="-120"/>
              </a:rPr>
              <a:t>LVMH</a:t>
            </a:r>
            <a:endParaRPr lang="en-US" sz="600" dirty="0"/>
          </a:p>
        </p:txBody>
      </p:sp>
      <p:sp>
        <p:nvSpPr>
          <p:cNvPr id="34" name="Text 31"/>
          <p:cNvSpPr/>
          <p:nvPr/>
        </p:nvSpPr>
        <p:spPr>
          <a:xfrm>
            <a:off x="594360" y="3529584"/>
            <a:ext cx="1481328" cy="274320"/>
          </a:xfrm>
          <a:prstGeom prst="rect">
            <a:avLst/>
          </a:prstGeom>
          <a:noFill/>
          <a:ln/>
        </p:spPr>
        <p:txBody>
          <a:bodyPr wrap="square" rtlCol="0" anchor="t"/>
          <a:lstStyle/>
          <a:p>
            <a:pPr algn="l" indent="0" marL="0">
              <a:buNone/>
            </a:pPr>
            <a:r>
              <a:rPr lang="en-US" sz="850" b="1" dirty="0">
                <a:solidFill>
                  <a:srgbClr val="100810"/>
                </a:solidFill>
                <a:latin typeface="Calibri" pitchFamily="34" charset="0"/>
                <a:ea typeface="Calibri" pitchFamily="34" charset="-122"/>
                <a:cs typeface="Calibri" pitchFamily="34" charset="-120"/>
              </a:rPr>
              <a:t>Hennessy · Veuve Clicquot</a:t>
            </a:r>
            <a:endParaRPr lang="en-US" sz="850" dirty="0"/>
          </a:p>
        </p:txBody>
      </p:sp>
      <p:sp>
        <p:nvSpPr>
          <p:cNvPr id="35" name="Text 32"/>
          <p:cNvSpPr/>
          <p:nvPr/>
        </p:nvSpPr>
        <p:spPr>
          <a:xfrm>
            <a:off x="594360" y="3822192"/>
            <a:ext cx="1481328" cy="932688"/>
          </a:xfrm>
          <a:prstGeom prst="rect">
            <a:avLst/>
          </a:prstGeom>
          <a:noFill/>
          <a:ln/>
        </p:spPr>
        <p:txBody>
          <a:bodyPr wrap="square" rtlCol="0" anchor="t"/>
          <a:lstStyle/>
          <a:p>
            <a:pPr algn="l" indent="0" marL="0">
              <a:buNone/>
            </a:pPr>
            <a:r>
              <a:rPr lang="en-US" sz="750" dirty="0">
                <a:solidFill>
                  <a:srgbClr val="8A7A82"/>
                </a:solidFill>
                <a:latin typeface="Calibri" pitchFamily="34" charset="0"/>
                <a:ea typeface="Calibri" pitchFamily="34" charset="-122"/>
                <a:cs typeface="Calibri" pitchFamily="34" charset="-120"/>
              </a:rPr>
              <a:t>Hennessy In The Paint (200 guests). Veuve Clicquot × 3 Polo Tournament weekends.</a:t>
            </a:r>
            <a:endParaRPr lang="en-US" sz="750" dirty="0"/>
          </a:p>
        </p:txBody>
      </p:sp>
      <p:sp>
        <p:nvSpPr>
          <p:cNvPr id="36" name="Shape 33"/>
          <p:cNvSpPr/>
          <p:nvPr/>
        </p:nvSpPr>
        <p:spPr>
          <a:xfrm>
            <a:off x="2231136" y="3236976"/>
            <a:ext cx="1664208" cy="1591056"/>
          </a:xfrm>
          <a:prstGeom prst="rect">
            <a:avLst/>
          </a:prstGeom>
          <a:solidFill>
            <a:srgbClr val="FFFFFF"/>
          </a:solidFill>
          <a:ln w="12700">
            <a:solidFill>
              <a:srgbClr val="E8DDD5"/>
            </a:solidFill>
            <a:prstDash val="solid"/>
          </a:ln>
        </p:spPr>
      </p:sp>
      <p:sp>
        <p:nvSpPr>
          <p:cNvPr id="37" name="Shape 34"/>
          <p:cNvSpPr/>
          <p:nvPr/>
        </p:nvSpPr>
        <p:spPr>
          <a:xfrm>
            <a:off x="2231136" y="3236976"/>
            <a:ext cx="1664208" cy="54864"/>
          </a:xfrm>
          <a:prstGeom prst="rect">
            <a:avLst/>
          </a:prstGeom>
          <a:solidFill>
            <a:srgbClr val="9E4F6B"/>
          </a:solidFill>
          <a:ln w="12700">
            <a:solidFill>
              <a:srgbClr val="9E4F6B"/>
            </a:solidFill>
            <a:prstDash val="solid"/>
          </a:ln>
        </p:spPr>
      </p:sp>
      <p:sp>
        <p:nvSpPr>
          <p:cNvPr id="38" name="Text 35"/>
          <p:cNvSpPr/>
          <p:nvPr/>
        </p:nvSpPr>
        <p:spPr>
          <a:xfrm>
            <a:off x="2322576" y="3346704"/>
            <a:ext cx="1481328" cy="182880"/>
          </a:xfrm>
          <a:prstGeom prst="rect">
            <a:avLst/>
          </a:prstGeom>
          <a:noFill/>
          <a:ln/>
        </p:spPr>
        <p:txBody>
          <a:bodyPr wrap="square" rtlCol="0" anchor="t"/>
          <a:lstStyle/>
          <a:p>
            <a:pPr algn="l" indent="0" marL="0">
              <a:buNone/>
            </a:pPr>
            <a:r>
              <a:rPr lang="en-US" sz="600" b="1" spc="100" kern="0" dirty="0">
                <a:solidFill>
                  <a:srgbClr val="9E4F6B"/>
                </a:solidFill>
                <a:latin typeface="Calibri" pitchFamily="34" charset="0"/>
                <a:ea typeface="Calibri" pitchFamily="34" charset="-122"/>
                <a:cs typeface="Calibri" pitchFamily="34" charset="-120"/>
              </a:rPr>
              <a:t>L'Oréal Group</a:t>
            </a:r>
            <a:endParaRPr lang="en-US" sz="600" dirty="0"/>
          </a:p>
        </p:txBody>
      </p:sp>
      <p:sp>
        <p:nvSpPr>
          <p:cNvPr id="39" name="Text 36"/>
          <p:cNvSpPr/>
          <p:nvPr/>
        </p:nvSpPr>
        <p:spPr>
          <a:xfrm>
            <a:off x="2322576" y="3529584"/>
            <a:ext cx="1481328" cy="274320"/>
          </a:xfrm>
          <a:prstGeom prst="rect">
            <a:avLst/>
          </a:prstGeom>
          <a:noFill/>
          <a:ln/>
        </p:spPr>
        <p:txBody>
          <a:bodyPr wrap="square" rtlCol="0" anchor="t"/>
          <a:lstStyle/>
          <a:p>
            <a:pPr algn="l" indent="0" marL="0">
              <a:buNone/>
            </a:pPr>
            <a:r>
              <a:rPr lang="en-US" sz="850" b="1" dirty="0">
                <a:solidFill>
                  <a:srgbClr val="100810"/>
                </a:solidFill>
                <a:latin typeface="Calibri" pitchFamily="34" charset="0"/>
                <a:ea typeface="Calibri" pitchFamily="34" charset="-122"/>
                <a:cs typeface="Calibri" pitchFamily="34" charset="-120"/>
              </a:rPr>
              <a:t>Maybelline · Lancôme · Ralph Lauren</a:t>
            </a:r>
            <a:endParaRPr lang="en-US" sz="850" dirty="0"/>
          </a:p>
        </p:txBody>
      </p:sp>
      <p:sp>
        <p:nvSpPr>
          <p:cNvPr id="40" name="Text 37"/>
          <p:cNvSpPr/>
          <p:nvPr/>
        </p:nvSpPr>
        <p:spPr>
          <a:xfrm>
            <a:off x="2322576" y="3822192"/>
            <a:ext cx="1481328" cy="932688"/>
          </a:xfrm>
          <a:prstGeom prst="rect">
            <a:avLst/>
          </a:prstGeom>
          <a:noFill/>
          <a:ln/>
        </p:spPr>
        <p:txBody>
          <a:bodyPr wrap="square" rtlCol="0" anchor="t"/>
          <a:lstStyle/>
          <a:p>
            <a:pPr algn="l" indent="0" marL="0">
              <a:buNone/>
            </a:pPr>
            <a:r>
              <a:rPr lang="en-US" sz="750" dirty="0">
                <a:solidFill>
                  <a:srgbClr val="8A7A82"/>
                </a:solidFill>
                <a:latin typeface="Calibri" pitchFamily="34" charset="0"/>
                <a:ea typeface="Calibri" pitchFamily="34" charset="-122"/>
                <a:cs typeface="Calibri" pitchFamily="34" charset="-120"/>
              </a:rPr>
              <a:t>Maybelline Nigeria debut. Ralph Lauren × CKay launch. L'Oréal Professionnel Paris debut.</a:t>
            </a:r>
            <a:endParaRPr lang="en-US" sz="750" dirty="0"/>
          </a:p>
        </p:txBody>
      </p:sp>
      <p:sp>
        <p:nvSpPr>
          <p:cNvPr id="41" name="Shape 38"/>
          <p:cNvSpPr/>
          <p:nvPr/>
        </p:nvSpPr>
        <p:spPr>
          <a:xfrm>
            <a:off x="3959352" y="3236976"/>
            <a:ext cx="1664208" cy="1591056"/>
          </a:xfrm>
          <a:prstGeom prst="rect">
            <a:avLst/>
          </a:prstGeom>
          <a:solidFill>
            <a:srgbClr val="FFFFFF"/>
          </a:solidFill>
          <a:ln w="12700">
            <a:solidFill>
              <a:srgbClr val="E8DDD5"/>
            </a:solidFill>
            <a:prstDash val="solid"/>
          </a:ln>
        </p:spPr>
      </p:sp>
      <p:sp>
        <p:nvSpPr>
          <p:cNvPr id="42" name="Shape 39"/>
          <p:cNvSpPr/>
          <p:nvPr/>
        </p:nvSpPr>
        <p:spPr>
          <a:xfrm>
            <a:off x="3959352" y="3236976"/>
            <a:ext cx="1664208" cy="54864"/>
          </a:xfrm>
          <a:prstGeom prst="rect">
            <a:avLst/>
          </a:prstGeom>
          <a:solidFill>
            <a:srgbClr val="9E4F6B"/>
          </a:solidFill>
          <a:ln w="12700">
            <a:solidFill>
              <a:srgbClr val="9E4F6B"/>
            </a:solidFill>
            <a:prstDash val="solid"/>
          </a:ln>
        </p:spPr>
      </p:sp>
      <p:sp>
        <p:nvSpPr>
          <p:cNvPr id="43" name="Text 40"/>
          <p:cNvSpPr/>
          <p:nvPr/>
        </p:nvSpPr>
        <p:spPr>
          <a:xfrm>
            <a:off x="4050792" y="3346704"/>
            <a:ext cx="1481328" cy="182880"/>
          </a:xfrm>
          <a:prstGeom prst="rect">
            <a:avLst/>
          </a:prstGeom>
          <a:noFill/>
          <a:ln/>
        </p:spPr>
        <p:txBody>
          <a:bodyPr wrap="square" rtlCol="0" anchor="t"/>
          <a:lstStyle/>
          <a:p>
            <a:pPr algn="l" indent="0" marL="0">
              <a:buNone/>
            </a:pPr>
            <a:r>
              <a:rPr lang="en-US" sz="600" b="1" spc="100" kern="0" dirty="0">
                <a:solidFill>
                  <a:srgbClr val="9E4F6B"/>
                </a:solidFill>
                <a:latin typeface="Calibri" pitchFamily="34" charset="0"/>
                <a:ea typeface="Calibri" pitchFamily="34" charset="-122"/>
                <a:cs typeface="Calibri" pitchFamily="34" charset="-120"/>
              </a:rPr>
              <a:t>Amazon</a:t>
            </a:r>
            <a:endParaRPr lang="en-US" sz="600" dirty="0"/>
          </a:p>
        </p:txBody>
      </p:sp>
      <p:sp>
        <p:nvSpPr>
          <p:cNvPr id="44" name="Text 41"/>
          <p:cNvSpPr/>
          <p:nvPr/>
        </p:nvSpPr>
        <p:spPr>
          <a:xfrm>
            <a:off x="4050792" y="3529584"/>
            <a:ext cx="1481328" cy="274320"/>
          </a:xfrm>
          <a:prstGeom prst="rect">
            <a:avLst/>
          </a:prstGeom>
          <a:noFill/>
          <a:ln/>
        </p:spPr>
        <p:txBody>
          <a:bodyPr wrap="square" rtlCol="0" anchor="t"/>
          <a:lstStyle/>
          <a:p>
            <a:pPr algn="l" indent="0" marL="0">
              <a:buNone/>
            </a:pPr>
            <a:r>
              <a:rPr lang="en-US" sz="850" b="1" dirty="0">
                <a:solidFill>
                  <a:srgbClr val="100810"/>
                </a:solidFill>
                <a:latin typeface="Calibri" pitchFamily="34" charset="0"/>
                <a:ea typeface="Calibri" pitchFamily="34" charset="-122"/>
                <a:cs typeface="Calibri" pitchFamily="34" charset="-120"/>
              </a:rPr>
              <a:t>Prime Video Africa</a:t>
            </a:r>
            <a:endParaRPr lang="en-US" sz="850" dirty="0"/>
          </a:p>
        </p:txBody>
      </p:sp>
      <p:sp>
        <p:nvSpPr>
          <p:cNvPr id="45" name="Text 42"/>
          <p:cNvSpPr/>
          <p:nvPr/>
        </p:nvSpPr>
        <p:spPr>
          <a:xfrm>
            <a:off x="4050792" y="3822192"/>
            <a:ext cx="1481328" cy="932688"/>
          </a:xfrm>
          <a:prstGeom prst="rect">
            <a:avLst/>
          </a:prstGeom>
          <a:noFill/>
          <a:ln/>
        </p:spPr>
        <p:txBody>
          <a:bodyPr wrap="square" rtlCol="0" anchor="t"/>
          <a:lstStyle/>
          <a:p>
            <a:pPr algn="l" indent="0" marL="0">
              <a:buNone/>
            </a:pPr>
            <a:r>
              <a:rPr lang="en-US" sz="750" dirty="0">
                <a:solidFill>
                  <a:srgbClr val="8A7A82"/>
                </a:solidFill>
                <a:latin typeface="Calibri" pitchFamily="34" charset="0"/>
                <a:ea typeface="Calibri" pitchFamily="34" charset="-122"/>
                <a:cs typeface="Calibri" pitchFamily="34" charset="-120"/>
              </a:rPr>
              <a:t>3 premieres: She Must Be Obeyed · AFRIFF · Ebuka Turns Up Africa at Mako.</a:t>
            </a:r>
            <a:endParaRPr lang="en-US" sz="750" dirty="0"/>
          </a:p>
        </p:txBody>
      </p:sp>
      <p:sp>
        <p:nvSpPr>
          <p:cNvPr id="46" name="Shape 43"/>
          <p:cNvSpPr/>
          <p:nvPr/>
        </p:nvSpPr>
        <p:spPr>
          <a:xfrm>
            <a:off x="5687568" y="3236976"/>
            <a:ext cx="1664208" cy="1591056"/>
          </a:xfrm>
          <a:prstGeom prst="rect">
            <a:avLst/>
          </a:prstGeom>
          <a:solidFill>
            <a:srgbClr val="FFFFFF"/>
          </a:solidFill>
          <a:ln w="12700">
            <a:solidFill>
              <a:srgbClr val="E8DDD5"/>
            </a:solidFill>
            <a:prstDash val="solid"/>
          </a:ln>
        </p:spPr>
      </p:sp>
      <p:sp>
        <p:nvSpPr>
          <p:cNvPr id="47" name="Shape 44"/>
          <p:cNvSpPr/>
          <p:nvPr/>
        </p:nvSpPr>
        <p:spPr>
          <a:xfrm>
            <a:off x="5687568" y="3236976"/>
            <a:ext cx="1664208" cy="54864"/>
          </a:xfrm>
          <a:prstGeom prst="rect">
            <a:avLst/>
          </a:prstGeom>
          <a:solidFill>
            <a:srgbClr val="9E4F6B"/>
          </a:solidFill>
          <a:ln w="12700">
            <a:solidFill>
              <a:srgbClr val="9E4F6B"/>
            </a:solidFill>
            <a:prstDash val="solid"/>
          </a:ln>
        </p:spPr>
      </p:sp>
      <p:sp>
        <p:nvSpPr>
          <p:cNvPr id="48" name="Text 45"/>
          <p:cNvSpPr/>
          <p:nvPr/>
        </p:nvSpPr>
        <p:spPr>
          <a:xfrm>
            <a:off x="5779008" y="3346704"/>
            <a:ext cx="1481328" cy="182880"/>
          </a:xfrm>
          <a:prstGeom prst="rect">
            <a:avLst/>
          </a:prstGeom>
          <a:noFill/>
          <a:ln/>
        </p:spPr>
        <p:txBody>
          <a:bodyPr wrap="square" rtlCol="0" anchor="t"/>
          <a:lstStyle/>
          <a:p>
            <a:pPr algn="l" indent="0" marL="0">
              <a:buNone/>
            </a:pPr>
            <a:r>
              <a:rPr lang="en-US" sz="600" b="1" spc="100" kern="0" dirty="0">
                <a:solidFill>
                  <a:srgbClr val="9E4F6B"/>
                </a:solidFill>
                <a:latin typeface="Calibri" pitchFamily="34" charset="0"/>
                <a:ea typeface="Calibri" pitchFamily="34" charset="-122"/>
                <a:cs typeface="Calibri" pitchFamily="34" charset="-120"/>
              </a:rPr>
              <a:t>Beauty Hut</a:t>
            </a:r>
            <a:endParaRPr lang="en-US" sz="600" dirty="0"/>
          </a:p>
        </p:txBody>
      </p:sp>
      <p:sp>
        <p:nvSpPr>
          <p:cNvPr id="49" name="Text 46"/>
          <p:cNvSpPr/>
          <p:nvPr/>
        </p:nvSpPr>
        <p:spPr>
          <a:xfrm>
            <a:off x="5779008" y="3529584"/>
            <a:ext cx="1481328" cy="274320"/>
          </a:xfrm>
          <a:prstGeom prst="rect">
            <a:avLst/>
          </a:prstGeom>
          <a:noFill/>
          <a:ln/>
        </p:spPr>
        <p:txBody>
          <a:bodyPr wrap="square" rtlCol="0" anchor="t"/>
          <a:lstStyle/>
          <a:p>
            <a:pPr algn="l" indent="0" marL="0">
              <a:buNone/>
            </a:pPr>
            <a:r>
              <a:rPr lang="en-US" sz="850" b="1" dirty="0">
                <a:solidFill>
                  <a:srgbClr val="100810"/>
                </a:solidFill>
                <a:latin typeface="Calibri" pitchFamily="34" charset="0"/>
                <a:ea typeface="Calibri" pitchFamily="34" charset="-122"/>
                <a:cs typeface="Calibri" pitchFamily="34" charset="-120"/>
              </a:rPr>
              <a:t>Oct 2024 – Jan 2025</a:t>
            </a:r>
            <a:endParaRPr lang="en-US" sz="850" dirty="0"/>
          </a:p>
        </p:txBody>
      </p:sp>
      <p:sp>
        <p:nvSpPr>
          <p:cNvPr id="50" name="Text 47"/>
          <p:cNvSpPr/>
          <p:nvPr/>
        </p:nvSpPr>
        <p:spPr>
          <a:xfrm>
            <a:off x="5779008" y="3822192"/>
            <a:ext cx="1481328" cy="932688"/>
          </a:xfrm>
          <a:prstGeom prst="rect">
            <a:avLst/>
          </a:prstGeom>
          <a:noFill/>
          <a:ln/>
        </p:spPr>
        <p:txBody>
          <a:bodyPr wrap="square" rtlCol="0" anchor="t"/>
          <a:lstStyle/>
          <a:p>
            <a:pPr algn="l" indent="0" marL="0">
              <a:buNone/>
            </a:pPr>
            <a:r>
              <a:rPr lang="en-US" sz="750" dirty="0">
                <a:solidFill>
                  <a:srgbClr val="8A7A82"/>
                </a:solidFill>
                <a:latin typeface="Calibri" pitchFamily="34" charset="0"/>
                <a:ea typeface="Calibri" pitchFamily="34" charset="-122"/>
                <a:cs typeface="Calibri" pitchFamily="34" charset="-120"/>
              </a:rPr>
              <a:t>10+ campaigns. ₦18.8M PR value. IWD, CeraVe, Danessa Myricks, GTCo.</a:t>
            </a:r>
            <a:endParaRPr lang="en-US" sz="750" dirty="0"/>
          </a:p>
        </p:txBody>
      </p:sp>
      <p:sp>
        <p:nvSpPr>
          <p:cNvPr id="51" name="Shape 48"/>
          <p:cNvSpPr/>
          <p:nvPr/>
        </p:nvSpPr>
        <p:spPr>
          <a:xfrm>
            <a:off x="7415784" y="3236976"/>
            <a:ext cx="1664208" cy="1591056"/>
          </a:xfrm>
          <a:prstGeom prst="rect">
            <a:avLst/>
          </a:prstGeom>
          <a:solidFill>
            <a:srgbClr val="FFFFFF"/>
          </a:solidFill>
          <a:ln w="12700">
            <a:solidFill>
              <a:srgbClr val="E8DDD5"/>
            </a:solidFill>
            <a:prstDash val="solid"/>
          </a:ln>
        </p:spPr>
      </p:sp>
      <p:sp>
        <p:nvSpPr>
          <p:cNvPr id="52" name="Shape 49"/>
          <p:cNvSpPr/>
          <p:nvPr/>
        </p:nvSpPr>
        <p:spPr>
          <a:xfrm>
            <a:off x="7415784" y="3236976"/>
            <a:ext cx="1664208" cy="54864"/>
          </a:xfrm>
          <a:prstGeom prst="rect">
            <a:avLst/>
          </a:prstGeom>
          <a:solidFill>
            <a:srgbClr val="9E4F6B"/>
          </a:solidFill>
          <a:ln w="12700">
            <a:solidFill>
              <a:srgbClr val="9E4F6B"/>
            </a:solidFill>
            <a:prstDash val="solid"/>
          </a:ln>
        </p:spPr>
      </p:sp>
      <p:sp>
        <p:nvSpPr>
          <p:cNvPr id="53" name="Text 50"/>
          <p:cNvSpPr/>
          <p:nvPr/>
        </p:nvSpPr>
        <p:spPr>
          <a:xfrm>
            <a:off x="7507224" y="3346704"/>
            <a:ext cx="1481328" cy="182880"/>
          </a:xfrm>
          <a:prstGeom prst="rect">
            <a:avLst/>
          </a:prstGeom>
          <a:noFill/>
          <a:ln/>
        </p:spPr>
        <p:txBody>
          <a:bodyPr wrap="square" rtlCol="0" anchor="t"/>
          <a:lstStyle/>
          <a:p>
            <a:pPr algn="l" indent="0" marL="0">
              <a:buNone/>
            </a:pPr>
            <a:r>
              <a:rPr lang="en-US" sz="600" b="1" spc="100" kern="0" dirty="0">
                <a:solidFill>
                  <a:srgbClr val="9E4F6B"/>
                </a:solidFill>
                <a:latin typeface="Calibri" pitchFamily="34" charset="0"/>
                <a:ea typeface="Calibri" pitchFamily="34" charset="-122"/>
                <a:cs typeface="Calibri" pitchFamily="34" charset="-120"/>
              </a:rPr>
              <a:t>Beguile</a:t>
            </a:r>
            <a:endParaRPr lang="en-US" sz="600" dirty="0"/>
          </a:p>
        </p:txBody>
      </p:sp>
      <p:sp>
        <p:nvSpPr>
          <p:cNvPr id="54" name="Text 51"/>
          <p:cNvSpPr/>
          <p:nvPr/>
        </p:nvSpPr>
        <p:spPr>
          <a:xfrm>
            <a:off x="7507224" y="3529584"/>
            <a:ext cx="1481328" cy="274320"/>
          </a:xfrm>
          <a:prstGeom prst="rect">
            <a:avLst/>
          </a:prstGeom>
          <a:noFill/>
          <a:ln/>
        </p:spPr>
        <p:txBody>
          <a:bodyPr wrap="square" rtlCol="0" anchor="t"/>
          <a:lstStyle/>
          <a:p>
            <a:pPr algn="l" indent="0" marL="0">
              <a:buNone/>
            </a:pPr>
            <a:r>
              <a:rPr lang="en-US" sz="850" b="1" dirty="0">
                <a:solidFill>
                  <a:srgbClr val="100810"/>
                </a:solidFill>
                <a:latin typeface="Calibri" pitchFamily="34" charset="0"/>
                <a:ea typeface="Calibri" pitchFamily="34" charset="-122"/>
                <a:cs typeface="Calibri" pitchFamily="34" charset="-120"/>
              </a:rPr>
              <a:t>2025 – Present</a:t>
            </a:r>
            <a:endParaRPr lang="en-US" sz="850" dirty="0"/>
          </a:p>
        </p:txBody>
      </p:sp>
      <p:sp>
        <p:nvSpPr>
          <p:cNvPr id="55" name="Text 52"/>
          <p:cNvSpPr/>
          <p:nvPr/>
        </p:nvSpPr>
        <p:spPr>
          <a:xfrm>
            <a:off x="7507224" y="3822192"/>
            <a:ext cx="1481328" cy="932688"/>
          </a:xfrm>
          <a:prstGeom prst="rect">
            <a:avLst/>
          </a:prstGeom>
          <a:noFill/>
          <a:ln/>
        </p:spPr>
        <p:txBody>
          <a:bodyPr wrap="square" rtlCol="0" anchor="t"/>
          <a:lstStyle/>
          <a:p>
            <a:pPr algn="l" indent="0" marL="0">
              <a:buNone/>
            </a:pPr>
            <a:r>
              <a:rPr lang="en-US" sz="750" dirty="0">
                <a:solidFill>
                  <a:srgbClr val="8A7A82"/>
                </a:solidFill>
                <a:latin typeface="Calibri" pitchFamily="34" charset="0"/>
                <a:ea typeface="Calibri" pitchFamily="34" charset="-122"/>
                <a:cs typeface="Calibri" pitchFamily="34" charset="-120"/>
              </a:rPr>
              <a:t>Golden Kiss (PRNewswire). Breathe In Beguile (Marie Claire). ISWIS deal.</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00810"/>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B8923A"/>
          </a:solidFill>
          <a:ln w="12700">
            <a:solidFill>
              <a:srgbClr val="B8923A"/>
            </a:solidFill>
            <a:prstDash val="solid"/>
          </a:ln>
        </p:spPr>
      </p:sp>
      <p:pic>
        <p:nvPicPr>
          <p:cNvPr id="3" name="Image 0" descr="preencoded.png">    </p:cNvPr>
          <p:cNvPicPr>
            <a:picLocks noChangeAspect="1"/>
          </p:cNvPicPr>
          <p:nvPr/>
        </p:nvPicPr>
        <p:blipFill>
          <a:blip r:embed="rId1"/>
          <a:stretch>
            <a:fillRect/>
          </a:stretch>
        </p:blipFill>
        <p:spPr>
          <a:xfrm>
            <a:off x="365760" y="164592"/>
            <a:ext cx="1234440" cy="393192"/>
          </a:xfrm>
          <a:prstGeom prst="rect">
            <a:avLst/>
          </a:prstGeom>
        </p:spPr>
      </p:pic>
      <p:sp>
        <p:nvSpPr>
          <p:cNvPr id="4" name="Text 1"/>
          <p:cNvSpPr/>
          <p:nvPr/>
        </p:nvSpPr>
        <p:spPr>
          <a:xfrm>
            <a:off x="457200" y="146304"/>
            <a:ext cx="8412480" cy="201168"/>
          </a:xfrm>
          <a:prstGeom prst="rect">
            <a:avLst/>
          </a:prstGeom>
          <a:noFill/>
          <a:ln/>
        </p:spPr>
        <p:txBody>
          <a:bodyPr wrap="square" rtlCol="0" anchor="t"/>
          <a:lstStyle/>
          <a:p>
            <a:pPr algn="l" indent="0" marL="0">
              <a:buNone/>
            </a:pPr>
            <a:r>
              <a:rPr lang="en-US" sz="700" b="1" spc="350" kern="0" dirty="0">
                <a:solidFill>
                  <a:srgbClr val="B8923A"/>
                </a:solidFill>
                <a:latin typeface="Calibri" pitchFamily="34" charset="0"/>
                <a:ea typeface="Calibri" pitchFamily="34" charset="-122"/>
                <a:cs typeface="Calibri" pitchFamily="34" charset="-120"/>
              </a:rPr>
              <a:t>CAMPAIGN TRACTION  ·  VERIFIED NUMBERS  ·  REAL DATA</a:t>
            </a:r>
            <a:endParaRPr lang="en-US" sz="700" dirty="0"/>
          </a:p>
        </p:txBody>
      </p:sp>
      <p:sp>
        <p:nvSpPr>
          <p:cNvPr id="5" name="Shape 2"/>
          <p:cNvSpPr/>
          <p:nvPr/>
        </p:nvSpPr>
        <p:spPr>
          <a:xfrm>
            <a:off x="0" y="4873752"/>
            <a:ext cx="9144000" cy="269748"/>
          </a:xfrm>
          <a:prstGeom prst="rect">
            <a:avLst/>
          </a:prstGeom>
          <a:solidFill>
            <a:srgbClr val="7A3B53"/>
          </a:solidFill>
          <a:ln w="12700">
            <a:solidFill>
              <a:srgbClr val="7A3B53"/>
            </a:solidFill>
            <a:prstDash val="solid"/>
          </a:ln>
        </p:spPr>
      </p:sp>
      <p:sp>
        <p:nvSpPr>
          <p:cNvPr id="6" name="Text 3"/>
          <p:cNvSpPr/>
          <p:nvPr/>
        </p:nvSpPr>
        <p:spPr>
          <a:xfrm>
            <a:off x="0" y="4878324"/>
            <a:ext cx="9144000" cy="256032"/>
          </a:xfrm>
          <a:prstGeom prst="rect">
            <a:avLst/>
          </a:prstGeom>
          <a:noFill/>
          <a:ln/>
        </p:spPr>
        <p:txBody>
          <a:bodyPr wrap="square" rtlCol="0" anchor="ctr"/>
          <a:lstStyle/>
          <a:p>
            <a:pPr algn="ctr" indent="0" marL="0">
              <a:buNone/>
            </a:pPr>
            <a:r>
              <a:rPr lang="en-US" sz="700" spc="150" kern="0" dirty="0">
                <a:solidFill>
                  <a:srgbClr val="E0D4BC"/>
                </a:solidFill>
                <a:latin typeface="Calibri" pitchFamily="34" charset="0"/>
                <a:ea typeface="Calibri" pitchFamily="34" charset="-122"/>
                <a:cs typeface="Calibri" pitchFamily="34" charset="-120"/>
              </a:rPr>
              <a:t>marktn PR  ·  Onyeka Nwonah  ·  Lagos, Nigeria  ·  Perception is Different</a:t>
            </a:r>
            <a:endParaRPr lang="en-US" sz="700" dirty="0"/>
          </a:p>
        </p:txBody>
      </p:sp>
      <p:sp>
        <p:nvSpPr>
          <p:cNvPr id="7" name="Shape 4"/>
          <p:cNvSpPr/>
          <p:nvPr/>
        </p:nvSpPr>
        <p:spPr>
          <a:xfrm>
            <a:off x="6858000" y="3200400"/>
            <a:ext cx="3200400" cy="3200400"/>
          </a:xfrm>
          <a:prstGeom prst="ellipse">
            <a:avLst/>
          </a:prstGeom>
          <a:solidFill>
            <a:srgbClr val="9E4F6B">
              <a:alpha val="25000"/>
            </a:srgbClr>
          </a:solidFill>
          <a:ln w="12700">
            <a:solidFill>
              <a:srgbClr val="9E4F6B">
                <a:alpha val="25000"/>
              </a:srgbClr>
            </a:solidFill>
            <a:prstDash val="solid"/>
          </a:ln>
        </p:spPr>
      </p:sp>
      <p:sp>
        <p:nvSpPr>
          <p:cNvPr id="8" name="Text 5"/>
          <p:cNvSpPr/>
          <p:nvPr/>
        </p:nvSpPr>
        <p:spPr>
          <a:xfrm>
            <a:off x="365760" y="384048"/>
            <a:ext cx="8229600" cy="502920"/>
          </a:xfrm>
          <a:prstGeom prst="rect">
            <a:avLst/>
          </a:prstGeom>
          <a:noFill/>
          <a:ln/>
        </p:spPr>
        <p:txBody>
          <a:bodyPr wrap="square" rtlCol="0" anchor="t"/>
          <a:lstStyle/>
          <a:p>
            <a:pPr algn="l" indent="0" marL="0">
              <a:buNone/>
            </a:pPr>
            <a:r>
              <a:rPr lang="en-US" sz="2800" i="1" dirty="0">
                <a:solidFill>
                  <a:srgbClr val="F5EFE0"/>
                </a:solidFill>
                <a:latin typeface="Georgia" pitchFamily="34" charset="0"/>
                <a:ea typeface="Georgia" pitchFamily="34" charset="-122"/>
                <a:cs typeface="Georgia" pitchFamily="34" charset="-120"/>
              </a:rPr>
              <a:t>Numbers &amp; Impact</a:t>
            </a:r>
            <a:endParaRPr lang="en-US" sz="2800" dirty="0"/>
          </a:p>
        </p:txBody>
      </p:sp>
      <p:sp>
        <p:nvSpPr>
          <p:cNvPr id="9" name="Text 6"/>
          <p:cNvSpPr/>
          <p:nvPr/>
        </p:nvSpPr>
        <p:spPr>
          <a:xfrm>
            <a:off x="365760" y="950976"/>
            <a:ext cx="5486400" cy="256032"/>
          </a:xfrm>
          <a:prstGeom prst="rect">
            <a:avLst/>
          </a:prstGeom>
          <a:noFill/>
          <a:ln/>
        </p:spPr>
        <p:txBody>
          <a:bodyPr wrap="square" rtlCol="0" anchor="t"/>
          <a:lstStyle/>
          <a:p>
            <a:pPr algn="l" indent="0" marL="0">
              <a:buNone/>
            </a:pPr>
            <a:r>
              <a:rPr lang="en-US" sz="900" dirty="0">
                <a:solidFill>
                  <a:srgbClr val="8A7A82"/>
                </a:solidFill>
                <a:latin typeface="Calibri" pitchFamily="34" charset="0"/>
                <a:ea typeface="Calibri" pitchFamily="34" charset="-122"/>
                <a:cs typeface="Calibri" pitchFamily="34" charset="-120"/>
              </a:rPr>
              <a:t>Verified figures from campaign reports, platform records, and press coverage.</a:t>
            </a:r>
            <a:endParaRPr lang="en-US" sz="900" dirty="0"/>
          </a:p>
        </p:txBody>
      </p:sp>
      <p:sp>
        <p:nvSpPr>
          <p:cNvPr id="10" name="Shape 7"/>
          <p:cNvSpPr/>
          <p:nvPr/>
        </p:nvSpPr>
        <p:spPr>
          <a:xfrm>
            <a:off x="365760" y="1280160"/>
            <a:ext cx="8503920" cy="0"/>
          </a:xfrm>
          <a:prstGeom prst="line">
            <a:avLst/>
          </a:prstGeom>
          <a:noFill/>
          <a:ln w="6350">
            <a:solidFill>
              <a:srgbClr val="7A3B53"/>
            </a:solidFill>
            <a:prstDash val="solid"/>
          </a:ln>
        </p:spPr>
      </p:sp>
      <p:sp>
        <p:nvSpPr>
          <p:cNvPr id="11" name="Shape 8"/>
          <p:cNvSpPr/>
          <p:nvPr/>
        </p:nvSpPr>
        <p:spPr>
          <a:xfrm>
            <a:off x="164592" y="1426464"/>
            <a:ext cx="2139696" cy="3438144"/>
          </a:xfrm>
          <a:prstGeom prst="rect">
            <a:avLst/>
          </a:prstGeom>
          <a:solidFill>
            <a:srgbClr val="7A3B53"/>
          </a:solidFill>
          <a:ln w="12700">
            <a:solidFill>
              <a:srgbClr val="7A3B53"/>
            </a:solidFill>
            <a:prstDash val="solid"/>
          </a:ln>
        </p:spPr>
      </p:sp>
      <p:sp>
        <p:nvSpPr>
          <p:cNvPr id="12" name="Shape 9"/>
          <p:cNvSpPr/>
          <p:nvPr/>
        </p:nvSpPr>
        <p:spPr>
          <a:xfrm>
            <a:off x="164592" y="1426464"/>
            <a:ext cx="2139696" cy="64008"/>
          </a:xfrm>
          <a:prstGeom prst="rect">
            <a:avLst/>
          </a:prstGeom>
          <a:solidFill>
            <a:srgbClr val="B8923A"/>
          </a:solidFill>
          <a:ln w="12700">
            <a:solidFill>
              <a:srgbClr val="B8923A"/>
            </a:solidFill>
            <a:prstDash val="solid"/>
          </a:ln>
        </p:spPr>
      </p:sp>
      <p:sp>
        <p:nvSpPr>
          <p:cNvPr id="13" name="Text 10"/>
          <p:cNvSpPr/>
          <p:nvPr/>
        </p:nvSpPr>
        <p:spPr>
          <a:xfrm>
            <a:off x="274320" y="1481328"/>
            <a:ext cx="1920240" cy="402336"/>
          </a:xfrm>
          <a:prstGeom prst="rect">
            <a:avLst/>
          </a:prstGeom>
          <a:noFill/>
          <a:ln/>
        </p:spPr>
        <p:txBody>
          <a:bodyPr wrap="square" rtlCol="0" anchor="t"/>
          <a:lstStyle/>
          <a:p>
            <a:pPr algn="l" indent="0" marL="0">
              <a:buNone/>
            </a:pPr>
            <a:r>
              <a:rPr lang="en-US" sz="900" b="1" dirty="0">
                <a:solidFill>
                  <a:srgbClr val="F5EFE0"/>
                </a:solidFill>
                <a:latin typeface="Georgia" pitchFamily="34" charset="0"/>
                <a:ea typeface="Georgia" pitchFamily="34" charset="-122"/>
                <a:cs typeface="Georgia" pitchFamily="34" charset="-120"/>
              </a:rPr>
              <a:t>Brand Trip</a:t>
            </a:r>
            <a:endParaRPr lang="en-US" sz="900" dirty="0"/>
          </a:p>
          <a:p>
            <a:pPr algn="l" indent="0" marL="0">
              <a:buNone/>
            </a:pPr>
            <a:r>
              <a:rPr lang="en-US" sz="900" b="1" dirty="0">
                <a:solidFill>
                  <a:srgbClr val="F5EFE0"/>
                </a:solidFill>
                <a:latin typeface="Georgia" pitchFamily="34" charset="0"/>
                <a:ea typeface="Georgia" pitchFamily="34" charset="-122"/>
                <a:cs typeface="Georgia" pitchFamily="34" charset="-120"/>
              </a:rPr>
              <a:t>#BHTakesLakowe</a:t>
            </a:r>
            <a:endParaRPr lang="en-US" sz="900" dirty="0"/>
          </a:p>
        </p:txBody>
      </p:sp>
      <p:sp>
        <p:nvSpPr>
          <p:cNvPr id="14" name="Shape 11"/>
          <p:cNvSpPr/>
          <p:nvPr/>
        </p:nvSpPr>
        <p:spPr>
          <a:xfrm>
            <a:off x="274320" y="1901952"/>
            <a:ext cx="1920240" cy="0"/>
          </a:xfrm>
          <a:prstGeom prst="line">
            <a:avLst/>
          </a:prstGeom>
          <a:noFill/>
          <a:ln w="5080">
            <a:solidFill>
              <a:srgbClr val="C47A93"/>
            </a:solidFill>
            <a:prstDash val="solid"/>
          </a:ln>
        </p:spPr>
      </p:sp>
      <p:sp>
        <p:nvSpPr>
          <p:cNvPr id="15" name="Text 12"/>
          <p:cNvSpPr/>
          <p:nvPr/>
        </p:nvSpPr>
        <p:spPr>
          <a:xfrm>
            <a:off x="274320" y="1975104"/>
            <a:ext cx="1920240" cy="256032"/>
          </a:xfrm>
          <a:prstGeom prst="rect">
            <a:avLst/>
          </a:prstGeom>
          <a:noFill/>
          <a:ln/>
        </p:spPr>
        <p:txBody>
          <a:bodyPr wrap="square" rtlCol="0" anchor="t"/>
          <a:lstStyle/>
          <a:p>
            <a:pPr algn="l" indent="0" marL="0">
              <a:buNone/>
            </a:pPr>
            <a:r>
              <a:rPr lang="en-US" sz="1200" b="1" dirty="0">
                <a:solidFill>
                  <a:srgbClr val="B8923A"/>
                </a:solidFill>
                <a:latin typeface="Georgia" pitchFamily="34" charset="0"/>
                <a:ea typeface="Georgia" pitchFamily="34" charset="-122"/>
                <a:cs typeface="Georgia" pitchFamily="34" charset="-120"/>
              </a:rPr>
              <a:t>₦18.8M</a:t>
            </a:r>
            <a:endParaRPr lang="en-US" sz="1200" dirty="0"/>
          </a:p>
        </p:txBody>
      </p:sp>
      <p:sp>
        <p:nvSpPr>
          <p:cNvPr id="16" name="Text 13"/>
          <p:cNvSpPr/>
          <p:nvPr/>
        </p:nvSpPr>
        <p:spPr>
          <a:xfrm>
            <a:off x="274320" y="2212848"/>
            <a:ext cx="1920240" cy="182880"/>
          </a:xfrm>
          <a:prstGeom prst="rect">
            <a:avLst/>
          </a:prstGeom>
          <a:noFill/>
          <a:ln/>
        </p:spPr>
        <p:txBody>
          <a:bodyPr wrap="square" rtlCol="0" anchor="t"/>
          <a:lstStyle/>
          <a:p>
            <a:pPr algn="l" indent="0" marL="0">
              <a:buNone/>
            </a:pPr>
            <a:r>
              <a:rPr lang="en-US" sz="700" dirty="0">
                <a:solidFill>
                  <a:srgbClr val="8A7A82"/>
                </a:solidFill>
                <a:latin typeface="Calibri" pitchFamily="34" charset="0"/>
                <a:ea typeface="Calibri" pitchFamily="34" charset="-122"/>
                <a:cs typeface="Calibri" pitchFamily="34" charset="-120"/>
              </a:rPr>
              <a:t>PR Value</a:t>
            </a:r>
            <a:endParaRPr lang="en-US" sz="700" dirty="0"/>
          </a:p>
        </p:txBody>
      </p:sp>
      <p:sp>
        <p:nvSpPr>
          <p:cNvPr id="17" name="Text 14"/>
          <p:cNvSpPr/>
          <p:nvPr/>
        </p:nvSpPr>
        <p:spPr>
          <a:xfrm>
            <a:off x="274320" y="2468880"/>
            <a:ext cx="1920240" cy="256032"/>
          </a:xfrm>
          <a:prstGeom prst="rect">
            <a:avLst/>
          </a:prstGeom>
          <a:noFill/>
          <a:ln/>
        </p:spPr>
        <p:txBody>
          <a:bodyPr wrap="square" rtlCol="0" anchor="t"/>
          <a:lstStyle/>
          <a:p>
            <a:pPr algn="l" indent="0" marL="0">
              <a:buNone/>
            </a:pPr>
            <a:r>
              <a:rPr lang="en-US" sz="1200" b="1" dirty="0">
                <a:solidFill>
                  <a:srgbClr val="B8923A"/>
                </a:solidFill>
                <a:latin typeface="Georgia" pitchFamily="34" charset="0"/>
                <a:ea typeface="Georgia" pitchFamily="34" charset="-122"/>
                <a:cs typeface="Georgia" pitchFamily="34" charset="-120"/>
              </a:rPr>
              <a:t>10.9M+</a:t>
            </a:r>
            <a:endParaRPr lang="en-US" sz="1200" dirty="0"/>
          </a:p>
        </p:txBody>
      </p:sp>
      <p:sp>
        <p:nvSpPr>
          <p:cNvPr id="18" name="Text 15"/>
          <p:cNvSpPr/>
          <p:nvPr/>
        </p:nvSpPr>
        <p:spPr>
          <a:xfrm>
            <a:off x="274320" y="2706624"/>
            <a:ext cx="1920240" cy="182880"/>
          </a:xfrm>
          <a:prstGeom prst="rect">
            <a:avLst/>
          </a:prstGeom>
          <a:noFill/>
          <a:ln/>
        </p:spPr>
        <p:txBody>
          <a:bodyPr wrap="square" rtlCol="0" anchor="t"/>
          <a:lstStyle/>
          <a:p>
            <a:pPr algn="l" indent="0" marL="0">
              <a:buNone/>
            </a:pPr>
            <a:r>
              <a:rPr lang="en-US" sz="700" dirty="0">
                <a:solidFill>
                  <a:srgbClr val="8A7A82"/>
                </a:solidFill>
                <a:latin typeface="Calibri" pitchFamily="34" charset="0"/>
                <a:ea typeface="Calibri" pitchFamily="34" charset="-122"/>
                <a:cs typeface="Calibri" pitchFamily="34" charset="-120"/>
              </a:rPr>
              <a:t>Impressions</a:t>
            </a:r>
            <a:endParaRPr lang="en-US" sz="700" dirty="0"/>
          </a:p>
        </p:txBody>
      </p:sp>
      <p:sp>
        <p:nvSpPr>
          <p:cNvPr id="19" name="Text 16"/>
          <p:cNvSpPr/>
          <p:nvPr/>
        </p:nvSpPr>
        <p:spPr>
          <a:xfrm>
            <a:off x="274320" y="2962656"/>
            <a:ext cx="1920240" cy="256032"/>
          </a:xfrm>
          <a:prstGeom prst="rect">
            <a:avLst/>
          </a:prstGeom>
          <a:noFill/>
          <a:ln/>
        </p:spPr>
        <p:txBody>
          <a:bodyPr wrap="square" rtlCol="0" anchor="t"/>
          <a:lstStyle/>
          <a:p>
            <a:pPr algn="l" indent="0" marL="0">
              <a:buNone/>
            </a:pPr>
            <a:r>
              <a:rPr lang="en-US" sz="1200" b="1" dirty="0">
                <a:solidFill>
                  <a:srgbClr val="B8923A"/>
                </a:solidFill>
                <a:latin typeface="Georgia" pitchFamily="34" charset="0"/>
                <a:ea typeface="Georgia" pitchFamily="34" charset="-122"/>
                <a:cs typeface="Georgia" pitchFamily="34" charset="-120"/>
              </a:rPr>
              <a:t>1.99M</a:t>
            </a:r>
            <a:endParaRPr lang="en-US" sz="1200" dirty="0"/>
          </a:p>
        </p:txBody>
      </p:sp>
      <p:sp>
        <p:nvSpPr>
          <p:cNvPr id="20" name="Text 17"/>
          <p:cNvSpPr/>
          <p:nvPr/>
        </p:nvSpPr>
        <p:spPr>
          <a:xfrm>
            <a:off x="274320" y="3200400"/>
            <a:ext cx="1920240" cy="182880"/>
          </a:xfrm>
          <a:prstGeom prst="rect">
            <a:avLst/>
          </a:prstGeom>
          <a:noFill/>
          <a:ln/>
        </p:spPr>
        <p:txBody>
          <a:bodyPr wrap="square" rtlCol="0" anchor="t"/>
          <a:lstStyle/>
          <a:p>
            <a:pPr algn="l" indent="0" marL="0">
              <a:buNone/>
            </a:pPr>
            <a:r>
              <a:rPr lang="en-US" sz="700" dirty="0">
                <a:solidFill>
                  <a:srgbClr val="8A7A82"/>
                </a:solidFill>
                <a:latin typeface="Calibri" pitchFamily="34" charset="0"/>
                <a:ea typeface="Calibri" pitchFamily="34" charset="-122"/>
                <a:cs typeface="Calibri" pitchFamily="34" charset="-120"/>
              </a:rPr>
              <a:t>Reach</a:t>
            </a:r>
            <a:endParaRPr lang="en-US" sz="700" dirty="0"/>
          </a:p>
        </p:txBody>
      </p:sp>
      <p:sp>
        <p:nvSpPr>
          <p:cNvPr id="21" name="Text 18"/>
          <p:cNvSpPr/>
          <p:nvPr/>
        </p:nvSpPr>
        <p:spPr>
          <a:xfrm>
            <a:off x="274320" y="3456432"/>
            <a:ext cx="1920240" cy="256032"/>
          </a:xfrm>
          <a:prstGeom prst="rect">
            <a:avLst/>
          </a:prstGeom>
          <a:noFill/>
          <a:ln/>
        </p:spPr>
        <p:txBody>
          <a:bodyPr wrap="square" rtlCol="0" anchor="t"/>
          <a:lstStyle/>
          <a:p>
            <a:pPr algn="l" indent="0" marL="0">
              <a:buNone/>
            </a:pPr>
            <a:r>
              <a:rPr lang="en-US" sz="1200" b="1" dirty="0">
                <a:solidFill>
                  <a:srgbClr val="B8923A"/>
                </a:solidFill>
                <a:latin typeface="Georgia" pitchFamily="34" charset="0"/>
                <a:ea typeface="Georgia" pitchFamily="34" charset="-122"/>
                <a:cs typeface="Georgia" pitchFamily="34" charset="-120"/>
              </a:rPr>
              <a:t>40+</a:t>
            </a:r>
            <a:endParaRPr lang="en-US" sz="1200" dirty="0"/>
          </a:p>
        </p:txBody>
      </p:sp>
      <p:sp>
        <p:nvSpPr>
          <p:cNvPr id="22" name="Text 19"/>
          <p:cNvSpPr/>
          <p:nvPr/>
        </p:nvSpPr>
        <p:spPr>
          <a:xfrm>
            <a:off x="274320" y="3694176"/>
            <a:ext cx="1920240" cy="182880"/>
          </a:xfrm>
          <a:prstGeom prst="rect">
            <a:avLst/>
          </a:prstGeom>
          <a:noFill/>
          <a:ln/>
        </p:spPr>
        <p:txBody>
          <a:bodyPr wrap="square" rtlCol="0" anchor="t"/>
          <a:lstStyle/>
          <a:p>
            <a:pPr algn="l" indent="0" marL="0">
              <a:buNone/>
            </a:pPr>
            <a:r>
              <a:rPr lang="en-US" sz="700" dirty="0">
                <a:solidFill>
                  <a:srgbClr val="8A7A82"/>
                </a:solidFill>
                <a:latin typeface="Calibri" pitchFamily="34" charset="0"/>
                <a:ea typeface="Calibri" pitchFamily="34" charset="-122"/>
                <a:cs typeface="Calibri" pitchFamily="34" charset="-120"/>
              </a:rPr>
              <a:t>Influencers</a:t>
            </a:r>
            <a:endParaRPr lang="en-US" sz="700" dirty="0"/>
          </a:p>
        </p:txBody>
      </p:sp>
      <p:sp>
        <p:nvSpPr>
          <p:cNvPr id="23" name="Text 20"/>
          <p:cNvSpPr/>
          <p:nvPr/>
        </p:nvSpPr>
        <p:spPr>
          <a:xfrm>
            <a:off x="274320" y="3950208"/>
            <a:ext cx="1920240" cy="256032"/>
          </a:xfrm>
          <a:prstGeom prst="rect">
            <a:avLst/>
          </a:prstGeom>
          <a:noFill/>
          <a:ln/>
        </p:spPr>
        <p:txBody>
          <a:bodyPr wrap="square" rtlCol="0" anchor="t"/>
          <a:lstStyle/>
          <a:p>
            <a:pPr algn="l" indent="0" marL="0">
              <a:buNone/>
            </a:pPr>
            <a:r>
              <a:rPr lang="en-US" sz="1200" b="1" dirty="0">
                <a:solidFill>
                  <a:srgbClr val="B8923A"/>
                </a:solidFill>
                <a:latin typeface="Georgia" pitchFamily="34" charset="0"/>
                <a:ea typeface="Georgia" pitchFamily="34" charset="-122"/>
                <a:cs typeface="Georgia" pitchFamily="34" charset="-120"/>
              </a:rPr>
              <a:t>4</a:t>
            </a:r>
            <a:endParaRPr lang="en-US" sz="1200" dirty="0"/>
          </a:p>
        </p:txBody>
      </p:sp>
      <p:sp>
        <p:nvSpPr>
          <p:cNvPr id="24" name="Text 21"/>
          <p:cNvSpPr/>
          <p:nvPr/>
        </p:nvSpPr>
        <p:spPr>
          <a:xfrm>
            <a:off x="274320" y="4187952"/>
            <a:ext cx="1920240" cy="182880"/>
          </a:xfrm>
          <a:prstGeom prst="rect">
            <a:avLst/>
          </a:prstGeom>
          <a:noFill/>
          <a:ln/>
        </p:spPr>
        <p:txBody>
          <a:bodyPr wrap="square" rtlCol="0" anchor="t"/>
          <a:lstStyle/>
          <a:p>
            <a:pPr algn="l" indent="0" marL="0">
              <a:buNone/>
            </a:pPr>
            <a:r>
              <a:rPr lang="en-US" sz="700" dirty="0">
                <a:solidFill>
                  <a:srgbClr val="8A7A82"/>
                </a:solidFill>
                <a:latin typeface="Calibri" pitchFamily="34" charset="0"/>
                <a:ea typeface="Calibri" pitchFamily="34" charset="-122"/>
                <a:cs typeface="Calibri" pitchFamily="34" charset="-120"/>
              </a:rPr>
              <a:t>Editorials</a:t>
            </a:r>
            <a:endParaRPr lang="en-US" sz="700" dirty="0"/>
          </a:p>
        </p:txBody>
      </p:sp>
      <p:sp>
        <p:nvSpPr>
          <p:cNvPr id="25" name="Text 22"/>
          <p:cNvSpPr/>
          <p:nvPr/>
        </p:nvSpPr>
        <p:spPr>
          <a:xfrm>
            <a:off x="274320" y="4443984"/>
            <a:ext cx="1920240" cy="256032"/>
          </a:xfrm>
          <a:prstGeom prst="rect">
            <a:avLst/>
          </a:prstGeom>
          <a:noFill/>
          <a:ln/>
        </p:spPr>
        <p:txBody>
          <a:bodyPr wrap="square" rtlCol="0" anchor="t"/>
          <a:lstStyle/>
          <a:p>
            <a:pPr algn="l" indent="0" marL="0">
              <a:buNone/>
            </a:pPr>
            <a:r>
              <a:rPr lang="en-US" sz="1200" b="1" dirty="0">
                <a:solidFill>
                  <a:srgbClr val="B8923A"/>
                </a:solidFill>
                <a:latin typeface="Georgia" pitchFamily="34" charset="0"/>
                <a:ea typeface="Georgia" pitchFamily="34" charset="-122"/>
                <a:cs typeface="Georgia" pitchFamily="34" charset="-120"/>
              </a:rPr>
              <a:t>Vee · Saskay</a:t>
            </a:r>
            <a:endParaRPr lang="en-US" sz="1200" dirty="0"/>
          </a:p>
        </p:txBody>
      </p:sp>
      <p:sp>
        <p:nvSpPr>
          <p:cNvPr id="26" name="Text 23"/>
          <p:cNvSpPr/>
          <p:nvPr/>
        </p:nvSpPr>
        <p:spPr>
          <a:xfrm>
            <a:off x="274320" y="4681728"/>
            <a:ext cx="1920240" cy="182880"/>
          </a:xfrm>
          <a:prstGeom prst="rect">
            <a:avLst/>
          </a:prstGeom>
          <a:noFill/>
          <a:ln/>
        </p:spPr>
        <p:txBody>
          <a:bodyPr wrap="square" rtlCol="0" anchor="t"/>
          <a:lstStyle/>
          <a:p>
            <a:pPr algn="l" indent="0" marL="0">
              <a:buNone/>
            </a:pPr>
            <a:r>
              <a:rPr lang="en-US" sz="700" dirty="0">
                <a:solidFill>
                  <a:srgbClr val="8A7A82"/>
                </a:solidFill>
                <a:latin typeface="Calibri" pitchFamily="34" charset="0"/>
                <a:ea typeface="Calibri" pitchFamily="34" charset="-122"/>
                <a:cs typeface="Calibri" pitchFamily="34" charset="-120"/>
              </a:rPr>
              <a:t>Key Talent</a:t>
            </a:r>
            <a:endParaRPr lang="en-US" sz="700" dirty="0"/>
          </a:p>
        </p:txBody>
      </p:sp>
      <p:sp>
        <p:nvSpPr>
          <p:cNvPr id="27" name="Shape 24"/>
          <p:cNvSpPr/>
          <p:nvPr/>
        </p:nvSpPr>
        <p:spPr>
          <a:xfrm>
            <a:off x="2414016" y="1426464"/>
            <a:ext cx="2139696" cy="3438144"/>
          </a:xfrm>
          <a:prstGeom prst="rect">
            <a:avLst/>
          </a:prstGeom>
          <a:solidFill>
            <a:srgbClr val="7A3B53"/>
          </a:solidFill>
          <a:ln w="12700">
            <a:solidFill>
              <a:srgbClr val="7A3B53"/>
            </a:solidFill>
            <a:prstDash val="solid"/>
          </a:ln>
        </p:spPr>
      </p:sp>
      <p:sp>
        <p:nvSpPr>
          <p:cNvPr id="28" name="Shape 25"/>
          <p:cNvSpPr/>
          <p:nvPr/>
        </p:nvSpPr>
        <p:spPr>
          <a:xfrm>
            <a:off x="2414016" y="1426464"/>
            <a:ext cx="2139696" cy="64008"/>
          </a:xfrm>
          <a:prstGeom prst="rect">
            <a:avLst/>
          </a:prstGeom>
          <a:solidFill>
            <a:srgbClr val="B8923A"/>
          </a:solidFill>
          <a:ln w="12700">
            <a:solidFill>
              <a:srgbClr val="B8923A"/>
            </a:solidFill>
            <a:prstDash val="solid"/>
          </a:ln>
        </p:spPr>
      </p:sp>
      <p:sp>
        <p:nvSpPr>
          <p:cNvPr id="29" name="Text 26"/>
          <p:cNvSpPr/>
          <p:nvPr/>
        </p:nvSpPr>
        <p:spPr>
          <a:xfrm>
            <a:off x="2523744" y="1481328"/>
            <a:ext cx="1920240" cy="402336"/>
          </a:xfrm>
          <a:prstGeom prst="rect">
            <a:avLst/>
          </a:prstGeom>
          <a:noFill/>
          <a:ln/>
        </p:spPr>
        <p:txBody>
          <a:bodyPr wrap="square" rtlCol="0" anchor="t"/>
          <a:lstStyle/>
          <a:p>
            <a:pPr algn="l" indent="0" marL="0">
              <a:buNone/>
            </a:pPr>
            <a:r>
              <a:rPr lang="en-US" sz="900" b="1" dirty="0">
                <a:solidFill>
                  <a:srgbClr val="F5EFE0"/>
                </a:solidFill>
                <a:latin typeface="Georgia" pitchFamily="34" charset="0"/>
                <a:ea typeface="Georgia" pitchFamily="34" charset="-122"/>
                <a:cs typeface="Georgia" pitchFamily="34" charset="-120"/>
              </a:rPr>
              <a:t>CeraVe BOGO</a:t>
            </a:r>
            <a:endParaRPr lang="en-US" sz="900" dirty="0"/>
          </a:p>
          <a:p>
            <a:pPr algn="l" indent="0" marL="0">
              <a:buNone/>
            </a:pPr>
            <a:r>
              <a:rPr lang="en-US" sz="900" b="1" dirty="0">
                <a:solidFill>
                  <a:srgbClr val="F5EFE0"/>
                </a:solidFill>
                <a:latin typeface="Georgia" pitchFamily="34" charset="0"/>
                <a:ea typeface="Georgia" pitchFamily="34" charset="-122"/>
                <a:cs typeface="Georgia" pitchFamily="34" charset="-120"/>
              </a:rPr>
              <a:t>Beauty Hut</a:t>
            </a:r>
            <a:endParaRPr lang="en-US" sz="900" dirty="0"/>
          </a:p>
        </p:txBody>
      </p:sp>
      <p:sp>
        <p:nvSpPr>
          <p:cNvPr id="30" name="Shape 27"/>
          <p:cNvSpPr/>
          <p:nvPr/>
        </p:nvSpPr>
        <p:spPr>
          <a:xfrm>
            <a:off x="2523744" y="1901952"/>
            <a:ext cx="1920240" cy="0"/>
          </a:xfrm>
          <a:prstGeom prst="line">
            <a:avLst/>
          </a:prstGeom>
          <a:noFill/>
          <a:ln w="5080">
            <a:solidFill>
              <a:srgbClr val="C47A93"/>
            </a:solidFill>
            <a:prstDash val="solid"/>
          </a:ln>
        </p:spPr>
      </p:sp>
      <p:sp>
        <p:nvSpPr>
          <p:cNvPr id="31" name="Text 28"/>
          <p:cNvSpPr/>
          <p:nvPr/>
        </p:nvSpPr>
        <p:spPr>
          <a:xfrm>
            <a:off x="2523744" y="1975104"/>
            <a:ext cx="1920240" cy="256032"/>
          </a:xfrm>
          <a:prstGeom prst="rect">
            <a:avLst/>
          </a:prstGeom>
          <a:noFill/>
          <a:ln/>
        </p:spPr>
        <p:txBody>
          <a:bodyPr wrap="square" rtlCol="0" anchor="t"/>
          <a:lstStyle/>
          <a:p>
            <a:pPr algn="l" indent="0" marL="0">
              <a:buNone/>
            </a:pPr>
            <a:r>
              <a:rPr lang="en-US" sz="1200" b="1" dirty="0">
                <a:solidFill>
                  <a:srgbClr val="B8923A"/>
                </a:solidFill>
                <a:latin typeface="Georgia" pitchFamily="34" charset="0"/>
                <a:ea typeface="Georgia" pitchFamily="34" charset="-122"/>
                <a:cs typeface="Georgia" pitchFamily="34" charset="-120"/>
              </a:rPr>
              <a:t>167K+</a:t>
            </a:r>
            <a:endParaRPr lang="en-US" sz="1200" dirty="0"/>
          </a:p>
        </p:txBody>
      </p:sp>
      <p:sp>
        <p:nvSpPr>
          <p:cNvPr id="32" name="Text 29"/>
          <p:cNvSpPr/>
          <p:nvPr/>
        </p:nvSpPr>
        <p:spPr>
          <a:xfrm>
            <a:off x="2523744" y="2212848"/>
            <a:ext cx="1920240" cy="182880"/>
          </a:xfrm>
          <a:prstGeom prst="rect">
            <a:avLst/>
          </a:prstGeom>
          <a:noFill/>
          <a:ln/>
        </p:spPr>
        <p:txBody>
          <a:bodyPr wrap="square" rtlCol="0" anchor="t"/>
          <a:lstStyle/>
          <a:p>
            <a:pPr algn="l" indent="0" marL="0">
              <a:buNone/>
            </a:pPr>
            <a:r>
              <a:rPr lang="en-US" sz="700" dirty="0">
                <a:solidFill>
                  <a:srgbClr val="8A7A82"/>
                </a:solidFill>
                <a:latin typeface="Calibri" pitchFamily="34" charset="0"/>
                <a:ea typeface="Calibri" pitchFamily="34" charset="-122"/>
                <a:cs typeface="Calibri" pitchFamily="34" charset="-120"/>
              </a:rPr>
              <a:t>Shaun Okojie</a:t>
            </a:r>
            <a:endParaRPr lang="en-US" sz="700" dirty="0"/>
          </a:p>
        </p:txBody>
      </p:sp>
      <p:sp>
        <p:nvSpPr>
          <p:cNvPr id="33" name="Text 30"/>
          <p:cNvSpPr/>
          <p:nvPr/>
        </p:nvSpPr>
        <p:spPr>
          <a:xfrm>
            <a:off x="2523744" y="2468880"/>
            <a:ext cx="1920240" cy="256032"/>
          </a:xfrm>
          <a:prstGeom prst="rect">
            <a:avLst/>
          </a:prstGeom>
          <a:noFill/>
          <a:ln/>
        </p:spPr>
        <p:txBody>
          <a:bodyPr wrap="square" rtlCol="0" anchor="t"/>
          <a:lstStyle/>
          <a:p>
            <a:pPr algn="l" indent="0" marL="0">
              <a:buNone/>
            </a:pPr>
            <a:r>
              <a:rPr lang="en-US" sz="1200" b="1" dirty="0">
                <a:solidFill>
                  <a:srgbClr val="B8923A"/>
                </a:solidFill>
                <a:latin typeface="Georgia" pitchFamily="34" charset="0"/>
                <a:ea typeface="Georgia" pitchFamily="34" charset="-122"/>
                <a:cs typeface="Georgia" pitchFamily="34" charset="-120"/>
              </a:rPr>
              <a:t>118K+</a:t>
            </a:r>
            <a:endParaRPr lang="en-US" sz="1200" dirty="0"/>
          </a:p>
        </p:txBody>
      </p:sp>
      <p:sp>
        <p:nvSpPr>
          <p:cNvPr id="34" name="Text 31"/>
          <p:cNvSpPr/>
          <p:nvPr/>
        </p:nvSpPr>
        <p:spPr>
          <a:xfrm>
            <a:off x="2523744" y="2706624"/>
            <a:ext cx="1920240" cy="182880"/>
          </a:xfrm>
          <a:prstGeom prst="rect">
            <a:avLst/>
          </a:prstGeom>
          <a:noFill/>
          <a:ln/>
        </p:spPr>
        <p:txBody>
          <a:bodyPr wrap="square" rtlCol="0" anchor="t"/>
          <a:lstStyle/>
          <a:p>
            <a:pPr algn="l" indent="0" marL="0">
              <a:buNone/>
            </a:pPr>
            <a:r>
              <a:rPr lang="en-US" sz="700" dirty="0">
                <a:solidFill>
                  <a:srgbClr val="8A7A82"/>
                </a:solidFill>
                <a:latin typeface="Calibri" pitchFamily="34" charset="0"/>
                <a:ea typeface="Calibri" pitchFamily="34" charset="-122"/>
                <a:cs typeface="Calibri" pitchFamily="34" charset="-120"/>
              </a:rPr>
              <a:t>Vine Olugu</a:t>
            </a:r>
            <a:endParaRPr lang="en-US" sz="700" dirty="0"/>
          </a:p>
        </p:txBody>
      </p:sp>
      <p:sp>
        <p:nvSpPr>
          <p:cNvPr id="35" name="Text 32"/>
          <p:cNvSpPr/>
          <p:nvPr/>
        </p:nvSpPr>
        <p:spPr>
          <a:xfrm>
            <a:off x="2523744" y="2962656"/>
            <a:ext cx="1920240" cy="256032"/>
          </a:xfrm>
          <a:prstGeom prst="rect">
            <a:avLst/>
          </a:prstGeom>
          <a:noFill/>
          <a:ln/>
        </p:spPr>
        <p:txBody>
          <a:bodyPr wrap="square" rtlCol="0" anchor="t"/>
          <a:lstStyle/>
          <a:p>
            <a:pPr algn="l" indent="0" marL="0">
              <a:buNone/>
            </a:pPr>
            <a:r>
              <a:rPr lang="en-US" sz="1200" b="1" dirty="0">
                <a:solidFill>
                  <a:srgbClr val="B8923A"/>
                </a:solidFill>
                <a:latin typeface="Georgia" pitchFamily="34" charset="0"/>
                <a:ea typeface="Georgia" pitchFamily="34" charset="-122"/>
                <a:cs typeface="Georgia" pitchFamily="34" charset="-120"/>
              </a:rPr>
              <a:t>47.2K</a:t>
            </a:r>
            <a:endParaRPr lang="en-US" sz="1200" dirty="0"/>
          </a:p>
        </p:txBody>
      </p:sp>
      <p:sp>
        <p:nvSpPr>
          <p:cNvPr id="36" name="Text 33"/>
          <p:cNvSpPr/>
          <p:nvPr/>
        </p:nvSpPr>
        <p:spPr>
          <a:xfrm>
            <a:off x="2523744" y="3200400"/>
            <a:ext cx="1920240" cy="182880"/>
          </a:xfrm>
          <a:prstGeom prst="rect">
            <a:avLst/>
          </a:prstGeom>
          <a:noFill/>
          <a:ln/>
        </p:spPr>
        <p:txBody>
          <a:bodyPr wrap="square" rtlCol="0" anchor="t"/>
          <a:lstStyle/>
          <a:p>
            <a:pPr algn="l" indent="0" marL="0">
              <a:buNone/>
            </a:pPr>
            <a:r>
              <a:rPr lang="en-US" sz="700" dirty="0">
                <a:solidFill>
                  <a:srgbClr val="8A7A82"/>
                </a:solidFill>
                <a:latin typeface="Calibri" pitchFamily="34" charset="0"/>
                <a:ea typeface="Calibri" pitchFamily="34" charset="-122"/>
                <a:cs typeface="Calibri" pitchFamily="34" charset="-120"/>
              </a:rPr>
              <a:t>Meta Impressions</a:t>
            </a:r>
            <a:endParaRPr lang="en-US" sz="700" dirty="0"/>
          </a:p>
        </p:txBody>
      </p:sp>
      <p:sp>
        <p:nvSpPr>
          <p:cNvPr id="37" name="Text 34"/>
          <p:cNvSpPr/>
          <p:nvPr/>
        </p:nvSpPr>
        <p:spPr>
          <a:xfrm>
            <a:off x="2523744" y="3456432"/>
            <a:ext cx="1920240" cy="256032"/>
          </a:xfrm>
          <a:prstGeom prst="rect">
            <a:avLst/>
          </a:prstGeom>
          <a:noFill/>
          <a:ln/>
        </p:spPr>
        <p:txBody>
          <a:bodyPr wrap="square" rtlCol="0" anchor="t"/>
          <a:lstStyle/>
          <a:p>
            <a:pPr algn="l" indent="0" marL="0">
              <a:buNone/>
            </a:pPr>
            <a:r>
              <a:rPr lang="en-US" sz="1200" b="1" dirty="0">
                <a:solidFill>
                  <a:srgbClr val="B8923A"/>
                </a:solidFill>
                <a:latin typeface="Georgia" pitchFamily="34" charset="0"/>
                <a:ea typeface="Georgia" pitchFamily="34" charset="-122"/>
                <a:cs typeface="Georgia" pitchFamily="34" charset="-120"/>
              </a:rPr>
              <a:t>$74</a:t>
            </a:r>
            <a:endParaRPr lang="en-US" sz="1200" dirty="0"/>
          </a:p>
        </p:txBody>
      </p:sp>
      <p:sp>
        <p:nvSpPr>
          <p:cNvPr id="38" name="Text 35"/>
          <p:cNvSpPr/>
          <p:nvPr/>
        </p:nvSpPr>
        <p:spPr>
          <a:xfrm>
            <a:off x="2523744" y="3694176"/>
            <a:ext cx="1920240" cy="182880"/>
          </a:xfrm>
          <a:prstGeom prst="rect">
            <a:avLst/>
          </a:prstGeom>
          <a:noFill/>
          <a:ln/>
        </p:spPr>
        <p:txBody>
          <a:bodyPr wrap="square" rtlCol="0" anchor="t"/>
          <a:lstStyle/>
          <a:p>
            <a:pPr algn="l" indent="0" marL="0">
              <a:buNone/>
            </a:pPr>
            <a:r>
              <a:rPr lang="en-US" sz="700" dirty="0">
                <a:solidFill>
                  <a:srgbClr val="8A7A82"/>
                </a:solidFill>
                <a:latin typeface="Calibri" pitchFamily="34" charset="0"/>
                <a:ea typeface="Calibri" pitchFamily="34" charset="-122"/>
                <a:cs typeface="Calibri" pitchFamily="34" charset="-120"/>
              </a:rPr>
              <a:t>Ad Spend</a:t>
            </a:r>
            <a:endParaRPr lang="en-US" sz="700" dirty="0"/>
          </a:p>
        </p:txBody>
      </p:sp>
      <p:sp>
        <p:nvSpPr>
          <p:cNvPr id="39" name="Text 36"/>
          <p:cNvSpPr/>
          <p:nvPr/>
        </p:nvSpPr>
        <p:spPr>
          <a:xfrm>
            <a:off x="2523744" y="3950208"/>
            <a:ext cx="1920240" cy="256032"/>
          </a:xfrm>
          <a:prstGeom prst="rect">
            <a:avLst/>
          </a:prstGeom>
          <a:noFill/>
          <a:ln/>
        </p:spPr>
        <p:txBody>
          <a:bodyPr wrap="square" rtlCol="0" anchor="t"/>
          <a:lstStyle/>
          <a:p>
            <a:pPr algn="l" indent="0" marL="0">
              <a:buNone/>
            </a:pPr>
            <a:r>
              <a:rPr lang="en-US" sz="1200" b="1" dirty="0">
                <a:solidFill>
                  <a:srgbClr val="B8923A"/>
                </a:solidFill>
                <a:latin typeface="Georgia" pitchFamily="34" charset="0"/>
                <a:ea typeface="Georgia" pitchFamily="34" charset="-122"/>
                <a:cs typeface="Georgia" pitchFamily="34" charset="-120"/>
              </a:rPr>
              <a:t>5</a:t>
            </a:r>
            <a:endParaRPr lang="en-US" sz="1200" dirty="0"/>
          </a:p>
        </p:txBody>
      </p:sp>
      <p:sp>
        <p:nvSpPr>
          <p:cNvPr id="40" name="Text 37"/>
          <p:cNvSpPr/>
          <p:nvPr/>
        </p:nvSpPr>
        <p:spPr>
          <a:xfrm>
            <a:off x="2523744" y="4187952"/>
            <a:ext cx="1920240" cy="182880"/>
          </a:xfrm>
          <a:prstGeom prst="rect">
            <a:avLst/>
          </a:prstGeom>
          <a:noFill/>
          <a:ln/>
        </p:spPr>
        <p:txBody>
          <a:bodyPr wrap="square" rtlCol="0" anchor="t"/>
          <a:lstStyle/>
          <a:p>
            <a:pPr algn="l" indent="0" marL="0">
              <a:buNone/>
            </a:pPr>
            <a:r>
              <a:rPr lang="en-US" sz="700" dirty="0">
                <a:solidFill>
                  <a:srgbClr val="8A7A82"/>
                </a:solidFill>
                <a:latin typeface="Calibri" pitchFamily="34" charset="0"/>
                <a:ea typeface="Calibri" pitchFamily="34" charset="-122"/>
                <a:cs typeface="Calibri" pitchFamily="34" charset="-120"/>
              </a:rPr>
              <a:t>Male Influencers</a:t>
            </a:r>
            <a:endParaRPr lang="en-US" sz="700" dirty="0"/>
          </a:p>
        </p:txBody>
      </p:sp>
      <p:sp>
        <p:nvSpPr>
          <p:cNvPr id="41" name="Text 38"/>
          <p:cNvSpPr/>
          <p:nvPr/>
        </p:nvSpPr>
        <p:spPr>
          <a:xfrm>
            <a:off x="2523744" y="4443984"/>
            <a:ext cx="1920240" cy="256032"/>
          </a:xfrm>
          <a:prstGeom prst="rect">
            <a:avLst/>
          </a:prstGeom>
          <a:noFill/>
          <a:ln/>
        </p:spPr>
        <p:txBody>
          <a:bodyPr wrap="square" rtlCol="0" anchor="t"/>
          <a:lstStyle/>
          <a:p>
            <a:pPr algn="l" indent="0" marL="0">
              <a:buNone/>
            </a:pPr>
            <a:r>
              <a:rPr lang="en-US" sz="1200" b="1" dirty="0">
                <a:solidFill>
                  <a:srgbClr val="B8923A"/>
                </a:solidFill>
                <a:latin typeface="Georgia" pitchFamily="34" charset="0"/>
                <a:ea typeface="Georgia" pitchFamily="34" charset="-122"/>
                <a:cs typeface="Georgia" pitchFamily="34" charset="-120"/>
              </a:rPr>
              <a:t>FREECERAVE</a:t>
            </a:r>
            <a:endParaRPr lang="en-US" sz="1200" dirty="0"/>
          </a:p>
        </p:txBody>
      </p:sp>
      <p:sp>
        <p:nvSpPr>
          <p:cNvPr id="42" name="Text 39"/>
          <p:cNvSpPr/>
          <p:nvPr/>
        </p:nvSpPr>
        <p:spPr>
          <a:xfrm>
            <a:off x="2523744" y="4681728"/>
            <a:ext cx="1920240" cy="182880"/>
          </a:xfrm>
          <a:prstGeom prst="rect">
            <a:avLst/>
          </a:prstGeom>
          <a:noFill/>
          <a:ln/>
        </p:spPr>
        <p:txBody>
          <a:bodyPr wrap="square" rtlCol="0" anchor="t"/>
          <a:lstStyle/>
          <a:p>
            <a:pPr algn="l" indent="0" marL="0">
              <a:buNone/>
            </a:pPr>
            <a:r>
              <a:rPr lang="en-US" sz="700" dirty="0">
                <a:solidFill>
                  <a:srgbClr val="8A7A82"/>
                </a:solidFill>
                <a:latin typeface="Calibri" pitchFamily="34" charset="0"/>
                <a:ea typeface="Calibri" pitchFamily="34" charset="-122"/>
                <a:cs typeface="Calibri" pitchFamily="34" charset="-120"/>
              </a:rPr>
              <a:t>Tracked Promo Code</a:t>
            </a:r>
            <a:endParaRPr lang="en-US" sz="700" dirty="0"/>
          </a:p>
        </p:txBody>
      </p:sp>
      <p:sp>
        <p:nvSpPr>
          <p:cNvPr id="43" name="Shape 40"/>
          <p:cNvSpPr/>
          <p:nvPr/>
        </p:nvSpPr>
        <p:spPr>
          <a:xfrm>
            <a:off x="4663440" y="1426464"/>
            <a:ext cx="2139696" cy="3438144"/>
          </a:xfrm>
          <a:prstGeom prst="rect">
            <a:avLst/>
          </a:prstGeom>
          <a:solidFill>
            <a:srgbClr val="7A3B53"/>
          </a:solidFill>
          <a:ln w="12700">
            <a:solidFill>
              <a:srgbClr val="7A3B53"/>
            </a:solidFill>
            <a:prstDash val="solid"/>
          </a:ln>
        </p:spPr>
      </p:sp>
      <p:sp>
        <p:nvSpPr>
          <p:cNvPr id="44" name="Shape 41"/>
          <p:cNvSpPr/>
          <p:nvPr/>
        </p:nvSpPr>
        <p:spPr>
          <a:xfrm>
            <a:off x="4663440" y="1426464"/>
            <a:ext cx="2139696" cy="64008"/>
          </a:xfrm>
          <a:prstGeom prst="rect">
            <a:avLst/>
          </a:prstGeom>
          <a:solidFill>
            <a:srgbClr val="B8923A"/>
          </a:solidFill>
          <a:ln w="12700">
            <a:solidFill>
              <a:srgbClr val="B8923A"/>
            </a:solidFill>
            <a:prstDash val="solid"/>
          </a:ln>
        </p:spPr>
      </p:sp>
      <p:sp>
        <p:nvSpPr>
          <p:cNvPr id="45" name="Text 42"/>
          <p:cNvSpPr/>
          <p:nvPr/>
        </p:nvSpPr>
        <p:spPr>
          <a:xfrm>
            <a:off x="4773168" y="1481328"/>
            <a:ext cx="1920240" cy="402336"/>
          </a:xfrm>
          <a:prstGeom prst="rect">
            <a:avLst/>
          </a:prstGeom>
          <a:noFill/>
          <a:ln/>
        </p:spPr>
        <p:txBody>
          <a:bodyPr wrap="square" rtlCol="0" anchor="t"/>
          <a:lstStyle/>
          <a:p>
            <a:pPr algn="l" indent="0" marL="0">
              <a:buNone/>
            </a:pPr>
            <a:r>
              <a:rPr lang="en-US" sz="900" b="1" dirty="0">
                <a:solidFill>
                  <a:srgbClr val="F5EFE0"/>
                </a:solidFill>
                <a:latin typeface="Georgia" pitchFamily="34" charset="0"/>
                <a:ea typeface="Georgia" pitchFamily="34" charset="-122"/>
                <a:cs typeface="Georgia" pitchFamily="34" charset="-120"/>
              </a:rPr>
              <a:t>Golden Kiss</a:t>
            </a:r>
            <a:endParaRPr lang="en-US" sz="900" dirty="0"/>
          </a:p>
          <a:p>
            <a:pPr algn="l" indent="0" marL="0">
              <a:buNone/>
            </a:pPr>
            <a:r>
              <a:rPr lang="en-US" sz="900" b="1" dirty="0">
                <a:solidFill>
                  <a:srgbClr val="F5EFE0"/>
                </a:solidFill>
                <a:latin typeface="Georgia" pitchFamily="34" charset="0"/>
                <a:ea typeface="Georgia" pitchFamily="34" charset="-122"/>
                <a:cs typeface="Georgia" pitchFamily="34" charset="-120"/>
              </a:rPr>
              <a:t>Beguile by Omaa</a:t>
            </a:r>
            <a:endParaRPr lang="en-US" sz="900" dirty="0"/>
          </a:p>
        </p:txBody>
      </p:sp>
      <p:sp>
        <p:nvSpPr>
          <p:cNvPr id="46" name="Shape 43"/>
          <p:cNvSpPr/>
          <p:nvPr/>
        </p:nvSpPr>
        <p:spPr>
          <a:xfrm>
            <a:off x="4773168" y="1901952"/>
            <a:ext cx="1920240" cy="0"/>
          </a:xfrm>
          <a:prstGeom prst="line">
            <a:avLst/>
          </a:prstGeom>
          <a:noFill/>
          <a:ln w="5080">
            <a:solidFill>
              <a:srgbClr val="C47A93"/>
            </a:solidFill>
            <a:prstDash val="solid"/>
          </a:ln>
        </p:spPr>
      </p:sp>
      <p:sp>
        <p:nvSpPr>
          <p:cNvPr id="47" name="Text 44"/>
          <p:cNvSpPr/>
          <p:nvPr/>
        </p:nvSpPr>
        <p:spPr>
          <a:xfrm>
            <a:off x="4773168" y="1975104"/>
            <a:ext cx="1920240" cy="256032"/>
          </a:xfrm>
          <a:prstGeom prst="rect">
            <a:avLst/>
          </a:prstGeom>
          <a:noFill/>
          <a:ln/>
        </p:spPr>
        <p:txBody>
          <a:bodyPr wrap="square" rtlCol="0" anchor="t"/>
          <a:lstStyle/>
          <a:p>
            <a:pPr algn="l" indent="0" marL="0">
              <a:buNone/>
            </a:pPr>
            <a:r>
              <a:rPr lang="en-US" sz="1200" b="1" dirty="0">
                <a:solidFill>
                  <a:srgbClr val="B8923A"/>
                </a:solidFill>
                <a:latin typeface="Georgia" pitchFamily="34" charset="0"/>
                <a:ea typeface="Georgia" pitchFamily="34" charset="-122"/>
                <a:cs typeface="Georgia" pitchFamily="34" charset="-120"/>
              </a:rPr>
              <a:t>30K+</a:t>
            </a:r>
            <a:endParaRPr lang="en-US" sz="1200" dirty="0"/>
          </a:p>
        </p:txBody>
      </p:sp>
      <p:sp>
        <p:nvSpPr>
          <p:cNvPr id="48" name="Text 45"/>
          <p:cNvSpPr/>
          <p:nvPr/>
        </p:nvSpPr>
        <p:spPr>
          <a:xfrm>
            <a:off x="4773168" y="2212848"/>
            <a:ext cx="1920240" cy="182880"/>
          </a:xfrm>
          <a:prstGeom prst="rect">
            <a:avLst/>
          </a:prstGeom>
          <a:noFill/>
          <a:ln/>
        </p:spPr>
        <p:txBody>
          <a:bodyPr wrap="square" rtlCol="0" anchor="t"/>
          <a:lstStyle/>
          <a:p>
            <a:pPr algn="l" indent="0" marL="0">
              <a:buNone/>
            </a:pPr>
            <a:r>
              <a:rPr lang="en-US" sz="700" dirty="0">
                <a:solidFill>
                  <a:srgbClr val="8A7A82"/>
                </a:solidFill>
                <a:latin typeface="Calibri" pitchFamily="34" charset="0"/>
                <a:ea typeface="Calibri" pitchFamily="34" charset="-122"/>
                <a:cs typeface="Calibri" pitchFamily="34" charset="-120"/>
              </a:rPr>
              <a:t>Beguile Followers</a:t>
            </a:r>
            <a:endParaRPr lang="en-US" sz="700" dirty="0"/>
          </a:p>
        </p:txBody>
      </p:sp>
      <p:sp>
        <p:nvSpPr>
          <p:cNvPr id="49" name="Text 46"/>
          <p:cNvSpPr/>
          <p:nvPr/>
        </p:nvSpPr>
        <p:spPr>
          <a:xfrm>
            <a:off x="4773168" y="2468880"/>
            <a:ext cx="1920240" cy="256032"/>
          </a:xfrm>
          <a:prstGeom prst="rect">
            <a:avLst/>
          </a:prstGeom>
          <a:noFill/>
          <a:ln/>
        </p:spPr>
        <p:txBody>
          <a:bodyPr wrap="square" rtlCol="0" anchor="t"/>
          <a:lstStyle/>
          <a:p>
            <a:pPr algn="l" indent="0" marL="0">
              <a:buNone/>
            </a:pPr>
            <a:r>
              <a:rPr lang="en-US" sz="1200" b="1" dirty="0">
                <a:solidFill>
                  <a:srgbClr val="B8923A"/>
                </a:solidFill>
                <a:latin typeface="Georgia" pitchFamily="34" charset="0"/>
                <a:ea typeface="Georgia" pitchFamily="34" charset="-122"/>
                <a:cs typeface="Georgia" pitchFamily="34" charset="-120"/>
              </a:rPr>
              <a:t>PRNewswire</a:t>
            </a:r>
            <a:endParaRPr lang="en-US" sz="1200" dirty="0"/>
          </a:p>
        </p:txBody>
      </p:sp>
      <p:sp>
        <p:nvSpPr>
          <p:cNvPr id="50" name="Text 47"/>
          <p:cNvSpPr/>
          <p:nvPr/>
        </p:nvSpPr>
        <p:spPr>
          <a:xfrm>
            <a:off x="4773168" y="2706624"/>
            <a:ext cx="1920240" cy="182880"/>
          </a:xfrm>
          <a:prstGeom prst="rect">
            <a:avLst/>
          </a:prstGeom>
          <a:noFill/>
          <a:ln/>
        </p:spPr>
        <p:txBody>
          <a:bodyPr wrap="square" rtlCol="0" anchor="t"/>
          <a:lstStyle/>
          <a:p>
            <a:pPr algn="l" indent="0" marL="0">
              <a:buNone/>
            </a:pPr>
            <a:r>
              <a:rPr lang="en-US" sz="700" dirty="0">
                <a:solidFill>
                  <a:srgbClr val="8A7A82"/>
                </a:solidFill>
                <a:latin typeface="Calibri" pitchFamily="34" charset="0"/>
                <a:ea typeface="Calibri" pitchFamily="34" charset="-122"/>
                <a:cs typeface="Calibri" pitchFamily="34" charset="-120"/>
              </a:rPr>
              <a:t>London Wire</a:t>
            </a:r>
            <a:endParaRPr lang="en-US" sz="700" dirty="0"/>
          </a:p>
        </p:txBody>
      </p:sp>
      <p:sp>
        <p:nvSpPr>
          <p:cNvPr id="51" name="Text 48"/>
          <p:cNvSpPr/>
          <p:nvPr/>
        </p:nvSpPr>
        <p:spPr>
          <a:xfrm>
            <a:off x="4773168" y="2962656"/>
            <a:ext cx="1920240" cy="256032"/>
          </a:xfrm>
          <a:prstGeom prst="rect">
            <a:avLst/>
          </a:prstGeom>
          <a:noFill/>
          <a:ln/>
        </p:spPr>
        <p:txBody>
          <a:bodyPr wrap="square" rtlCol="0" anchor="t"/>
          <a:lstStyle/>
          <a:p>
            <a:pPr algn="l" indent="0" marL="0">
              <a:buNone/>
            </a:pPr>
            <a:r>
              <a:rPr lang="en-US" sz="1200" b="1" dirty="0">
                <a:solidFill>
                  <a:srgbClr val="B8923A"/>
                </a:solidFill>
                <a:latin typeface="Georgia" pitchFamily="34" charset="0"/>
                <a:ea typeface="Georgia" pitchFamily="34" charset="-122"/>
                <a:cs typeface="Georgia" pitchFamily="34" charset="-120"/>
              </a:rPr>
              <a:t>4 Countries</a:t>
            </a:r>
            <a:endParaRPr lang="en-US" sz="1200" dirty="0"/>
          </a:p>
        </p:txBody>
      </p:sp>
      <p:sp>
        <p:nvSpPr>
          <p:cNvPr id="52" name="Text 49"/>
          <p:cNvSpPr/>
          <p:nvPr/>
        </p:nvSpPr>
        <p:spPr>
          <a:xfrm>
            <a:off x="4773168" y="3200400"/>
            <a:ext cx="1920240" cy="182880"/>
          </a:xfrm>
          <a:prstGeom prst="rect">
            <a:avLst/>
          </a:prstGeom>
          <a:noFill/>
          <a:ln/>
        </p:spPr>
        <p:txBody>
          <a:bodyPr wrap="square" rtlCol="0" anchor="t"/>
          <a:lstStyle/>
          <a:p>
            <a:pPr algn="l" indent="0" marL="0">
              <a:buNone/>
            </a:pPr>
            <a:r>
              <a:rPr lang="en-US" sz="700" dirty="0">
                <a:solidFill>
                  <a:srgbClr val="8A7A82"/>
                </a:solidFill>
                <a:latin typeface="Calibri" pitchFamily="34" charset="0"/>
                <a:ea typeface="Calibri" pitchFamily="34" charset="-122"/>
                <a:cs typeface="Calibri" pitchFamily="34" charset="-120"/>
              </a:rPr>
              <a:t>Distribution</a:t>
            </a:r>
            <a:endParaRPr lang="en-US" sz="700" dirty="0"/>
          </a:p>
        </p:txBody>
      </p:sp>
      <p:sp>
        <p:nvSpPr>
          <p:cNvPr id="53" name="Text 50"/>
          <p:cNvSpPr/>
          <p:nvPr/>
        </p:nvSpPr>
        <p:spPr>
          <a:xfrm>
            <a:off x="4773168" y="3456432"/>
            <a:ext cx="1920240" cy="256032"/>
          </a:xfrm>
          <a:prstGeom prst="rect">
            <a:avLst/>
          </a:prstGeom>
          <a:noFill/>
          <a:ln/>
        </p:spPr>
        <p:txBody>
          <a:bodyPr wrap="square" rtlCol="0" anchor="t"/>
          <a:lstStyle/>
          <a:p>
            <a:pPr algn="l" indent="0" marL="0">
              <a:buNone/>
            </a:pPr>
            <a:r>
              <a:rPr lang="en-US" sz="1200" b="1" dirty="0">
                <a:solidFill>
                  <a:srgbClr val="B8923A"/>
                </a:solidFill>
                <a:latin typeface="Georgia" pitchFamily="34" charset="0"/>
                <a:ea typeface="Georgia" pitchFamily="34" charset="-122"/>
                <a:cs typeface="Georgia" pitchFamily="34" charset="-120"/>
              </a:rPr>
              <a:t>Zikoko</a:t>
            </a:r>
            <a:endParaRPr lang="en-US" sz="1200" dirty="0"/>
          </a:p>
        </p:txBody>
      </p:sp>
      <p:sp>
        <p:nvSpPr>
          <p:cNvPr id="54" name="Text 51"/>
          <p:cNvSpPr/>
          <p:nvPr/>
        </p:nvSpPr>
        <p:spPr>
          <a:xfrm>
            <a:off x="4773168" y="3694176"/>
            <a:ext cx="1920240" cy="182880"/>
          </a:xfrm>
          <a:prstGeom prst="rect">
            <a:avLst/>
          </a:prstGeom>
          <a:noFill/>
          <a:ln/>
        </p:spPr>
        <p:txBody>
          <a:bodyPr wrap="square" rtlCol="0" anchor="t"/>
          <a:lstStyle/>
          <a:p>
            <a:pPr algn="l" indent="0" marL="0">
              <a:buNone/>
            </a:pPr>
            <a:r>
              <a:rPr lang="en-US" sz="700" dirty="0">
                <a:solidFill>
                  <a:srgbClr val="8A7A82"/>
                </a:solidFill>
                <a:latin typeface="Calibri" pitchFamily="34" charset="0"/>
                <a:ea typeface="Calibri" pitchFamily="34" charset="-122"/>
                <a:cs typeface="Calibri" pitchFamily="34" charset="-120"/>
              </a:rPr>
              <a:t>Editorial</a:t>
            </a:r>
            <a:endParaRPr lang="en-US" sz="700" dirty="0"/>
          </a:p>
        </p:txBody>
      </p:sp>
      <p:sp>
        <p:nvSpPr>
          <p:cNvPr id="55" name="Text 52"/>
          <p:cNvSpPr/>
          <p:nvPr/>
        </p:nvSpPr>
        <p:spPr>
          <a:xfrm>
            <a:off x="4773168" y="3950208"/>
            <a:ext cx="1920240" cy="256032"/>
          </a:xfrm>
          <a:prstGeom prst="rect">
            <a:avLst/>
          </a:prstGeom>
          <a:noFill/>
          <a:ln/>
        </p:spPr>
        <p:txBody>
          <a:bodyPr wrap="square" rtlCol="0" anchor="t"/>
          <a:lstStyle/>
          <a:p>
            <a:pPr algn="l" indent="0" marL="0">
              <a:buNone/>
            </a:pPr>
            <a:r>
              <a:rPr lang="en-US" sz="1200" b="1" dirty="0">
                <a:solidFill>
                  <a:srgbClr val="B8923A"/>
                </a:solidFill>
                <a:latin typeface="Georgia" pitchFamily="34" charset="0"/>
                <a:ea typeface="Georgia" pitchFamily="34" charset="-122"/>
                <a:cs typeface="Georgia" pitchFamily="34" charset="-120"/>
              </a:rPr>
              <a:t>BellaNaija</a:t>
            </a:r>
            <a:endParaRPr lang="en-US" sz="1200" dirty="0"/>
          </a:p>
        </p:txBody>
      </p:sp>
      <p:sp>
        <p:nvSpPr>
          <p:cNvPr id="56" name="Text 53"/>
          <p:cNvSpPr/>
          <p:nvPr/>
        </p:nvSpPr>
        <p:spPr>
          <a:xfrm>
            <a:off x="4773168" y="4187952"/>
            <a:ext cx="1920240" cy="182880"/>
          </a:xfrm>
          <a:prstGeom prst="rect">
            <a:avLst/>
          </a:prstGeom>
          <a:noFill/>
          <a:ln/>
        </p:spPr>
        <p:txBody>
          <a:bodyPr wrap="square" rtlCol="0" anchor="t"/>
          <a:lstStyle/>
          <a:p>
            <a:pPr algn="l" indent="0" marL="0">
              <a:buNone/>
            </a:pPr>
            <a:r>
              <a:rPr lang="en-US" sz="700" dirty="0">
                <a:solidFill>
                  <a:srgbClr val="8A7A82"/>
                </a:solidFill>
                <a:latin typeface="Calibri" pitchFamily="34" charset="0"/>
                <a:ea typeface="Calibri" pitchFamily="34" charset="-122"/>
                <a:cs typeface="Calibri" pitchFamily="34" charset="-120"/>
              </a:rPr>
              <a:t>Coverage</a:t>
            </a:r>
            <a:endParaRPr lang="en-US" sz="700" dirty="0"/>
          </a:p>
        </p:txBody>
      </p:sp>
      <p:sp>
        <p:nvSpPr>
          <p:cNvPr id="57" name="Text 54"/>
          <p:cNvSpPr/>
          <p:nvPr/>
        </p:nvSpPr>
        <p:spPr>
          <a:xfrm>
            <a:off x="4773168" y="4443984"/>
            <a:ext cx="1920240" cy="256032"/>
          </a:xfrm>
          <a:prstGeom prst="rect">
            <a:avLst/>
          </a:prstGeom>
          <a:noFill/>
          <a:ln/>
        </p:spPr>
        <p:txBody>
          <a:bodyPr wrap="square" rtlCol="0" anchor="t"/>
          <a:lstStyle/>
          <a:p>
            <a:pPr algn="l" indent="0" marL="0">
              <a:buNone/>
            </a:pPr>
            <a:r>
              <a:rPr lang="en-US" sz="1200" b="1" dirty="0">
                <a:solidFill>
                  <a:srgbClr val="B8923A"/>
                </a:solidFill>
                <a:latin typeface="Georgia" pitchFamily="34" charset="0"/>
                <a:ea typeface="Georgia" pitchFamily="34" charset="-122"/>
                <a:cs typeface="Georgia" pitchFamily="34" charset="-120"/>
              </a:rPr>
              <a:t>Pulse Nigeria</a:t>
            </a:r>
            <a:endParaRPr lang="en-US" sz="1200" dirty="0"/>
          </a:p>
        </p:txBody>
      </p:sp>
      <p:sp>
        <p:nvSpPr>
          <p:cNvPr id="58" name="Text 55"/>
          <p:cNvSpPr/>
          <p:nvPr/>
        </p:nvSpPr>
        <p:spPr>
          <a:xfrm>
            <a:off x="4773168" y="4681728"/>
            <a:ext cx="1920240" cy="182880"/>
          </a:xfrm>
          <a:prstGeom prst="rect">
            <a:avLst/>
          </a:prstGeom>
          <a:noFill/>
          <a:ln/>
        </p:spPr>
        <p:txBody>
          <a:bodyPr wrap="square" rtlCol="0" anchor="t"/>
          <a:lstStyle/>
          <a:p>
            <a:pPr algn="l" indent="0" marL="0">
              <a:buNone/>
            </a:pPr>
            <a:r>
              <a:rPr lang="en-US" sz="700" dirty="0">
                <a:solidFill>
                  <a:srgbClr val="8A7A82"/>
                </a:solidFill>
                <a:latin typeface="Calibri" pitchFamily="34" charset="0"/>
                <a:ea typeface="Calibri" pitchFamily="34" charset="-122"/>
                <a:cs typeface="Calibri" pitchFamily="34" charset="-120"/>
              </a:rPr>
              <a:t>Press</a:t>
            </a:r>
            <a:endParaRPr lang="en-US" sz="700" dirty="0"/>
          </a:p>
        </p:txBody>
      </p:sp>
      <p:sp>
        <p:nvSpPr>
          <p:cNvPr id="59" name="Shape 56"/>
          <p:cNvSpPr/>
          <p:nvPr/>
        </p:nvSpPr>
        <p:spPr>
          <a:xfrm>
            <a:off x="6912864" y="1426464"/>
            <a:ext cx="2139696" cy="3438144"/>
          </a:xfrm>
          <a:prstGeom prst="rect">
            <a:avLst/>
          </a:prstGeom>
          <a:solidFill>
            <a:srgbClr val="7A3B53"/>
          </a:solidFill>
          <a:ln w="12700">
            <a:solidFill>
              <a:srgbClr val="7A3B53"/>
            </a:solidFill>
            <a:prstDash val="solid"/>
          </a:ln>
        </p:spPr>
      </p:sp>
      <p:sp>
        <p:nvSpPr>
          <p:cNvPr id="60" name="Shape 57"/>
          <p:cNvSpPr/>
          <p:nvPr/>
        </p:nvSpPr>
        <p:spPr>
          <a:xfrm>
            <a:off x="6912864" y="1426464"/>
            <a:ext cx="2139696" cy="64008"/>
          </a:xfrm>
          <a:prstGeom prst="rect">
            <a:avLst/>
          </a:prstGeom>
          <a:solidFill>
            <a:srgbClr val="B8923A"/>
          </a:solidFill>
          <a:ln w="12700">
            <a:solidFill>
              <a:srgbClr val="B8923A"/>
            </a:solidFill>
            <a:prstDash val="solid"/>
          </a:ln>
        </p:spPr>
      </p:sp>
      <p:sp>
        <p:nvSpPr>
          <p:cNvPr id="61" name="Text 58"/>
          <p:cNvSpPr/>
          <p:nvPr/>
        </p:nvSpPr>
        <p:spPr>
          <a:xfrm>
            <a:off x="7022592" y="1481328"/>
            <a:ext cx="1920240" cy="402336"/>
          </a:xfrm>
          <a:prstGeom prst="rect">
            <a:avLst/>
          </a:prstGeom>
          <a:noFill/>
          <a:ln/>
        </p:spPr>
        <p:txBody>
          <a:bodyPr wrap="square" rtlCol="0" anchor="t"/>
          <a:lstStyle/>
          <a:p>
            <a:pPr algn="l" indent="0" marL="0">
              <a:buNone/>
            </a:pPr>
            <a:r>
              <a:rPr lang="en-US" sz="900" b="1" dirty="0">
                <a:solidFill>
                  <a:srgbClr val="F5EFE0"/>
                </a:solidFill>
                <a:latin typeface="Georgia" pitchFamily="34" charset="0"/>
                <a:ea typeface="Georgia" pitchFamily="34" charset="-122"/>
                <a:cs typeface="Georgia" pitchFamily="34" charset="-120"/>
              </a:rPr>
              <a:t>ISWIS</a:t>
            </a:r>
            <a:endParaRPr lang="en-US" sz="900" dirty="0"/>
          </a:p>
          <a:p>
            <a:pPr algn="l" indent="0" marL="0">
              <a:buNone/>
            </a:pPr>
            <a:r>
              <a:rPr lang="en-US" sz="900" b="1" dirty="0">
                <a:solidFill>
                  <a:srgbClr val="F5EFE0"/>
                </a:solidFill>
                <a:latin typeface="Georgia" pitchFamily="34" charset="0"/>
                <a:ea typeface="Georgia" pitchFamily="34" charset="-122"/>
                <a:cs typeface="Georgia" pitchFamily="34" charset="-120"/>
              </a:rPr>
              <a:t>Beguile</a:t>
            </a:r>
            <a:endParaRPr lang="en-US" sz="900" dirty="0"/>
          </a:p>
        </p:txBody>
      </p:sp>
      <p:sp>
        <p:nvSpPr>
          <p:cNvPr id="62" name="Shape 59"/>
          <p:cNvSpPr/>
          <p:nvPr/>
        </p:nvSpPr>
        <p:spPr>
          <a:xfrm>
            <a:off x="7022592" y="1901952"/>
            <a:ext cx="1920240" cy="0"/>
          </a:xfrm>
          <a:prstGeom prst="line">
            <a:avLst/>
          </a:prstGeom>
          <a:noFill/>
          <a:ln w="5080">
            <a:solidFill>
              <a:srgbClr val="C47A93"/>
            </a:solidFill>
            <a:prstDash val="solid"/>
          </a:ln>
        </p:spPr>
      </p:sp>
      <p:sp>
        <p:nvSpPr>
          <p:cNvPr id="63" name="Text 60"/>
          <p:cNvSpPr/>
          <p:nvPr/>
        </p:nvSpPr>
        <p:spPr>
          <a:xfrm>
            <a:off x="7022592" y="1975104"/>
            <a:ext cx="1920240" cy="256032"/>
          </a:xfrm>
          <a:prstGeom prst="rect">
            <a:avLst/>
          </a:prstGeom>
          <a:noFill/>
          <a:ln/>
        </p:spPr>
        <p:txBody>
          <a:bodyPr wrap="square" rtlCol="0" anchor="t"/>
          <a:lstStyle/>
          <a:p>
            <a:pPr algn="l" indent="0" marL="0">
              <a:buNone/>
            </a:pPr>
            <a:r>
              <a:rPr lang="en-US" sz="1200" b="1" dirty="0">
                <a:solidFill>
                  <a:srgbClr val="B8923A"/>
                </a:solidFill>
                <a:latin typeface="Georgia" pitchFamily="34" charset="0"/>
                <a:ea typeface="Georgia" pitchFamily="34" charset="-122"/>
                <a:cs typeface="Georgia" pitchFamily="34" charset="-120"/>
              </a:rPr>
              <a:t>190K+</a:t>
            </a:r>
            <a:endParaRPr lang="en-US" sz="1200" dirty="0"/>
          </a:p>
        </p:txBody>
      </p:sp>
      <p:sp>
        <p:nvSpPr>
          <p:cNvPr id="64" name="Text 61"/>
          <p:cNvSpPr/>
          <p:nvPr/>
        </p:nvSpPr>
        <p:spPr>
          <a:xfrm>
            <a:off x="7022592" y="2212848"/>
            <a:ext cx="1920240" cy="182880"/>
          </a:xfrm>
          <a:prstGeom prst="rect">
            <a:avLst/>
          </a:prstGeom>
          <a:noFill/>
          <a:ln/>
        </p:spPr>
        <p:txBody>
          <a:bodyPr wrap="square" rtlCol="0" anchor="t"/>
          <a:lstStyle/>
          <a:p>
            <a:pPr algn="l" indent="0" marL="0">
              <a:buNone/>
            </a:pPr>
            <a:r>
              <a:rPr lang="en-US" sz="700" dirty="0">
                <a:solidFill>
                  <a:srgbClr val="8A7A82"/>
                </a:solidFill>
                <a:latin typeface="Calibri" pitchFamily="34" charset="0"/>
                <a:ea typeface="Calibri" pitchFamily="34" charset="-122"/>
                <a:cs typeface="Calibri" pitchFamily="34" charset="-120"/>
              </a:rPr>
              <a:t>ISWIS Reach</a:t>
            </a:r>
            <a:endParaRPr lang="en-US" sz="700" dirty="0"/>
          </a:p>
        </p:txBody>
      </p:sp>
      <p:sp>
        <p:nvSpPr>
          <p:cNvPr id="65" name="Text 62"/>
          <p:cNvSpPr/>
          <p:nvPr/>
        </p:nvSpPr>
        <p:spPr>
          <a:xfrm>
            <a:off x="7022592" y="2468880"/>
            <a:ext cx="1920240" cy="256032"/>
          </a:xfrm>
          <a:prstGeom prst="rect">
            <a:avLst/>
          </a:prstGeom>
          <a:noFill/>
          <a:ln/>
        </p:spPr>
        <p:txBody>
          <a:bodyPr wrap="square" rtlCol="0" anchor="t"/>
          <a:lstStyle/>
          <a:p>
            <a:pPr algn="l" indent="0" marL="0">
              <a:buNone/>
            </a:pPr>
            <a:r>
              <a:rPr lang="en-US" sz="1200" b="1" dirty="0">
                <a:solidFill>
                  <a:srgbClr val="B8923A"/>
                </a:solidFill>
                <a:latin typeface="Georgia" pitchFamily="34" charset="0"/>
                <a:ea typeface="Georgia" pitchFamily="34" charset="-122"/>
                <a:cs typeface="Georgia" pitchFamily="34" charset="-120"/>
              </a:rPr>
              <a:t>Africa #1</a:t>
            </a:r>
            <a:endParaRPr lang="en-US" sz="1200" dirty="0"/>
          </a:p>
        </p:txBody>
      </p:sp>
      <p:sp>
        <p:nvSpPr>
          <p:cNvPr id="66" name="Text 63"/>
          <p:cNvSpPr/>
          <p:nvPr/>
        </p:nvSpPr>
        <p:spPr>
          <a:xfrm>
            <a:off x="7022592" y="2706624"/>
            <a:ext cx="1920240" cy="182880"/>
          </a:xfrm>
          <a:prstGeom prst="rect">
            <a:avLst/>
          </a:prstGeom>
          <a:noFill/>
          <a:ln/>
        </p:spPr>
        <p:txBody>
          <a:bodyPr wrap="square" rtlCol="0" anchor="t"/>
          <a:lstStyle/>
          <a:p>
            <a:pPr algn="l" indent="0" marL="0">
              <a:buNone/>
            </a:pPr>
            <a:r>
              <a:rPr lang="en-US" sz="700" dirty="0">
                <a:solidFill>
                  <a:srgbClr val="8A7A82"/>
                </a:solidFill>
                <a:latin typeface="Calibri" pitchFamily="34" charset="0"/>
                <a:ea typeface="Calibri" pitchFamily="34" charset="-122"/>
                <a:cs typeface="Calibri" pitchFamily="34" charset="-120"/>
              </a:rPr>
              <a:t>Podcast</a:t>
            </a:r>
            <a:endParaRPr lang="en-US" sz="700" dirty="0"/>
          </a:p>
        </p:txBody>
      </p:sp>
      <p:sp>
        <p:nvSpPr>
          <p:cNvPr id="67" name="Text 64"/>
          <p:cNvSpPr/>
          <p:nvPr/>
        </p:nvSpPr>
        <p:spPr>
          <a:xfrm>
            <a:off x="7022592" y="2962656"/>
            <a:ext cx="1920240" cy="256032"/>
          </a:xfrm>
          <a:prstGeom prst="rect">
            <a:avLst/>
          </a:prstGeom>
          <a:noFill/>
          <a:ln/>
        </p:spPr>
        <p:txBody>
          <a:bodyPr wrap="square" rtlCol="0" anchor="t"/>
          <a:lstStyle/>
          <a:p>
            <a:pPr algn="l" indent="0" marL="0">
              <a:buNone/>
            </a:pPr>
            <a:r>
              <a:rPr lang="en-US" sz="1200" b="1" dirty="0">
                <a:solidFill>
                  <a:srgbClr val="B8923A"/>
                </a:solidFill>
                <a:latin typeface="Georgia" pitchFamily="34" charset="0"/>
                <a:ea typeface="Georgia" pitchFamily="34" charset="-122"/>
                <a:cs typeface="Georgia" pitchFamily="34" charset="-120"/>
              </a:rPr>
              <a:t>ISWIS55</a:t>
            </a:r>
            <a:endParaRPr lang="en-US" sz="1200" dirty="0"/>
          </a:p>
        </p:txBody>
      </p:sp>
      <p:sp>
        <p:nvSpPr>
          <p:cNvPr id="68" name="Text 65"/>
          <p:cNvSpPr/>
          <p:nvPr/>
        </p:nvSpPr>
        <p:spPr>
          <a:xfrm>
            <a:off x="7022592" y="3200400"/>
            <a:ext cx="1920240" cy="182880"/>
          </a:xfrm>
          <a:prstGeom prst="rect">
            <a:avLst/>
          </a:prstGeom>
          <a:noFill/>
          <a:ln/>
        </p:spPr>
        <p:txBody>
          <a:bodyPr wrap="square" rtlCol="0" anchor="t"/>
          <a:lstStyle/>
          <a:p>
            <a:pPr algn="l" indent="0" marL="0">
              <a:buNone/>
            </a:pPr>
            <a:r>
              <a:rPr lang="en-US" sz="700" dirty="0">
                <a:solidFill>
                  <a:srgbClr val="8A7A82"/>
                </a:solidFill>
                <a:latin typeface="Calibri" pitchFamily="34" charset="0"/>
                <a:ea typeface="Calibri" pitchFamily="34" charset="-122"/>
                <a:cs typeface="Calibri" pitchFamily="34" charset="-120"/>
              </a:rPr>
              <a:t>Tracked Code</a:t>
            </a:r>
            <a:endParaRPr lang="en-US" sz="700" dirty="0"/>
          </a:p>
        </p:txBody>
      </p:sp>
      <p:sp>
        <p:nvSpPr>
          <p:cNvPr id="69" name="Text 66"/>
          <p:cNvSpPr/>
          <p:nvPr/>
        </p:nvSpPr>
        <p:spPr>
          <a:xfrm>
            <a:off x="7022592" y="3456432"/>
            <a:ext cx="1920240" cy="256032"/>
          </a:xfrm>
          <a:prstGeom prst="rect">
            <a:avLst/>
          </a:prstGeom>
          <a:noFill/>
          <a:ln/>
        </p:spPr>
        <p:txBody>
          <a:bodyPr wrap="square" rtlCol="0" anchor="t"/>
          <a:lstStyle/>
          <a:p>
            <a:pPr algn="l" indent="0" marL="0">
              <a:buNone/>
            </a:pPr>
            <a:r>
              <a:rPr lang="en-US" sz="1200" b="1" dirty="0">
                <a:solidFill>
                  <a:srgbClr val="B8923A"/>
                </a:solidFill>
                <a:latin typeface="Georgia" pitchFamily="34" charset="0"/>
                <a:ea typeface="Georgia" pitchFamily="34" charset="-122"/>
                <a:cs typeface="Georgia" pitchFamily="34" charset="-120"/>
              </a:rPr>
              <a:t>7 Cities</a:t>
            </a:r>
            <a:endParaRPr lang="en-US" sz="1200" dirty="0"/>
          </a:p>
        </p:txBody>
      </p:sp>
      <p:sp>
        <p:nvSpPr>
          <p:cNvPr id="70" name="Text 67"/>
          <p:cNvSpPr/>
          <p:nvPr/>
        </p:nvSpPr>
        <p:spPr>
          <a:xfrm>
            <a:off x="7022592" y="3694176"/>
            <a:ext cx="1920240" cy="182880"/>
          </a:xfrm>
          <a:prstGeom prst="rect">
            <a:avLst/>
          </a:prstGeom>
          <a:noFill/>
          <a:ln/>
        </p:spPr>
        <p:txBody>
          <a:bodyPr wrap="square" rtlCol="0" anchor="t"/>
          <a:lstStyle/>
          <a:p>
            <a:pPr algn="l" indent="0" marL="0">
              <a:buNone/>
            </a:pPr>
            <a:r>
              <a:rPr lang="en-US" sz="700" dirty="0">
                <a:solidFill>
                  <a:srgbClr val="8A7A82"/>
                </a:solidFill>
                <a:latin typeface="Calibri" pitchFamily="34" charset="0"/>
                <a:ea typeface="Calibri" pitchFamily="34" charset="-122"/>
                <a:cs typeface="Calibri" pitchFamily="34" charset="-120"/>
              </a:rPr>
              <a:t>Live Shows</a:t>
            </a:r>
            <a:endParaRPr lang="en-US" sz="700" dirty="0"/>
          </a:p>
        </p:txBody>
      </p:sp>
      <p:sp>
        <p:nvSpPr>
          <p:cNvPr id="71" name="Text 68"/>
          <p:cNvSpPr/>
          <p:nvPr/>
        </p:nvSpPr>
        <p:spPr>
          <a:xfrm>
            <a:off x="7022592" y="3950208"/>
            <a:ext cx="1920240" cy="256032"/>
          </a:xfrm>
          <a:prstGeom prst="rect">
            <a:avLst/>
          </a:prstGeom>
          <a:noFill/>
          <a:ln/>
        </p:spPr>
        <p:txBody>
          <a:bodyPr wrap="square" rtlCol="0" anchor="t"/>
          <a:lstStyle/>
          <a:p>
            <a:pPr algn="l" indent="0" marL="0">
              <a:buNone/>
            </a:pPr>
            <a:r>
              <a:rPr lang="en-US" sz="1200" b="1" dirty="0">
                <a:solidFill>
                  <a:srgbClr val="B8923A"/>
                </a:solidFill>
                <a:latin typeface="Georgia" pitchFamily="34" charset="0"/>
                <a:ea typeface="Georgia" pitchFamily="34" charset="-122"/>
                <a:cs typeface="Georgia" pitchFamily="34" charset="-120"/>
              </a:rPr>
              <a:t>Teniola</a:t>
            </a:r>
            <a:endParaRPr lang="en-US" sz="1200" dirty="0"/>
          </a:p>
        </p:txBody>
      </p:sp>
      <p:sp>
        <p:nvSpPr>
          <p:cNvPr id="72" name="Text 69"/>
          <p:cNvSpPr/>
          <p:nvPr/>
        </p:nvSpPr>
        <p:spPr>
          <a:xfrm>
            <a:off x="7022592" y="4187952"/>
            <a:ext cx="1920240" cy="182880"/>
          </a:xfrm>
          <a:prstGeom prst="rect">
            <a:avLst/>
          </a:prstGeom>
          <a:noFill/>
          <a:ln/>
        </p:spPr>
        <p:txBody>
          <a:bodyPr wrap="square" rtlCol="0" anchor="t"/>
          <a:lstStyle/>
          <a:p>
            <a:pPr algn="l" indent="0" marL="0">
              <a:buNone/>
            </a:pPr>
            <a:r>
              <a:rPr lang="en-US" sz="700" dirty="0">
                <a:solidFill>
                  <a:srgbClr val="8A7A82"/>
                </a:solidFill>
                <a:latin typeface="Calibri" pitchFamily="34" charset="0"/>
                <a:ea typeface="Calibri" pitchFamily="34" charset="-122"/>
                <a:cs typeface="Calibri" pitchFamily="34" charset="-120"/>
              </a:rPr>
              <a:t>Guest EP</a:t>
            </a:r>
            <a:endParaRPr lang="en-US" sz="700" dirty="0"/>
          </a:p>
        </p:txBody>
      </p:sp>
      <p:sp>
        <p:nvSpPr>
          <p:cNvPr id="73" name="Text 70"/>
          <p:cNvSpPr/>
          <p:nvPr/>
        </p:nvSpPr>
        <p:spPr>
          <a:xfrm>
            <a:off x="7022592" y="4443984"/>
            <a:ext cx="1920240" cy="256032"/>
          </a:xfrm>
          <a:prstGeom prst="rect">
            <a:avLst/>
          </a:prstGeom>
          <a:noFill/>
          <a:ln/>
        </p:spPr>
        <p:txBody>
          <a:bodyPr wrap="square" rtlCol="0" anchor="t"/>
          <a:lstStyle/>
          <a:p>
            <a:pPr algn="l" indent="0" marL="0">
              <a:buNone/>
            </a:pPr>
            <a:r>
              <a:rPr lang="en-US" sz="1200" b="1" dirty="0">
                <a:solidFill>
                  <a:srgbClr val="B8923A"/>
                </a:solidFill>
                <a:latin typeface="Georgia" pitchFamily="34" charset="0"/>
                <a:ea typeface="Georgia" pitchFamily="34" charset="-122"/>
                <a:cs typeface="Georgia" pitchFamily="34" charset="-120"/>
              </a:rPr>
              <a:t>Audible</a:t>
            </a:r>
            <a:endParaRPr lang="en-US" sz="1200" dirty="0"/>
          </a:p>
        </p:txBody>
      </p:sp>
      <p:sp>
        <p:nvSpPr>
          <p:cNvPr id="74" name="Text 71"/>
          <p:cNvSpPr/>
          <p:nvPr/>
        </p:nvSpPr>
        <p:spPr>
          <a:xfrm>
            <a:off x="7022592" y="4681728"/>
            <a:ext cx="1920240" cy="182880"/>
          </a:xfrm>
          <a:prstGeom prst="rect">
            <a:avLst/>
          </a:prstGeom>
          <a:noFill/>
          <a:ln/>
        </p:spPr>
        <p:txBody>
          <a:bodyPr wrap="square" rtlCol="0" anchor="t"/>
          <a:lstStyle/>
          <a:p>
            <a:pPr algn="l" indent="0" marL="0">
              <a:buNone/>
            </a:pPr>
            <a:r>
              <a:rPr lang="en-US" sz="700" dirty="0">
                <a:solidFill>
                  <a:srgbClr val="8A7A82"/>
                </a:solidFill>
                <a:latin typeface="Calibri" pitchFamily="34" charset="0"/>
                <a:ea typeface="Calibri" pitchFamily="34" charset="-122"/>
                <a:cs typeface="Calibri" pitchFamily="34" charset="-120"/>
              </a:rPr>
              <a:t>Partner</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F1"/>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B8923A"/>
          </a:solidFill>
          <a:ln w="12700">
            <a:solidFill>
              <a:srgbClr val="B8923A"/>
            </a:solidFill>
            <a:prstDash val="solid"/>
          </a:ln>
        </p:spPr>
      </p:sp>
      <p:sp>
        <p:nvSpPr>
          <p:cNvPr id="3" name="Shape 1"/>
          <p:cNvSpPr/>
          <p:nvPr/>
        </p:nvSpPr>
        <p:spPr>
          <a:xfrm>
            <a:off x="0" y="0"/>
            <a:ext cx="502920" cy="5143500"/>
          </a:xfrm>
          <a:prstGeom prst="rect">
            <a:avLst/>
          </a:prstGeom>
          <a:solidFill>
            <a:srgbClr val="9E4F6B"/>
          </a:solidFill>
          <a:ln w="12700">
            <a:solidFill>
              <a:srgbClr val="9E4F6B"/>
            </a:solidFill>
            <a:prstDash val="solid"/>
          </a:ln>
        </p:spPr>
      </p:sp>
      <p:pic>
        <p:nvPicPr>
          <p:cNvPr id="4" name="Image 0" descr="preencoded.png">    </p:cNvPr>
          <p:cNvPicPr>
            <a:picLocks noChangeAspect="1"/>
          </p:cNvPicPr>
          <p:nvPr/>
        </p:nvPicPr>
        <p:blipFill>
          <a:blip r:embed="rId1"/>
          <a:stretch>
            <a:fillRect/>
          </a:stretch>
        </p:blipFill>
        <p:spPr>
          <a:xfrm>
            <a:off x="658368" y="109728"/>
            <a:ext cx="1280160" cy="411480"/>
          </a:xfrm>
          <a:prstGeom prst="rect">
            <a:avLst/>
          </a:prstGeom>
        </p:spPr>
      </p:pic>
      <p:sp>
        <p:nvSpPr>
          <p:cNvPr id="5" name="Text 2"/>
          <p:cNvSpPr/>
          <p:nvPr/>
        </p:nvSpPr>
        <p:spPr>
          <a:xfrm>
            <a:off x="457200" y="146304"/>
            <a:ext cx="8412480" cy="201168"/>
          </a:xfrm>
          <a:prstGeom prst="rect">
            <a:avLst/>
          </a:prstGeom>
          <a:noFill/>
          <a:ln/>
        </p:spPr>
        <p:txBody>
          <a:bodyPr wrap="square" rtlCol="0" anchor="t"/>
          <a:lstStyle/>
          <a:p>
            <a:pPr algn="l" indent="0" marL="0">
              <a:buNone/>
            </a:pPr>
            <a:r>
              <a:rPr lang="en-US" sz="700" b="1" spc="350" kern="0" dirty="0">
                <a:solidFill>
                  <a:srgbClr val="9E4F6B"/>
                </a:solidFill>
                <a:latin typeface="Calibri" pitchFamily="34" charset="0"/>
                <a:ea typeface="Calibri" pitchFamily="34" charset="-122"/>
                <a:cs typeface="Calibri" pitchFamily="34" charset="-120"/>
              </a:rPr>
              <a:t>EXPERIENCE  ·  CAREER TIMELINE</a:t>
            </a:r>
            <a:endParaRPr lang="en-US" sz="700" dirty="0"/>
          </a:p>
        </p:txBody>
      </p:sp>
      <p:sp>
        <p:nvSpPr>
          <p:cNvPr id="6" name="Shape 3"/>
          <p:cNvSpPr/>
          <p:nvPr/>
        </p:nvSpPr>
        <p:spPr>
          <a:xfrm>
            <a:off x="0" y="4873752"/>
            <a:ext cx="9144000" cy="269748"/>
          </a:xfrm>
          <a:prstGeom prst="rect">
            <a:avLst/>
          </a:prstGeom>
          <a:solidFill>
            <a:srgbClr val="7A3B53"/>
          </a:solidFill>
          <a:ln w="12700">
            <a:solidFill>
              <a:srgbClr val="7A3B53"/>
            </a:solidFill>
            <a:prstDash val="solid"/>
          </a:ln>
        </p:spPr>
      </p:sp>
      <p:sp>
        <p:nvSpPr>
          <p:cNvPr id="7" name="Text 4"/>
          <p:cNvSpPr/>
          <p:nvPr/>
        </p:nvSpPr>
        <p:spPr>
          <a:xfrm>
            <a:off x="0" y="4878324"/>
            <a:ext cx="9144000" cy="256032"/>
          </a:xfrm>
          <a:prstGeom prst="rect">
            <a:avLst/>
          </a:prstGeom>
          <a:noFill/>
          <a:ln/>
        </p:spPr>
        <p:txBody>
          <a:bodyPr wrap="square" rtlCol="0" anchor="ctr"/>
          <a:lstStyle/>
          <a:p>
            <a:pPr algn="ctr" indent="0" marL="0">
              <a:buNone/>
            </a:pPr>
            <a:r>
              <a:rPr lang="en-US" sz="700" spc="150" kern="0" dirty="0">
                <a:solidFill>
                  <a:srgbClr val="E0D4BC"/>
                </a:solidFill>
                <a:latin typeface="Calibri" pitchFamily="34" charset="0"/>
                <a:ea typeface="Calibri" pitchFamily="34" charset="-122"/>
                <a:cs typeface="Calibri" pitchFamily="34" charset="-120"/>
              </a:rPr>
              <a:t>marktn PR  ·  Onyeka Nwonah  ·  Lagos, Nigeria  ·  Perception is Different</a:t>
            </a:r>
            <a:endParaRPr lang="en-US" sz="700" dirty="0"/>
          </a:p>
        </p:txBody>
      </p:sp>
      <p:sp>
        <p:nvSpPr>
          <p:cNvPr id="8" name="Text 5"/>
          <p:cNvSpPr/>
          <p:nvPr/>
        </p:nvSpPr>
        <p:spPr>
          <a:xfrm>
            <a:off x="658368" y="384048"/>
            <a:ext cx="4572000" cy="475488"/>
          </a:xfrm>
          <a:prstGeom prst="rect">
            <a:avLst/>
          </a:prstGeom>
          <a:noFill/>
          <a:ln/>
        </p:spPr>
        <p:txBody>
          <a:bodyPr wrap="square" rtlCol="0" anchor="t"/>
          <a:lstStyle/>
          <a:p>
            <a:pPr algn="l" indent="0" marL="0">
              <a:buNone/>
            </a:pPr>
            <a:r>
              <a:rPr lang="en-US" sz="2800" i="1" dirty="0">
                <a:solidFill>
                  <a:srgbClr val="7A3B53"/>
                </a:solidFill>
                <a:latin typeface="Georgia" pitchFamily="34" charset="0"/>
                <a:ea typeface="Georgia" pitchFamily="34" charset="-122"/>
                <a:cs typeface="Georgia" pitchFamily="34" charset="-120"/>
              </a:rPr>
              <a:t>Career Timeline</a:t>
            </a:r>
            <a:endParaRPr lang="en-US" sz="2800" dirty="0"/>
          </a:p>
        </p:txBody>
      </p:sp>
      <p:sp>
        <p:nvSpPr>
          <p:cNvPr id="9" name="Shape 6"/>
          <p:cNvSpPr/>
          <p:nvPr/>
        </p:nvSpPr>
        <p:spPr>
          <a:xfrm>
            <a:off x="329184" y="1051560"/>
            <a:ext cx="118872" cy="118872"/>
          </a:xfrm>
          <a:prstGeom prst="ellipse">
            <a:avLst/>
          </a:prstGeom>
          <a:solidFill>
            <a:srgbClr val="9E4F6B"/>
          </a:solidFill>
          <a:ln w="12700">
            <a:solidFill>
              <a:srgbClr val="9E4F6B"/>
            </a:solidFill>
            <a:prstDash val="solid"/>
          </a:ln>
        </p:spPr>
      </p:sp>
      <p:sp>
        <p:nvSpPr>
          <p:cNvPr id="10" name="Shape 7"/>
          <p:cNvSpPr/>
          <p:nvPr/>
        </p:nvSpPr>
        <p:spPr>
          <a:xfrm>
            <a:off x="388620" y="1179576"/>
            <a:ext cx="0" cy="457200"/>
          </a:xfrm>
          <a:prstGeom prst="line">
            <a:avLst/>
          </a:prstGeom>
          <a:noFill/>
          <a:ln w="19050">
            <a:solidFill>
              <a:srgbClr val="E8C8D5"/>
            </a:solidFill>
            <a:prstDash val="solid"/>
          </a:ln>
        </p:spPr>
      </p:sp>
      <p:sp>
        <p:nvSpPr>
          <p:cNvPr id="11" name="Text 8"/>
          <p:cNvSpPr/>
          <p:nvPr/>
        </p:nvSpPr>
        <p:spPr>
          <a:xfrm>
            <a:off x="548640" y="987552"/>
            <a:ext cx="1508760" cy="201168"/>
          </a:xfrm>
          <a:prstGeom prst="rect">
            <a:avLst/>
          </a:prstGeom>
          <a:noFill/>
          <a:ln/>
        </p:spPr>
        <p:txBody>
          <a:bodyPr wrap="square" rtlCol="0" anchor="t"/>
          <a:lstStyle/>
          <a:p>
            <a:pPr algn="l" indent="0" marL="0">
              <a:buNone/>
            </a:pPr>
            <a:r>
              <a:rPr lang="en-US" sz="650" b="1" dirty="0">
                <a:solidFill>
                  <a:srgbClr val="9E4F6B"/>
                </a:solidFill>
                <a:latin typeface="Calibri" pitchFamily="34" charset="0"/>
                <a:ea typeface="Calibri" pitchFamily="34" charset="-122"/>
                <a:cs typeface="Calibri" pitchFamily="34" charset="-120"/>
              </a:rPr>
              <a:t>2025 – Present</a:t>
            </a:r>
            <a:endParaRPr lang="en-US" sz="650" dirty="0"/>
          </a:p>
        </p:txBody>
      </p:sp>
      <p:sp>
        <p:nvSpPr>
          <p:cNvPr id="12" name="Text 9"/>
          <p:cNvSpPr/>
          <p:nvPr/>
        </p:nvSpPr>
        <p:spPr>
          <a:xfrm>
            <a:off x="2176272" y="987552"/>
            <a:ext cx="3383280" cy="201168"/>
          </a:xfrm>
          <a:prstGeom prst="rect">
            <a:avLst/>
          </a:prstGeom>
          <a:noFill/>
          <a:ln/>
        </p:spPr>
        <p:txBody>
          <a:bodyPr wrap="square" rtlCol="0" anchor="t"/>
          <a:lstStyle/>
          <a:p>
            <a:pPr algn="l" indent="0" marL="0">
              <a:buNone/>
            </a:pPr>
            <a:r>
              <a:rPr lang="en-US" sz="900" b="1" dirty="0">
                <a:solidFill>
                  <a:srgbClr val="100810"/>
                </a:solidFill>
                <a:latin typeface="Calibri" pitchFamily="34" charset="0"/>
                <a:ea typeface="Calibri" pitchFamily="34" charset="-122"/>
                <a:cs typeface="Calibri" pitchFamily="34" charset="-120"/>
              </a:rPr>
              <a:t>Creative &amp; Content Manager</a:t>
            </a:r>
            <a:endParaRPr lang="en-US" sz="900" dirty="0"/>
          </a:p>
        </p:txBody>
      </p:sp>
      <p:sp>
        <p:nvSpPr>
          <p:cNvPr id="13" name="Text 10"/>
          <p:cNvSpPr/>
          <p:nvPr/>
        </p:nvSpPr>
        <p:spPr>
          <a:xfrm>
            <a:off x="5669280" y="987552"/>
            <a:ext cx="3200400" cy="201168"/>
          </a:xfrm>
          <a:prstGeom prst="rect">
            <a:avLst/>
          </a:prstGeom>
          <a:noFill/>
          <a:ln/>
        </p:spPr>
        <p:txBody>
          <a:bodyPr wrap="square" rtlCol="0" anchor="t"/>
          <a:lstStyle/>
          <a:p>
            <a:pPr algn="l" indent="0" marL="0">
              <a:buNone/>
            </a:pPr>
            <a:r>
              <a:rPr lang="en-US" sz="650" b="1" spc="30" kern="0" dirty="0">
                <a:solidFill>
                  <a:srgbClr val="C47A93"/>
                </a:solidFill>
                <a:latin typeface="Calibri" pitchFamily="34" charset="0"/>
                <a:ea typeface="Calibri" pitchFamily="34" charset="-122"/>
                <a:cs typeface="Calibri" pitchFamily="34" charset="-120"/>
              </a:rPr>
              <a:t>Beguile by Omaa</a:t>
            </a:r>
            <a:endParaRPr lang="en-US" sz="650" dirty="0"/>
          </a:p>
        </p:txBody>
      </p:sp>
      <p:sp>
        <p:nvSpPr>
          <p:cNvPr id="14" name="Text 11"/>
          <p:cNvSpPr/>
          <p:nvPr/>
        </p:nvSpPr>
        <p:spPr>
          <a:xfrm>
            <a:off x="2176272" y="1197864"/>
            <a:ext cx="6720840" cy="329184"/>
          </a:xfrm>
          <a:prstGeom prst="rect">
            <a:avLst/>
          </a:prstGeom>
          <a:noFill/>
          <a:ln/>
        </p:spPr>
        <p:txBody>
          <a:bodyPr wrap="square" rtlCol="0" anchor="t"/>
          <a:lstStyle/>
          <a:p>
            <a:pPr algn="l" indent="0" marL="0">
              <a:buNone/>
            </a:pPr>
            <a:r>
              <a:rPr lang="en-US" sz="750" dirty="0">
                <a:solidFill>
                  <a:srgbClr val="8A7A82"/>
                </a:solidFill>
                <a:latin typeface="Calibri" pitchFamily="34" charset="0"/>
                <a:ea typeface="Calibri" pitchFamily="34" charset="-122"/>
                <a:cs typeface="Calibri" pitchFamily="34" charset="-120"/>
              </a:rPr>
              <a:t>Golden Kiss (PRNewswire London). Breathe In Beguile (Marie Claire Nigeria). ISWIS podcast partnership. Full influencer ecosystem across nano, micro, and macro creators.</a:t>
            </a:r>
            <a:endParaRPr lang="en-US" sz="750" dirty="0"/>
          </a:p>
        </p:txBody>
      </p:sp>
      <p:sp>
        <p:nvSpPr>
          <p:cNvPr id="15" name="Shape 12"/>
          <p:cNvSpPr/>
          <p:nvPr/>
        </p:nvSpPr>
        <p:spPr>
          <a:xfrm>
            <a:off x="329184" y="1613916"/>
            <a:ext cx="118872" cy="118872"/>
          </a:xfrm>
          <a:prstGeom prst="ellipse">
            <a:avLst/>
          </a:prstGeom>
          <a:solidFill>
            <a:srgbClr val="9E4F6B"/>
          </a:solidFill>
          <a:ln w="12700">
            <a:solidFill>
              <a:srgbClr val="9E4F6B"/>
            </a:solidFill>
            <a:prstDash val="solid"/>
          </a:ln>
        </p:spPr>
      </p:sp>
      <p:sp>
        <p:nvSpPr>
          <p:cNvPr id="16" name="Shape 13"/>
          <p:cNvSpPr/>
          <p:nvPr/>
        </p:nvSpPr>
        <p:spPr>
          <a:xfrm>
            <a:off x="388620" y="1741932"/>
            <a:ext cx="0" cy="457200"/>
          </a:xfrm>
          <a:prstGeom prst="line">
            <a:avLst/>
          </a:prstGeom>
          <a:noFill/>
          <a:ln w="19050">
            <a:solidFill>
              <a:srgbClr val="E8C8D5"/>
            </a:solidFill>
            <a:prstDash val="solid"/>
          </a:ln>
        </p:spPr>
      </p:sp>
      <p:sp>
        <p:nvSpPr>
          <p:cNvPr id="17" name="Text 14"/>
          <p:cNvSpPr/>
          <p:nvPr/>
        </p:nvSpPr>
        <p:spPr>
          <a:xfrm>
            <a:off x="548640" y="1549908"/>
            <a:ext cx="1508760" cy="201168"/>
          </a:xfrm>
          <a:prstGeom prst="rect">
            <a:avLst/>
          </a:prstGeom>
          <a:noFill/>
          <a:ln/>
        </p:spPr>
        <p:txBody>
          <a:bodyPr wrap="square" rtlCol="0" anchor="t"/>
          <a:lstStyle/>
          <a:p>
            <a:pPr algn="l" indent="0" marL="0">
              <a:buNone/>
            </a:pPr>
            <a:r>
              <a:rPr lang="en-US" sz="650" b="1" dirty="0">
                <a:solidFill>
                  <a:srgbClr val="9E4F6B"/>
                </a:solidFill>
                <a:latin typeface="Calibri" pitchFamily="34" charset="0"/>
                <a:ea typeface="Calibri" pitchFamily="34" charset="-122"/>
                <a:cs typeface="Calibri" pitchFamily="34" charset="-120"/>
              </a:rPr>
              <a:t>Oct 2024 – Jan 2025</a:t>
            </a:r>
            <a:endParaRPr lang="en-US" sz="650" dirty="0"/>
          </a:p>
        </p:txBody>
      </p:sp>
      <p:sp>
        <p:nvSpPr>
          <p:cNvPr id="18" name="Text 15"/>
          <p:cNvSpPr/>
          <p:nvPr/>
        </p:nvSpPr>
        <p:spPr>
          <a:xfrm>
            <a:off x="2176272" y="1549908"/>
            <a:ext cx="3383280" cy="201168"/>
          </a:xfrm>
          <a:prstGeom prst="rect">
            <a:avLst/>
          </a:prstGeom>
          <a:noFill/>
          <a:ln/>
        </p:spPr>
        <p:txBody>
          <a:bodyPr wrap="square" rtlCol="0" anchor="t"/>
          <a:lstStyle/>
          <a:p>
            <a:pPr algn="l" indent="0" marL="0">
              <a:buNone/>
            </a:pPr>
            <a:r>
              <a:rPr lang="en-US" sz="900" b="1" dirty="0">
                <a:solidFill>
                  <a:srgbClr val="100810"/>
                </a:solidFill>
                <a:latin typeface="Calibri" pitchFamily="34" charset="0"/>
                <a:ea typeface="Calibri" pitchFamily="34" charset="-122"/>
                <a:cs typeface="Calibri" pitchFamily="34" charset="-120"/>
              </a:rPr>
              <a:t>Marketing &amp; PR Executive</a:t>
            </a:r>
            <a:endParaRPr lang="en-US" sz="900" dirty="0"/>
          </a:p>
        </p:txBody>
      </p:sp>
      <p:sp>
        <p:nvSpPr>
          <p:cNvPr id="19" name="Text 16"/>
          <p:cNvSpPr/>
          <p:nvPr/>
        </p:nvSpPr>
        <p:spPr>
          <a:xfrm>
            <a:off x="5669280" y="1549908"/>
            <a:ext cx="3200400" cy="201168"/>
          </a:xfrm>
          <a:prstGeom prst="rect">
            <a:avLst/>
          </a:prstGeom>
          <a:noFill/>
          <a:ln/>
        </p:spPr>
        <p:txBody>
          <a:bodyPr wrap="square" rtlCol="0" anchor="t"/>
          <a:lstStyle/>
          <a:p>
            <a:pPr algn="l" indent="0" marL="0">
              <a:buNone/>
            </a:pPr>
            <a:r>
              <a:rPr lang="en-US" sz="650" b="1" spc="30" kern="0" dirty="0">
                <a:solidFill>
                  <a:srgbClr val="C47A93"/>
                </a:solidFill>
                <a:latin typeface="Calibri" pitchFamily="34" charset="0"/>
                <a:ea typeface="Calibri" pitchFamily="34" charset="-122"/>
                <a:cs typeface="Calibri" pitchFamily="34" charset="-120"/>
              </a:rPr>
              <a:t>Beauty Hut Africa (Techstars '23)</a:t>
            </a:r>
            <a:endParaRPr lang="en-US" sz="650" dirty="0"/>
          </a:p>
        </p:txBody>
      </p:sp>
      <p:sp>
        <p:nvSpPr>
          <p:cNvPr id="20" name="Text 17"/>
          <p:cNvSpPr/>
          <p:nvPr/>
        </p:nvSpPr>
        <p:spPr>
          <a:xfrm>
            <a:off x="2176272" y="1760220"/>
            <a:ext cx="6720840" cy="329184"/>
          </a:xfrm>
          <a:prstGeom prst="rect">
            <a:avLst/>
          </a:prstGeom>
          <a:noFill/>
          <a:ln/>
        </p:spPr>
        <p:txBody>
          <a:bodyPr wrap="square" rtlCol="0" anchor="t"/>
          <a:lstStyle/>
          <a:p>
            <a:pPr algn="l" indent="0" marL="0">
              <a:buNone/>
            </a:pPr>
            <a:r>
              <a:rPr lang="en-US" sz="750" dirty="0">
                <a:solidFill>
                  <a:srgbClr val="8A7A82"/>
                </a:solidFill>
                <a:latin typeface="Calibri" pitchFamily="34" charset="0"/>
                <a:ea typeface="Calibri" pitchFamily="34" charset="-122"/>
                <a:cs typeface="Calibri" pitchFamily="34" charset="-120"/>
              </a:rPr>
              <a:t>10+ campaigns: brand trip (₦18.8M PR value, 21 Magazine); IWD × LASUTH (Marie Claire); CeraVe Men BOGO (167K+ IG engagements); L'Oréal Professionnel Paris (Marie Claire); Danessa Myricks Beauty dinner (BoF, Marie Claire); Hut Girl Walk; Hut Girl Summer (818 Spirits × Mavin Records); GTCo Fashion Weekend; Simi, Chowdeck, Lagos Fashion Week.</a:t>
            </a:r>
            <a:endParaRPr lang="en-US" sz="750" dirty="0"/>
          </a:p>
        </p:txBody>
      </p:sp>
      <p:sp>
        <p:nvSpPr>
          <p:cNvPr id="21" name="Shape 18"/>
          <p:cNvSpPr/>
          <p:nvPr/>
        </p:nvSpPr>
        <p:spPr>
          <a:xfrm>
            <a:off x="329184" y="2176272"/>
            <a:ext cx="118872" cy="118872"/>
          </a:xfrm>
          <a:prstGeom prst="ellipse">
            <a:avLst/>
          </a:prstGeom>
          <a:solidFill>
            <a:srgbClr val="9E4F6B"/>
          </a:solidFill>
          <a:ln w="12700">
            <a:solidFill>
              <a:srgbClr val="9E4F6B"/>
            </a:solidFill>
            <a:prstDash val="solid"/>
          </a:ln>
        </p:spPr>
      </p:sp>
      <p:sp>
        <p:nvSpPr>
          <p:cNvPr id="22" name="Shape 19"/>
          <p:cNvSpPr/>
          <p:nvPr/>
        </p:nvSpPr>
        <p:spPr>
          <a:xfrm>
            <a:off x="388620" y="2304288"/>
            <a:ext cx="0" cy="457200"/>
          </a:xfrm>
          <a:prstGeom prst="line">
            <a:avLst/>
          </a:prstGeom>
          <a:noFill/>
          <a:ln w="19050">
            <a:solidFill>
              <a:srgbClr val="E8C8D5"/>
            </a:solidFill>
            <a:prstDash val="solid"/>
          </a:ln>
        </p:spPr>
      </p:sp>
      <p:sp>
        <p:nvSpPr>
          <p:cNvPr id="23" name="Text 20"/>
          <p:cNvSpPr/>
          <p:nvPr/>
        </p:nvSpPr>
        <p:spPr>
          <a:xfrm>
            <a:off x="548640" y="2112264"/>
            <a:ext cx="1508760" cy="201168"/>
          </a:xfrm>
          <a:prstGeom prst="rect">
            <a:avLst/>
          </a:prstGeom>
          <a:noFill/>
          <a:ln/>
        </p:spPr>
        <p:txBody>
          <a:bodyPr wrap="square" rtlCol="0" anchor="t"/>
          <a:lstStyle/>
          <a:p>
            <a:pPr algn="l" indent="0" marL="0">
              <a:buNone/>
            </a:pPr>
            <a:r>
              <a:rPr lang="en-US" sz="650" b="1" dirty="0">
                <a:solidFill>
                  <a:srgbClr val="9E4F6B"/>
                </a:solidFill>
                <a:latin typeface="Calibri" pitchFamily="34" charset="0"/>
                <a:ea typeface="Calibri" pitchFamily="34" charset="-122"/>
                <a:cs typeface="Calibri" pitchFamily="34" charset="-120"/>
              </a:rPr>
              <a:t>Mar – Jun 2024</a:t>
            </a:r>
            <a:endParaRPr lang="en-US" sz="650" dirty="0"/>
          </a:p>
        </p:txBody>
      </p:sp>
      <p:sp>
        <p:nvSpPr>
          <p:cNvPr id="24" name="Text 21"/>
          <p:cNvSpPr/>
          <p:nvPr/>
        </p:nvSpPr>
        <p:spPr>
          <a:xfrm>
            <a:off x="2176272" y="2112264"/>
            <a:ext cx="3383280" cy="201168"/>
          </a:xfrm>
          <a:prstGeom prst="rect">
            <a:avLst/>
          </a:prstGeom>
          <a:noFill/>
          <a:ln/>
        </p:spPr>
        <p:txBody>
          <a:bodyPr wrap="square" rtlCol="0" anchor="t"/>
          <a:lstStyle/>
          <a:p>
            <a:pPr algn="l" indent="0" marL="0">
              <a:buNone/>
            </a:pPr>
            <a:r>
              <a:rPr lang="en-US" sz="900" b="1" dirty="0">
                <a:solidFill>
                  <a:srgbClr val="100810"/>
                </a:solidFill>
                <a:latin typeface="Calibri" pitchFamily="34" charset="0"/>
                <a:ea typeface="Calibri" pitchFamily="34" charset="-122"/>
                <a:cs typeface="Calibri" pitchFamily="34" charset="-120"/>
              </a:rPr>
              <a:t>PR Associate</a:t>
            </a:r>
            <a:endParaRPr lang="en-US" sz="900" dirty="0"/>
          </a:p>
        </p:txBody>
      </p:sp>
      <p:sp>
        <p:nvSpPr>
          <p:cNvPr id="25" name="Text 22"/>
          <p:cNvSpPr/>
          <p:nvPr/>
        </p:nvSpPr>
        <p:spPr>
          <a:xfrm>
            <a:off x="5669280" y="2112264"/>
            <a:ext cx="3200400" cy="201168"/>
          </a:xfrm>
          <a:prstGeom prst="rect">
            <a:avLst/>
          </a:prstGeom>
          <a:noFill/>
          <a:ln/>
        </p:spPr>
        <p:txBody>
          <a:bodyPr wrap="square" rtlCol="0" anchor="t"/>
          <a:lstStyle/>
          <a:p>
            <a:pPr algn="l" indent="0" marL="0">
              <a:buNone/>
            </a:pPr>
            <a:r>
              <a:rPr lang="en-US" sz="650" b="1" spc="30" kern="0" dirty="0">
                <a:solidFill>
                  <a:srgbClr val="C47A93"/>
                </a:solidFill>
                <a:latin typeface="Calibri" pitchFamily="34" charset="0"/>
                <a:ea typeface="Calibri" pitchFamily="34" charset="-122"/>
                <a:cs typeface="Calibri" pitchFamily="34" charset="-120"/>
              </a:rPr>
              <a:t>Redrick PR</a:t>
            </a:r>
            <a:endParaRPr lang="en-US" sz="650" dirty="0"/>
          </a:p>
        </p:txBody>
      </p:sp>
      <p:sp>
        <p:nvSpPr>
          <p:cNvPr id="26" name="Text 23"/>
          <p:cNvSpPr/>
          <p:nvPr/>
        </p:nvSpPr>
        <p:spPr>
          <a:xfrm>
            <a:off x="2176272" y="2322576"/>
            <a:ext cx="6720840" cy="329184"/>
          </a:xfrm>
          <a:prstGeom prst="rect">
            <a:avLst/>
          </a:prstGeom>
          <a:noFill/>
          <a:ln/>
        </p:spPr>
        <p:txBody>
          <a:bodyPr wrap="square" rtlCol="0" anchor="t"/>
          <a:lstStyle/>
          <a:p>
            <a:pPr algn="l" indent="0" marL="0">
              <a:buNone/>
            </a:pPr>
            <a:r>
              <a:rPr lang="en-US" sz="750" dirty="0">
                <a:solidFill>
                  <a:srgbClr val="8A7A82"/>
                </a:solidFill>
                <a:latin typeface="Calibri" pitchFamily="34" charset="0"/>
                <a:ea typeface="Calibri" pitchFamily="34" charset="-122"/>
                <a:cs typeface="Calibri" pitchFamily="34" charset="-120"/>
              </a:rPr>
              <a:t>Veuve Clicquot × 3 Polo Tournament weekends. Maybelline Nigeria debut at Femme Fest 2024. Prime Video, Hennessy, YSL, Armani, Lancôme, Ralph Lauren, NBA 2024.</a:t>
            </a:r>
            <a:endParaRPr lang="en-US" sz="750" dirty="0"/>
          </a:p>
        </p:txBody>
      </p:sp>
      <p:sp>
        <p:nvSpPr>
          <p:cNvPr id="27" name="Shape 24"/>
          <p:cNvSpPr/>
          <p:nvPr/>
        </p:nvSpPr>
        <p:spPr>
          <a:xfrm>
            <a:off x="329184" y="2738628"/>
            <a:ext cx="118872" cy="118872"/>
          </a:xfrm>
          <a:prstGeom prst="ellipse">
            <a:avLst/>
          </a:prstGeom>
          <a:solidFill>
            <a:srgbClr val="9E4F6B"/>
          </a:solidFill>
          <a:ln w="12700">
            <a:solidFill>
              <a:srgbClr val="9E4F6B"/>
            </a:solidFill>
            <a:prstDash val="solid"/>
          </a:ln>
        </p:spPr>
      </p:sp>
      <p:sp>
        <p:nvSpPr>
          <p:cNvPr id="28" name="Shape 25"/>
          <p:cNvSpPr/>
          <p:nvPr/>
        </p:nvSpPr>
        <p:spPr>
          <a:xfrm>
            <a:off x="388620" y="2866644"/>
            <a:ext cx="0" cy="457200"/>
          </a:xfrm>
          <a:prstGeom prst="line">
            <a:avLst/>
          </a:prstGeom>
          <a:noFill/>
          <a:ln w="19050">
            <a:solidFill>
              <a:srgbClr val="E8C8D5"/>
            </a:solidFill>
            <a:prstDash val="solid"/>
          </a:ln>
        </p:spPr>
      </p:sp>
      <p:sp>
        <p:nvSpPr>
          <p:cNvPr id="29" name="Text 26"/>
          <p:cNvSpPr/>
          <p:nvPr/>
        </p:nvSpPr>
        <p:spPr>
          <a:xfrm>
            <a:off x="548640" y="2674620"/>
            <a:ext cx="1508760" cy="201168"/>
          </a:xfrm>
          <a:prstGeom prst="rect">
            <a:avLst/>
          </a:prstGeom>
          <a:noFill/>
          <a:ln/>
        </p:spPr>
        <p:txBody>
          <a:bodyPr wrap="square" rtlCol="0" anchor="t"/>
          <a:lstStyle/>
          <a:p>
            <a:pPr algn="l" indent="0" marL="0">
              <a:buNone/>
            </a:pPr>
            <a:r>
              <a:rPr lang="en-US" sz="650" b="1" dirty="0">
                <a:solidFill>
                  <a:srgbClr val="9E4F6B"/>
                </a:solidFill>
                <a:latin typeface="Calibri" pitchFamily="34" charset="0"/>
                <a:ea typeface="Calibri" pitchFamily="34" charset="-122"/>
                <a:cs typeface="Calibri" pitchFamily="34" charset="-120"/>
              </a:rPr>
              <a:t>Sep 2023 – Mar 2024</a:t>
            </a:r>
            <a:endParaRPr lang="en-US" sz="650" dirty="0"/>
          </a:p>
        </p:txBody>
      </p:sp>
      <p:sp>
        <p:nvSpPr>
          <p:cNvPr id="30" name="Text 27"/>
          <p:cNvSpPr/>
          <p:nvPr/>
        </p:nvSpPr>
        <p:spPr>
          <a:xfrm>
            <a:off x="2176272" y="2674620"/>
            <a:ext cx="3383280" cy="201168"/>
          </a:xfrm>
          <a:prstGeom prst="rect">
            <a:avLst/>
          </a:prstGeom>
          <a:noFill/>
          <a:ln/>
        </p:spPr>
        <p:txBody>
          <a:bodyPr wrap="square" rtlCol="0" anchor="t"/>
          <a:lstStyle/>
          <a:p>
            <a:pPr algn="l" indent="0" marL="0">
              <a:buNone/>
            </a:pPr>
            <a:r>
              <a:rPr lang="en-US" sz="900" b="1" dirty="0">
                <a:solidFill>
                  <a:srgbClr val="100810"/>
                </a:solidFill>
                <a:latin typeface="Calibri" pitchFamily="34" charset="0"/>
                <a:ea typeface="Calibri" pitchFamily="34" charset="-122"/>
                <a:cs typeface="Calibri" pitchFamily="34" charset="-120"/>
              </a:rPr>
              <a:t>PR Intern</a:t>
            </a:r>
            <a:endParaRPr lang="en-US" sz="900" dirty="0"/>
          </a:p>
        </p:txBody>
      </p:sp>
      <p:sp>
        <p:nvSpPr>
          <p:cNvPr id="31" name="Text 28"/>
          <p:cNvSpPr/>
          <p:nvPr/>
        </p:nvSpPr>
        <p:spPr>
          <a:xfrm>
            <a:off x="5669280" y="2674620"/>
            <a:ext cx="3200400" cy="201168"/>
          </a:xfrm>
          <a:prstGeom prst="rect">
            <a:avLst/>
          </a:prstGeom>
          <a:noFill/>
          <a:ln/>
        </p:spPr>
        <p:txBody>
          <a:bodyPr wrap="square" rtlCol="0" anchor="t"/>
          <a:lstStyle/>
          <a:p>
            <a:pPr algn="l" indent="0" marL="0">
              <a:buNone/>
            </a:pPr>
            <a:r>
              <a:rPr lang="en-US" sz="650" b="1" spc="30" kern="0" dirty="0">
                <a:solidFill>
                  <a:srgbClr val="C47A93"/>
                </a:solidFill>
                <a:latin typeface="Calibri" pitchFamily="34" charset="0"/>
                <a:ea typeface="Calibri" pitchFamily="34" charset="-122"/>
                <a:cs typeface="Calibri" pitchFamily="34" charset="-120"/>
              </a:rPr>
              <a:t>Redrick PR</a:t>
            </a:r>
            <a:endParaRPr lang="en-US" sz="650" dirty="0"/>
          </a:p>
        </p:txBody>
      </p:sp>
      <p:sp>
        <p:nvSpPr>
          <p:cNvPr id="32" name="Text 29"/>
          <p:cNvSpPr/>
          <p:nvPr/>
        </p:nvSpPr>
        <p:spPr>
          <a:xfrm>
            <a:off x="2176272" y="2884932"/>
            <a:ext cx="6720840" cy="329184"/>
          </a:xfrm>
          <a:prstGeom prst="rect">
            <a:avLst/>
          </a:prstGeom>
          <a:noFill/>
          <a:ln/>
        </p:spPr>
        <p:txBody>
          <a:bodyPr wrap="square" rtlCol="0" anchor="t"/>
          <a:lstStyle/>
          <a:p>
            <a:pPr algn="l" indent="0" marL="0">
              <a:buNone/>
            </a:pPr>
            <a:r>
              <a:rPr lang="en-US" sz="750" dirty="0">
                <a:solidFill>
                  <a:srgbClr val="8A7A82"/>
                </a:solidFill>
                <a:latin typeface="Calibri" pitchFamily="34" charset="0"/>
                <a:ea typeface="Calibri" pitchFamily="34" charset="-122"/>
                <a:cs typeface="Calibri" pitchFamily="34" charset="-120"/>
              </a:rPr>
              <a:t>Ralph Lauren × CKay launch. Prime Video 'She Must Be Obeyed' premiere. Hennessy In The Paint (200 guests). Veuve Clicquot × Polo Captains Cup. Lagos Fashion Week. Volcan Tequila. 25 Pskyn Beauty Soirée.</a:t>
            </a:r>
            <a:endParaRPr lang="en-US" sz="750" dirty="0"/>
          </a:p>
        </p:txBody>
      </p:sp>
      <p:sp>
        <p:nvSpPr>
          <p:cNvPr id="33" name="Shape 30"/>
          <p:cNvSpPr/>
          <p:nvPr/>
        </p:nvSpPr>
        <p:spPr>
          <a:xfrm>
            <a:off x="329184" y="3300984"/>
            <a:ext cx="118872" cy="118872"/>
          </a:xfrm>
          <a:prstGeom prst="ellipse">
            <a:avLst/>
          </a:prstGeom>
          <a:solidFill>
            <a:srgbClr val="9E4F6B"/>
          </a:solidFill>
          <a:ln w="12700">
            <a:solidFill>
              <a:srgbClr val="9E4F6B"/>
            </a:solidFill>
            <a:prstDash val="solid"/>
          </a:ln>
        </p:spPr>
      </p:sp>
      <p:sp>
        <p:nvSpPr>
          <p:cNvPr id="34" name="Shape 31"/>
          <p:cNvSpPr/>
          <p:nvPr/>
        </p:nvSpPr>
        <p:spPr>
          <a:xfrm>
            <a:off x="388620" y="3429000"/>
            <a:ext cx="0" cy="457200"/>
          </a:xfrm>
          <a:prstGeom prst="line">
            <a:avLst/>
          </a:prstGeom>
          <a:noFill/>
          <a:ln w="19050">
            <a:solidFill>
              <a:srgbClr val="E8C8D5"/>
            </a:solidFill>
            <a:prstDash val="solid"/>
          </a:ln>
        </p:spPr>
      </p:sp>
      <p:sp>
        <p:nvSpPr>
          <p:cNvPr id="35" name="Text 32"/>
          <p:cNvSpPr/>
          <p:nvPr/>
        </p:nvSpPr>
        <p:spPr>
          <a:xfrm>
            <a:off x="548640" y="3236976"/>
            <a:ext cx="1508760" cy="201168"/>
          </a:xfrm>
          <a:prstGeom prst="rect">
            <a:avLst/>
          </a:prstGeom>
          <a:noFill/>
          <a:ln/>
        </p:spPr>
        <p:txBody>
          <a:bodyPr wrap="square" rtlCol="0" anchor="t"/>
          <a:lstStyle/>
          <a:p>
            <a:pPr algn="l" indent="0" marL="0">
              <a:buNone/>
            </a:pPr>
            <a:r>
              <a:rPr lang="en-US" sz="650" b="1" dirty="0">
                <a:solidFill>
                  <a:srgbClr val="9E4F6B"/>
                </a:solidFill>
                <a:latin typeface="Calibri" pitchFamily="34" charset="0"/>
                <a:ea typeface="Calibri" pitchFamily="34" charset="-122"/>
                <a:cs typeface="Calibri" pitchFamily="34" charset="-120"/>
              </a:rPr>
              <a:t>Apr – Sep 2023</a:t>
            </a:r>
            <a:endParaRPr lang="en-US" sz="650" dirty="0"/>
          </a:p>
        </p:txBody>
      </p:sp>
      <p:sp>
        <p:nvSpPr>
          <p:cNvPr id="36" name="Text 33"/>
          <p:cNvSpPr/>
          <p:nvPr/>
        </p:nvSpPr>
        <p:spPr>
          <a:xfrm>
            <a:off x="2176272" y="3236976"/>
            <a:ext cx="3383280" cy="201168"/>
          </a:xfrm>
          <a:prstGeom prst="rect">
            <a:avLst/>
          </a:prstGeom>
          <a:noFill/>
          <a:ln/>
        </p:spPr>
        <p:txBody>
          <a:bodyPr wrap="square" rtlCol="0" anchor="t"/>
          <a:lstStyle/>
          <a:p>
            <a:pPr algn="l" indent="0" marL="0">
              <a:buNone/>
            </a:pPr>
            <a:r>
              <a:rPr lang="en-US" sz="900" b="1" dirty="0">
                <a:solidFill>
                  <a:srgbClr val="100810"/>
                </a:solidFill>
                <a:latin typeface="Calibri" pitchFamily="34" charset="0"/>
                <a:ea typeface="Calibri" pitchFamily="34" charset="-122"/>
                <a:cs typeface="Calibri" pitchFamily="34" charset="-120"/>
              </a:rPr>
              <a:t>Digital Marketer</a:t>
            </a:r>
            <a:endParaRPr lang="en-US" sz="900" dirty="0"/>
          </a:p>
        </p:txBody>
      </p:sp>
      <p:sp>
        <p:nvSpPr>
          <p:cNvPr id="37" name="Text 34"/>
          <p:cNvSpPr/>
          <p:nvPr/>
        </p:nvSpPr>
        <p:spPr>
          <a:xfrm>
            <a:off x="5669280" y="3236976"/>
            <a:ext cx="3200400" cy="201168"/>
          </a:xfrm>
          <a:prstGeom prst="rect">
            <a:avLst/>
          </a:prstGeom>
          <a:noFill/>
          <a:ln/>
        </p:spPr>
        <p:txBody>
          <a:bodyPr wrap="square" rtlCol="0" anchor="t"/>
          <a:lstStyle/>
          <a:p>
            <a:pPr algn="l" indent="0" marL="0">
              <a:buNone/>
            </a:pPr>
            <a:r>
              <a:rPr lang="en-US" sz="650" b="1" spc="30" kern="0" dirty="0">
                <a:solidFill>
                  <a:srgbClr val="C47A93"/>
                </a:solidFill>
                <a:latin typeface="Calibri" pitchFamily="34" charset="0"/>
                <a:ea typeface="Calibri" pitchFamily="34" charset="-122"/>
                <a:cs typeface="Calibri" pitchFamily="34" charset="-120"/>
              </a:rPr>
              <a:t>Chopilos by Slippery, Victoria Island</a:t>
            </a:r>
            <a:endParaRPr lang="en-US" sz="650" dirty="0"/>
          </a:p>
        </p:txBody>
      </p:sp>
      <p:sp>
        <p:nvSpPr>
          <p:cNvPr id="38" name="Text 35"/>
          <p:cNvSpPr/>
          <p:nvPr/>
        </p:nvSpPr>
        <p:spPr>
          <a:xfrm>
            <a:off x="2176272" y="3447288"/>
            <a:ext cx="6720840" cy="329184"/>
          </a:xfrm>
          <a:prstGeom prst="rect">
            <a:avLst/>
          </a:prstGeom>
          <a:noFill/>
          <a:ln/>
        </p:spPr>
        <p:txBody>
          <a:bodyPr wrap="square" rtlCol="0" anchor="t"/>
          <a:lstStyle/>
          <a:p>
            <a:pPr algn="l" indent="0" marL="0">
              <a:buNone/>
            </a:pPr>
            <a:r>
              <a:rPr lang="en-US" sz="750" dirty="0">
                <a:solidFill>
                  <a:srgbClr val="8A7A82"/>
                </a:solidFill>
                <a:latin typeface="Calibri" pitchFamily="34" charset="0"/>
                <a:ea typeface="Calibri" pitchFamily="34" charset="-122"/>
                <a:cs typeface="Calibri" pitchFamily="34" charset="-120"/>
              </a:rPr>
              <a:t>Chopilos Foundation Charity Event (event anchoring, digital strategy). Novelty Cup Charity Soccer Tournament — sponsorship outreach to SuperSport and Hennessy.</a:t>
            </a:r>
            <a:endParaRPr lang="en-US" sz="750" dirty="0"/>
          </a:p>
        </p:txBody>
      </p:sp>
      <p:sp>
        <p:nvSpPr>
          <p:cNvPr id="39" name="Shape 36"/>
          <p:cNvSpPr/>
          <p:nvPr/>
        </p:nvSpPr>
        <p:spPr>
          <a:xfrm>
            <a:off x="329184" y="3863340"/>
            <a:ext cx="118872" cy="118872"/>
          </a:xfrm>
          <a:prstGeom prst="ellipse">
            <a:avLst/>
          </a:prstGeom>
          <a:solidFill>
            <a:srgbClr val="9E4F6B"/>
          </a:solidFill>
          <a:ln w="12700">
            <a:solidFill>
              <a:srgbClr val="9E4F6B"/>
            </a:solidFill>
            <a:prstDash val="solid"/>
          </a:ln>
        </p:spPr>
      </p:sp>
      <p:sp>
        <p:nvSpPr>
          <p:cNvPr id="40" name="Shape 37"/>
          <p:cNvSpPr/>
          <p:nvPr/>
        </p:nvSpPr>
        <p:spPr>
          <a:xfrm>
            <a:off x="388620" y="3991356"/>
            <a:ext cx="0" cy="457200"/>
          </a:xfrm>
          <a:prstGeom prst="line">
            <a:avLst/>
          </a:prstGeom>
          <a:noFill/>
          <a:ln w="19050">
            <a:solidFill>
              <a:srgbClr val="E8C8D5"/>
            </a:solidFill>
            <a:prstDash val="solid"/>
          </a:ln>
        </p:spPr>
      </p:sp>
      <p:sp>
        <p:nvSpPr>
          <p:cNvPr id="41" name="Text 38"/>
          <p:cNvSpPr/>
          <p:nvPr/>
        </p:nvSpPr>
        <p:spPr>
          <a:xfrm>
            <a:off x="548640" y="3799332"/>
            <a:ext cx="1508760" cy="201168"/>
          </a:xfrm>
          <a:prstGeom prst="rect">
            <a:avLst/>
          </a:prstGeom>
          <a:noFill/>
          <a:ln/>
        </p:spPr>
        <p:txBody>
          <a:bodyPr wrap="square" rtlCol="0" anchor="t"/>
          <a:lstStyle/>
          <a:p>
            <a:pPr algn="l" indent="0" marL="0">
              <a:buNone/>
            </a:pPr>
            <a:r>
              <a:rPr lang="en-US" sz="650" b="1" dirty="0">
                <a:solidFill>
                  <a:srgbClr val="9E4F6B"/>
                </a:solidFill>
                <a:latin typeface="Calibri" pitchFamily="34" charset="0"/>
                <a:ea typeface="Calibri" pitchFamily="34" charset="-122"/>
                <a:cs typeface="Calibri" pitchFamily="34" charset="-120"/>
              </a:rPr>
              <a:t>Oct 2022</a:t>
            </a:r>
            <a:endParaRPr lang="en-US" sz="650" dirty="0"/>
          </a:p>
        </p:txBody>
      </p:sp>
      <p:sp>
        <p:nvSpPr>
          <p:cNvPr id="42" name="Text 39"/>
          <p:cNvSpPr/>
          <p:nvPr/>
        </p:nvSpPr>
        <p:spPr>
          <a:xfrm>
            <a:off x="2176272" y="3799332"/>
            <a:ext cx="3383280" cy="201168"/>
          </a:xfrm>
          <a:prstGeom prst="rect">
            <a:avLst/>
          </a:prstGeom>
          <a:noFill/>
          <a:ln/>
        </p:spPr>
        <p:txBody>
          <a:bodyPr wrap="square" rtlCol="0" anchor="t"/>
          <a:lstStyle/>
          <a:p>
            <a:pPr algn="l" indent="0" marL="0">
              <a:buNone/>
            </a:pPr>
            <a:r>
              <a:rPr lang="en-US" sz="900" b="1" dirty="0">
                <a:solidFill>
                  <a:srgbClr val="100810"/>
                </a:solidFill>
                <a:latin typeface="Calibri" pitchFamily="34" charset="0"/>
                <a:ea typeface="Calibri" pitchFamily="34" charset="-122"/>
                <a:cs typeface="Calibri" pitchFamily="34" charset="-120"/>
              </a:rPr>
              <a:t>Backstage Production Intern</a:t>
            </a:r>
            <a:endParaRPr lang="en-US" sz="900" dirty="0"/>
          </a:p>
        </p:txBody>
      </p:sp>
      <p:sp>
        <p:nvSpPr>
          <p:cNvPr id="43" name="Text 40"/>
          <p:cNvSpPr/>
          <p:nvPr/>
        </p:nvSpPr>
        <p:spPr>
          <a:xfrm>
            <a:off x="5669280" y="3799332"/>
            <a:ext cx="3200400" cy="201168"/>
          </a:xfrm>
          <a:prstGeom prst="rect">
            <a:avLst/>
          </a:prstGeom>
          <a:noFill/>
          <a:ln/>
        </p:spPr>
        <p:txBody>
          <a:bodyPr wrap="square" rtlCol="0" anchor="t"/>
          <a:lstStyle/>
          <a:p>
            <a:pPr algn="l" indent="0" marL="0">
              <a:buNone/>
            </a:pPr>
            <a:r>
              <a:rPr lang="en-US" sz="650" b="1" spc="30" kern="0" dirty="0">
                <a:solidFill>
                  <a:srgbClr val="C47A93"/>
                </a:solidFill>
                <a:latin typeface="Calibri" pitchFamily="34" charset="0"/>
                <a:ea typeface="Calibri" pitchFamily="34" charset="-122"/>
                <a:cs typeface="Calibri" pitchFamily="34" charset="-120"/>
              </a:rPr>
              <a:t>Lagos Fashion Week 2022</a:t>
            </a:r>
            <a:endParaRPr lang="en-US" sz="650" dirty="0"/>
          </a:p>
        </p:txBody>
      </p:sp>
      <p:sp>
        <p:nvSpPr>
          <p:cNvPr id="44" name="Text 41"/>
          <p:cNvSpPr/>
          <p:nvPr/>
        </p:nvSpPr>
        <p:spPr>
          <a:xfrm>
            <a:off x="2176272" y="4009644"/>
            <a:ext cx="6720840" cy="329184"/>
          </a:xfrm>
          <a:prstGeom prst="rect">
            <a:avLst/>
          </a:prstGeom>
          <a:noFill/>
          <a:ln/>
        </p:spPr>
        <p:txBody>
          <a:bodyPr wrap="square" rtlCol="0" anchor="t"/>
          <a:lstStyle/>
          <a:p>
            <a:pPr algn="l" indent="0" marL="0">
              <a:buNone/>
            </a:pPr>
            <a:r>
              <a:rPr lang="en-US" sz="750" dirty="0">
                <a:solidFill>
                  <a:srgbClr val="8A7A82"/>
                </a:solidFill>
                <a:latin typeface="Calibri" pitchFamily="34" charset="0"/>
                <a:ea typeface="Calibri" pitchFamily="34" charset="-122"/>
                <a:cs typeface="Calibri" pitchFamily="34" charset="-120"/>
              </a:rPr>
              <a:t>Green Access Designers 2022 showcase. International designers from South Africa — model selection, wardrobe, full backstage logistics.</a:t>
            </a:r>
            <a:endParaRPr lang="en-US" sz="750" dirty="0"/>
          </a:p>
        </p:txBody>
      </p:sp>
      <p:sp>
        <p:nvSpPr>
          <p:cNvPr id="45" name="Shape 42"/>
          <p:cNvSpPr/>
          <p:nvPr/>
        </p:nvSpPr>
        <p:spPr>
          <a:xfrm>
            <a:off x="329184" y="4425696"/>
            <a:ext cx="118872" cy="118872"/>
          </a:xfrm>
          <a:prstGeom prst="ellipse">
            <a:avLst/>
          </a:prstGeom>
          <a:solidFill>
            <a:srgbClr val="9E4F6B"/>
          </a:solidFill>
          <a:ln w="12700">
            <a:solidFill>
              <a:srgbClr val="9E4F6B"/>
            </a:solidFill>
            <a:prstDash val="solid"/>
          </a:ln>
        </p:spPr>
      </p:sp>
      <p:sp>
        <p:nvSpPr>
          <p:cNvPr id="46" name="Text 43"/>
          <p:cNvSpPr/>
          <p:nvPr/>
        </p:nvSpPr>
        <p:spPr>
          <a:xfrm>
            <a:off x="548640" y="4361688"/>
            <a:ext cx="1508760" cy="201168"/>
          </a:xfrm>
          <a:prstGeom prst="rect">
            <a:avLst/>
          </a:prstGeom>
          <a:noFill/>
          <a:ln/>
        </p:spPr>
        <p:txBody>
          <a:bodyPr wrap="square" rtlCol="0" anchor="t"/>
          <a:lstStyle/>
          <a:p>
            <a:pPr algn="l" indent="0" marL="0">
              <a:buNone/>
            </a:pPr>
            <a:r>
              <a:rPr lang="en-US" sz="650" b="1" dirty="0">
                <a:solidFill>
                  <a:srgbClr val="9E4F6B"/>
                </a:solidFill>
                <a:latin typeface="Calibri" pitchFamily="34" charset="0"/>
                <a:ea typeface="Calibri" pitchFamily="34" charset="-122"/>
                <a:cs typeface="Calibri" pitchFamily="34" charset="-120"/>
              </a:rPr>
              <a:t>May – Aug 2021</a:t>
            </a:r>
            <a:endParaRPr lang="en-US" sz="650" dirty="0"/>
          </a:p>
        </p:txBody>
      </p:sp>
      <p:sp>
        <p:nvSpPr>
          <p:cNvPr id="47" name="Text 44"/>
          <p:cNvSpPr/>
          <p:nvPr/>
        </p:nvSpPr>
        <p:spPr>
          <a:xfrm>
            <a:off x="2176272" y="4361688"/>
            <a:ext cx="3383280" cy="201168"/>
          </a:xfrm>
          <a:prstGeom prst="rect">
            <a:avLst/>
          </a:prstGeom>
          <a:noFill/>
          <a:ln/>
        </p:spPr>
        <p:txBody>
          <a:bodyPr wrap="square" rtlCol="0" anchor="t"/>
          <a:lstStyle/>
          <a:p>
            <a:pPr algn="l" indent="0" marL="0">
              <a:buNone/>
            </a:pPr>
            <a:r>
              <a:rPr lang="en-US" sz="900" b="1" dirty="0">
                <a:solidFill>
                  <a:srgbClr val="100810"/>
                </a:solidFill>
                <a:latin typeface="Calibri" pitchFamily="34" charset="0"/>
                <a:ea typeface="Calibri" pitchFamily="34" charset="-122"/>
                <a:cs typeface="Calibri" pitchFamily="34" charset="-120"/>
              </a:rPr>
              <a:t>Programming &amp; Social Media Intern</a:t>
            </a:r>
            <a:endParaRPr lang="en-US" sz="900" dirty="0"/>
          </a:p>
        </p:txBody>
      </p:sp>
      <p:sp>
        <p:nvSpPr>
          <p:cNvPr id="48" name="Text 45"/>
          <p:cNvSpPr/>
          <p:nvPr/>
        </p:nvSpPr>
        <p:spPr>
          <a:xfrm>
            <a:off x="5669280" y="4361688"/>
            <a:ext cx="3200400" cy="201168"/>
          </a:xfrm>
          <a:prstGeom prst="rect">
            <a:avLst/>
          </a:prstGeom>
          <a:noFill/>
          <a:ln/>
        </p:spPr>
        <p:txBody>
          <a:bodyPr wrap="square" rtlCol="0" anchor="t"/>
          <a:lstStyle/>
          <a:p>
            <a:pPr algn="l" indent="0" marL="0">
              <a:buNone/>
            </a:pPr>
            <a:r>
              <a:rPr lang="en-US" sz="650" b="1" spc="30" kern="0" dirty="0">
                <a:solidFill>
                  <a:srgbClr val="C47A93"/>
                </a:solidFill>
                <a:latin typeface="Calibri" pitchFamily="34" charset="0"/>
                <a:ea typeface="Calibri" pitchFamily="34" charset="-122"/>
                <a:cs typeface="Calibri" pitchFamily="34" charset="-120"/>
              </a:rPr>
              <a:t>Plus TV Africa</a:t>
            </a:r>
            <a:endParaRPr lang="en-US" sz="650" dirty="0"/>
          </a:p>
        </p:txBody>
      </p:sp>
      <p:sp>
        <p:nvSpPr>
          <p:cNvPr id="49" name="Text 46"/>
          <p:cNvSpPr/>
          <p:nvPr/>
        </p:nvSpPr>
        <p:spPr>
          <a:xfrm>
            <a:off x="2176272" y="4572000"/>
            <a:ext cx="6720840" cy="329184"/>
          </a:xfrm>
          <a:prstGeom prst="rect">
            <a:avLst/>
          </a:prstGeom>
          <a:noFill/>
          <a:ln/>
        </p:spPr>
        <p:txBody>
          <a:bodyPr wrap="square" rtlCol="0" anchor="t"/>
          <a:lstStyle/>
          <a:p>
            <a:pPr algn="l" indent="0" marL="0">
              <a:buNone/>
            </a:pPr>
            <a:r>
              <a:rPr lang="en-US" sz="750" dirty="0">
                <a:solidFill>
                  <a:srgbClr val="8A7A82"/>
                </a:solidFill>
                <a:latin typeface="Calibri" pitchFamily="34" charset="0"/>
                <a:ea typeface="Calibri" pitchFamily="34" charset="-122"/>
                <a:cs typeface="Calibri" pitchFamily="34" charset="-120"/>
              </a:rPr>
              <a:t>Live Tea Time Show presenter. Celebrity interviews. Social media strategy for Plus TV Africa Entertainment.</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9E4F6B"/>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B8923A"/>
          </a:solidFill>
          <a:ln w="12700">
            <a:solidFill>
              <a:srgbClr val="B8923A"/>
            </a:solidFill>
            <a:prstDash val="solid"/>
          </a:ln>
        </p:spPr>
      </p:sp>
      <p:sp>
        <p:nvSpPr>
          <p:cNvPr id="3" name="Shape 1"/>
          <p:cNvSpPr/>
          <p:nvPr/>
        </p:nvSpPr>
        <p:spPr>
          <a:xfrm>
            <a:off x="6858000" y="3200400"/>
            <a:ext cx="3657600" cy="3657600"/>
          </a:xfrm>
          <a:prstGeom prst="ellipse">
            <a:avLst/>
          </a:prstGeom>
          <a:solidFill>
            <a:srgbClr val="7A3B53">
              <a:alpha val="35000"/>
            </a:srgbClr>
          </a:solidFill>
          <a:ln w="12700">
            <a:solidFill>
              <a:srgbClr val="7A3B53">
                <a:alpha val="35000"/>
              </a:srgbClr>
            </a:solidFill>
            <a:prstDash val="solid"/>
          </a:ln>
        </p:spPr>
      </p:sp>
      <p:sp>
        <p:nvSpPr>
          <p:cNvPr id="4" name="Shape 2"/>
          <p:cNvSpPr/>
          <p:nvPr/>
        </p:nvSpPr>
        <p:spPr>
          <a:xfrm>
            <a:off x="0" y="4873752"/>
            <a:ext cx="9144000" cy="269748"/>
          </a:xfrm>
          <a:prstGeom prst="rect">
            <a:avLst/>
          </a:prstGeom>
          <a:solidFill>
            <a:srgbClr val="7A3B53"/>
          </a:solidFill>
          <a:ln w="12700">
            <a:solidFill>
              <a:srgbClr val="7A3B53"/>
            </a:solidFill>
            <a:prstDash val="solid"/>
          </a:ln>
        </p:spPr>
      </p:sp>
      <p:sp>
        <p:nvSpPr>
          <p:cNvPr id="5" name="Text 3"/>
          <p:cNvSpPr/>
          <p:nvPr/>
        </p:nvSpPr>
        <p:spPr>
          <a:xfrm>
            <a:off x="0" y="4878324"/>
            <a:ext cx="9144000" cy="256032"/>
          </a:xfrm>
          <a:prstGeom prst="rect">
            <a:avLst/>
          </a:prstGeom>
          <a:noFill/>
          <a:ln/>
        </p:spPr>
        <p:txBody>
          <a:bodyPr wrap="square" rtlCol="0" anchor="ctr"/>
          <a:lstStyle/>
          <a:p>
            <a:pPr algn="ctr" indent="0" marL="0">
              <a:buNone/>
            </a:pPr>
            <a:r>
              <a:rPr lang="en-US" sz="700" spc="150" kern="0" dirty="0">
                <a:solidFill>
                  <a:srgbClr val="E0D4BC"/>
                </a:solidFill>
                <a:latin typeface="Calibri" pitchFamily="34" charset="0"/>
                <a:ea typeface="Calibri" pitchFamily="34" charset="-122"/>
                <a:cs typeface="Calibri" pitchFamily="34" charset="-120"/>
              </a:rPr>
              <a:t>marktn PR  ·  Onyeka Nwonah  ·  Lagos, Nigeria  ·  Perception is Different</a:t>
            </a:r>
            <a:endParaRPr lang="en-US" sz="700" dirty="0"/>
          </a:p>
        </p:txBody>
      </p:sp>
      <p:sp>
        <p:nvSpPr>
          <p:cNvPr id="6" name="Text 4"/>
          <p:cNvSpPr/>
          <p:nvPr/>
        </p:nvSpPr>
        <p:spPr>
          <a:xfrm>
            <a:off x="365760" y="137160"/>
            <a:ext cx="4389120" cy="457200"/>
          </a:xfrm>
          <a:prstGeom prst="rect">
            <a:avLst/>
          </a:prstGeom>
          <a:noFill/>
          <a:ln/>
        </p:spPr>
        <p:txBody>
          <a:bodyPr wrap="square" rtlCol="0" anchor="t"/>
          <a:lstStyle/>
          <a:p>
            <a:pPr algn="l" indent="0" marL="0">
              <a:buNone/>
            </a:pPr>
            <a:r>
              <a:rPr lang="en-US" sz="3600" b="1" dirty="0">
                <a:solidFill>
                  <a:srgbClr val="F5EFE0"/>
                </a:solidFill>
                <a:latin typeface="Georgia" pitchFamily="34" charset="0"/>
                <a:ea typeface="Georgia" pitchFamily="34" charset="-122"/>
                <a:cs typeface="Georgia" pitchFamily="34" charset="-120"/>
              </a:rPr>
              <a:t>Press &amp;</a:t>
            </a:r>
            <a:endParaRPr lang="en-US" sz="3600" dirty="0"/>
          </a:p>
        </p:txBody>
      </p:sp>
      <p:sp>
        <p:nvSpPr>
          <p:cNvPr id="7" name="Text 5"/>
          <p:cNvSpPr/>
          <p:nvPr/>
        </p:nvSpPr>
        <p:spPr>
          <a:xfrm>
            <a:off x="365760" y="585216"/>
            <a:ext cx="4389120" cy="457200"/>
          </a:xfrm>
          <a:prstGeom prst="rect">
            <a:avLst/>
          </a:prstGeom>
          <a:noFill/>
          <a:ln/>
        </p:spPr>
        <p:txBody>
          <a:bodyPr wrap="square" rtlCol="0" anchor="t"/>
          <a:lstStyle/>
          <a:p>
            <a:pPr algn="l" indent="0" marL="0">
              <a:buNone/>
            </a:pPr>
            <a:r>
              <a:rPr lang="en-US" sz="3600" b="1" dirty="0">
                <a:solidFill>
                  <a:srgbClr val="F5EFE0"/>
                </a:solidFill>
                <a:latin typeface="Georgia" pitchFamily="34" charset="0"/>
                <a:ea typeface="Georgia" pitchFamily="34" charset="-122"/>
                <a:cs typeface="Georgia" pitchFamily="34" charset="-120"/>
              </a:rPr>
              <a:t>Recognition</a:t>
            </a:r>
            <a:endParaRPr lang="en-US" sz="3600" dirty="0"/>
          </a:p>
        </p:txBody>
      </p:sp>
      <p:sp>
        <p:nvSpPr>
          <p:cNvPr id="8" name="Text 6"/>
          <p:cNvSpPr/>
          <p:nvPr/>
        </p:nvSpPr>
        <p:spPr>
          <a:xfrm>
            <a:off x="5120640" y="201168"/>
            <a:ext cx="3840480" cy="329184"/>
          </a:xfrm>
          <a:prstGeom prst="rect">
            <a:avLst/>
          </a:prstGeom>
          <a:noFill/>
          <a:ln/>
        </p:spPr>
        <p:txBody>
          <a:bodyPr wrap="square" rtlCol="0" anchor="t"/>
          <a:lstStyle/>
          <a:p>
            <a:pPr algn="l" indent="0" marL="0">
              <a:buNone/>
            </a:pPr>
            <a:r>
              <a:rPr lang="en-US" sz="1600" i="1" dirty="0">
                <a:solidFill>
                  <a:srgbClr val="E0D4BC"/>
                </a:solidFill>
                <a:latin typeface="Georgia" pitchFamily="34" charset="0"/>
                <a:ea typeface="Georgia" pitchFamily="34" charset="-122"/>
                <a:cs typeface="Georgia" pitchFamily="34" charset="-120"/>
              </a:rPr>
              <a:t>Campaigns covered</a:t>
            </a:r>
            <a:endParaRPr lang="en-US" sz="1600" dirty="0"/>
          </a:p>
        </p:txBody>
      </p:sp>
      <p:sp>
        <p:nvSpPr>
          <p:cNvPr id="9" name="Text 7"/>
          <p:cNvSpPr/>
          <p:nvPr/>
        </p:nvSpPr>
        <p:spPr>
          <a:xfrm>
            <a:off x="5120640" y="512064"/>
            <a:ext cx="3840480" cy="329184"/>
          </a:xfrm>
          <a:prstGeom prst="rect">
            <a:avLst/>
          </a:prstGeom>
          <a:noFill/>
          <a:ln/>
        </p:spPr>
        <p:txBody>
          <a:bodyPr wrap="square" rtlCol="0" anchor="t"/>
          <a:lstStyle/>
          <a:p>
            <a:pPr algn="l" indent="0" marL="0">
              <a:buNone/>
            </a:pPr>
            <a:r>
              <a:rPr lang="en-US" sz="1600" i="1" dirty="0">
                <a:solidFill>
                  <a:srgbClr val="E0D4BC"/>
                </a:solidFill>
                <a:latin typeface="Georgia" pitchFamily="34" charset="0"/>
                <a:ea typeface="Georgia" pitchFamily="34" charset="-122"/>
                <a:cs typeface="Georgia" pitchFamily="34" charset="-120"/>
              </a:rPr>
              <a:t>by leading media</a:t>
            </a:r>
            <a:endParaRPr lang="en-US" sz="1600" dirty="0"/>
          </a:p>
        </p:txBody>
      </p:sp>
      <p:sp>
        <p:nvSpPr>
          <p:cNvPr id="10" name="Shape 8"/>
          <p:cNvSpPr/>
          <p:nvPr/>
        </p:nvSpPr>
        <p:spPr>
          <a:xfrm>
            <a:off x="347472" y="1353312"/>
            <a:ext cx="2816352" cy="1060704"/>
          </a:xfrm>
          <a:prstGeom prst="rect">
            <a:avLst/>
          </a:prstGeom>
          <a:solidFill>
            <a:srgbClr val="7A3B53"/>
          </a:solidFill>
          <a:ln w="12700">
            <a:solidFill>
              <a:srgbClr val="7A3B53"/>
            </a:solidFill>
            <a:prstDash val="solid"/>
          </a:ln>
        </p:spPr>
      </p:sp>
      <p:sp>
        <p:nvSpPr>
          <p:cNvPr id="11" name="Shape 9"/>
          <p:cNvSpPr/>
          <p:nvPr/>
        </p:nvSpPr>
        <p:spPr>
          <a:xfrm>
            <a:off x="347472" y="1353312"/>
            <a:ext cx="2816352" cy="54864"/>
          </a:xfrm>
          <a:prstGeom prst="rect">
            <a:avLst/>
          </a:prstGeom>
          <a:solidFill>
            <a:srgbClr val="B8923A"/>
          </a:solidFill>
          <a:ln w="12700">
            <a:solidFill>
              <a:srgbClr val="B8923A"/>
            </a:solidFill>
            <a:prstDash val="solid"/>
          </a:ln>
        </p:spPr>
      </p:sp>
      <p:sp>
        <p:nvSpPr>
          <p:cNvPr id="12" name="Text 10"/>
          <p:cNvSpPr/>
          <p:nvPr/>
        </p:nvSpPr>
        <p:spPr>
          <a:xfrm>
            <a:off x="457200" y="1463040"/>
            <a:ext cx="2596896" cy="182880"/>
          </a:xfrm>
          <a:prstGeom prst="rect">
            <a:avLst/>
          </a:prstGeom>
          <a:noFill/>
          <a:ln/>
        </p:spPr>
        <p:txBody>
          <a:bodyPr wrap="square" rtlCol="0" anchor="t"/>
          <a:lstStyle/>
          <a:p>
            <a:pPr algn="l" indent="0" marL="0">
              <a:buNone/>
            </a:pPr>
            <a:r>
              <a:rPr lang="en-US" sz="650" b="1" spc="150" kern="0" dirty="0">
                <a:solidFill>
                  <a:srgbClr val="B8923A"/>
                </a:solidFill>
                <a:latin typeface="Calibri" pitchFamily="34" charset="0"/>
                <a:ea typeface="Calibri" pitchFamily="34" charset="-122"/>
                <a:cs typeface="Calibri" pitchFamily="34" charset="-120"/>
              </a:rPr>
              <a:t>21 MAGAZINE</a:t>
            </a:r>
            <a:endParaRPr lang="en-US" sz="650" dirty="0"/>
          </a:p>
        </p:txBody>
      </p:sp>
      <p:sp>
        <p:nvSpPr>
          <p:cNvPr id="13" name="Text 11"/>
          <p:cNvSpPr/>
          <p:nvPr/>
        </p:nvSpPr>
        <p:spPr>
          <a:xfrm>
            <a:off x="457200" y="1645920"/>
            <a:ext cx="2596896" cy="237744"/>
          </a:xfrm>
          <a:prstGeom prst="rect">
            <a:avLst/>
          </a:prstGeom>
          <a:noFill/>
          <a:ln/>
        </p:spPr>
        <p:txBody>
          <a:bodyPr wrap="square" rtlCol="0" anchor="t"/>
          <a:lstStyle/>
          <a:p>
            <a:pPr algn="l" indent="0" marL="0">
              <a:buNone/>
            </a:pPr>
            <a:r>
              <a:rPr lang="en-US" sz="950" b="1" dirty="0">
                <a:solidFill>
                  <a:srgbClr val="F5EFE0"/>
                </a:solidFill>
                <a:latin typeface="Calibri" pitchFamily="34" charset="0"/>
                <a:ea typeface="Calibri" pitchFamily="34" charset="-122"/>
                <a:cs typeface="Calibri" pitchFamily="34" charset="-120"/>
              </a:rPr>
              <a:t>Brand Trip</a:t>
            </a:r>
            <a:endParaRPr lang="en-US" sz="950" dirty="0"/>
          </a:p>
        </p:txBody>
      </p:sp>
      <p:sp>
        <p:nvSpPr>
          <p:cNvPr id="14" name="Text 12"/>
          <p:cNvSpPr/>
          <p:nvPr/>
        </p:nvSpPr>
        <p:spPr>
          <a:xfrm>
            <a:off x="457200" y="1901952"/>
            <a:ext cx="2596896" cy="347472"/>
          </a:xfrm>
          <a:prstGeom prst="rect">
            <a:avLst/>
          </a:prstGeom>
          <a:noFill/>
          <a:ln/>
        </p:spPr>
        <p:txBody>
          <a:bodyPr wrap="square" rtlCol="0" anchor="t"/>
          <a:lstStyle/>
          <a:p>
            <a:pPr algn="l" indent="0" marL="0">
              <a:buNone/>
            </a:pPr>
            <a:r>
              <a:rPr lang="en-US" sz="750" dirty="0">
                <a:solidFill>
                  <a:srgbClr val="E0D4BC"/>
                </a:solidFill>
                <a:latin typeface="Calibri" pitchFamily="34" charset="0"/>
                <a:ea typeface="Calibri" pitchFamily="34" charset="-122"/>
                <a:cs typeface="Calibri" pitchFamily="34" charset="-120"/>
              </a:rPr>
              <a:t>Named core team member in the first beauty brand trip in Lagos history.</a:t>
            </a:r>
            <a:endParaRPr lang="en-US" sz="750" dirty="0"/>
          </a:p>
        </p:txBody>
      </p:sp>
      <p:sp>
        <p:nvSpPr>
          <p:cNvPr id="15" name="Text 13">
            <a:hlinkClick r:id="rId1" tooltip=""/>
          </p:cNvPr>
          <p:cNvSpPr/>
          <p:nvPr/>
        </p:nvSpPr>
        <p:spPr>
          <a:xfrm>
            <a:off x="457200" y="2267712"/>
            <a:ext cx="2596896" cy="146304"/>
          </a:xfrm>
          <a:prstGeom prst="rect">
            <a:avLst/>
          </a:prstGeom>
          <a:noFill/>
          <a:ln/>
        </p:spPr>
        <p:txBody>
          <a:bodyPr wrap="square" rtlCol="0" anchor="ctr"/>
          <a:lstStyle/>
          <a:p>
            <a:pPr indent="0" marL="0">
              <a:buNone/>
            </a:pPr>
            <a:r>
              <a:rPr lang="en-US" sz="700" u="sng" dirty="0">
                <a:solidFill>
                  <a:srgbClr val="D4A84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 Read article</a:t>
            </a:r>
            <a:endParaRPr lang="en-US" sz="700" dirty="0"/>
          </a:p>
        </p:txBody>
      </p:sp>
      <p:sp>
        <p:nvSpPr>
          <p:cNvPr id="16" name="Shape 14"/>
          <p:cNvSpPr/>
          <p:nvPr/>
        </p:nvSpPr>
        <p:spPr>
          <a:xfrm>
            <a:off x="3291840" y="1353312"/>
            <a:ext cx="2816352" cy="1060704"/>
          </a:xfrm>
          <a:prstGeom prst="rect">
            <a:avLst/>
          </a:prstGeom>
          <a:solidFill>
            <a:srgbClr val="7A3B53"/>
          </a:solidFill>
          <a:ln w="12700">
            <a:solidFill>
              <a:srgbClr val="7A3B53"/>
            </a:solidFill>
            <a:prstDash val="solid"/>
          </a:ln>
        </p:spPr>
      </p:sp>
      <p:sp>
        <p:nvSpPr>
          <p:cNvPr id="17" name="Shape 15"/>
          <p:cNvSpPr/>
          <p:nvPr/>
        </p:nvSpPr>
        <p:spPr>
          <a:xfrm>
            <a:off x="3291840" y="1353312"/>
            <a:ext cx="2816352" cy="54864"/>
          </a:xfrm>
          <a:prstGeom prst="rect">
            <a:avLst/>
          </a:prstGeom>
          <a:solidFill>
            <a:srgbClr val="B8923A"/>
          </a:solidFill>
          <a:ln w="12700">
            <a:solidFill>
              <a:srgbClr val="B8923A"/>
            </a:solidFill>
            <a:prstDash val="solid"/>
          </a:ln>
        </p:spPr>
      </p:sp>
      <p:sp>
        <p:nvSpPr>
          <p:cNvPr id="18" name="Text 16"/>
          <p:cNvSpPr/>
          <p:nvPr/>
        </p:nvSpPr>
        <p:spPr>
          <a:xfrm>
            <a:off x="3401568" y="1463040"/>
            <a:ext cx="2596896" cy="182880"/>
          </a:xfrm>
          <a:prstGeom prst="rect">
            <a:avLst/>
          </a:prstGeom>
          <a:noFill/>
          <a:ln/>
        </p:spPr>
        <p:txBody>
          <a:bodyPr wrap="square" rtlCol="0" anchor="t"/>
          <a:lstStyle/>
          <a:p>
            <a:pPr algn="l" indent="0" marL="0">
              <a:buNone/>
            </a:pPr>
            <a:r>
              <a:rPr lang="en-US" sz="650" b="1" spc="150" kern="0" dirty="0">
                <a:solidFill>
                  <a:srgbClr val="B8923A"/>
                </a:solidFill>
                <a:latin typeface="Calibri" pitchFamily="34" charset="0"/>
                <a:ea typeface="Calibri" pitchFamily="34" charset="-122"/>
                <a:cs typeface="Calibri" pitchFamily="34" charset="-120"/>
              </a:rPr>
              <a:t>MARIE CLAIRE NIGERIA</a:t>
            </a:r>
            <a:endParaRPr lang="en-US" sz="650" dirty="0"/>
          </a:p>
        </p:txBody>
      </p:sp>
      <p:sp>
        <p:nvSpPr>
          <p:cNvPr id="19" name="Text 17"/>
          <p:cNvSpPr/>
          <p:nvPr/>
        </p:nvSpPr>
        <p:spPr>
          <a:xfrm>
            <a:off x="3401568" y="1645920"/>
            <a:ext cx="2596896" cy="237744"/>
          </a:xfrm>
          <a:prstGeom prst="rect">
            <a:avLst/>
          </a:prstGeom>
          <a:noFill/>
          <a:ln/>
        </p:spPr>
        <p:txBody>
          <a:bodyPr wrap="square" rtlCol="0" anchor="t"/>
          <a:lstStyle/>
          <a:p>
            <a:pPr algn="l" indent="0" marL="0">
              <a:buNone/>
            </a:pPr>
            <a:r>
              <a:rPr lang="en-US" sz="950" b="1" dirty="0">
                <a:solidFill>
                  <a:srgbClr val="F5EFE0"/>
                </a:solidFill>
                <a:latin typeface="Calibri" pitchFamily="34" charset="0"/>
                <a:ea typeface="Calibri" pitchFamily="34" charset="-122"/>
                <a:cs typeface="Calibri" pitchFamily="34" charset="-120"/>
              </a:rPr>
              <a:t>Breathe In Beguile</a:t>
            </a:r>
            <a:endParaRPr lang="en-US" sz="950" dirty="0"/>
          </a:p>
        </p:txBody>
      </p:sp>
      <p:sp>
        <p:nvSpPr>
          <p:cNvPr id="20" name="Text 18"/>
          <p:cNvSpPr/>
          <p:nvPr/>
        </p:nvSpPr>
        <p:spPr>
          <a:xfrm>
            <a:off x="3401568" y="1901952"/>
            <a:ext cx="2596896" cy="347472"/>
          </a:xfrm>
          <a:prstGeom prst="rect">
            <a:avLst/>
          </a:prstGeom>
          <a:noFill/>
          <a:ln/>
        </p:spPr>
        <p:txBody>
          <a:bodyPr wrap="square" rtlCol="0" anchor="t"/>
          <a:lstStyle/>
          <a:p>
            <a:pPr algn="l" indent="0" marL="0">
              <a:buNone/>
            </a:pPr>
            <a:r>
              <a:rPr lang="en-US" sz="750" dirty="0">
                <a:solidFill>
                  <a:srgbClr val="E0D4BC"/>
                </a:solidFill>
                <a:latin typeface="Calibri" pitchFamily="34" charset="0"/>
                <a:ea typeface="Calibri" pitchFamily="34" charset="-122"/>
                <a:cs typeface="Calibri" pitchFamily="34" charset="-120"/>
              </a:rPr>
              <a:t>Full editorial of the Beguile debut activation.</a:t>
            </a:r>
            <a:endParaRPr lang="en-US" sz="750" dirty="0"/>
          </a:p>
        </p:txBody>
      </p:sp>
      <p:sp>
        <p:nvSpPr>
          <p:cNvPr id="21" name="Text 19">
            <a:hlinkClick r:id="rId2" tooltip=""/>
          </p:cNvPr>
          <p:cNvSpPr/>
          <p:nvPr/>
        </p:nvSpPr>
        <p:spPr>
          <a:xfrm>
            <a:off x="3401568" y="2267712"/>
            <a:ext cx="2596896" cy="146304"/>
          </a:xfrm>
          <a:prstGeom prst="rect">
            <a:avLst/>
          </a:prstGeom>
          <a:noFill/>
          <a:ln/>
        </p:spPr>
        <p:txBody>
          <a:bodyPr wrap="square" rtlCol="0" anchor="ctr"/>
          <a:lstStyle/>
          <a:p>
            <a:pPr indent="0" marL="0">
              <a:buNone/>
            </a:pPr>
            <a:r>
              <a:rPr lang="en-US" sz="700" u="sng" dirty="0">
                <a:solidFill>
                  <a:srgbClr val="D4A84B"/>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 Read article</a:t>
            </a:r>
            <a:endParaRPr lang="en-US" sz="700" dirty="0"/>
          </a:p>
        </p:txBody>
      </p:sp>
      <p:sp>
        <p:nvSpPr>
          <p:cNvPr id="22" name="Shape 20"/>
          <p:cNvSpPr/>
          <p:nvPr/>
        </p:nvSpPr>
        <p:spPr>
          <a:xfrm>
            <a:off x="6236208" y="1353312"/>
            <a:ext cx="2816352" cy="1060704"/>
          </a:xfrm>
          <a:prstGeom prst="rect">
            <a:avLst/>
          </a:prstGeom>
          <a:solidFill>
            <a:srgbClr val="7A3B53"/>
          </a:solidFill>
          <a:ln w="12700">
            <a:solidFill>
              <a:srgbClr val="7A3B53"/>
            </a:solidFill>
            <a:prstDash val="solid"/>
          </a:ln>
        </p:spPr>
      </p:sp>
      <p:sp>
        <p:nvSpPr>
          <p:cNvPr id="23" name="Shape 21"/>
          <p:cNvSpPr/>
          <p:nvPr/>
        </p:nvSpPr>
        <p:spPr>
          <a:xfrm>
            <a:off x="6236208" y="1353312"/>
            <a:ext cx="2816352" cy="54864"/>
          </a:xfrm>
          <a:prstGeom prst="rect">
            <a:avLst/>
          </a:prstGeom>
          <a:solidFill>
            <a:srgbClr val="B8923A"/>
          </a:solidFill>
          <a:ln w="12700">
            <a:solidFill>
              <a:srgbClr val="B8923A"/>
            </a:solidFill>
            <a:prstDash val="solid"/>
          </a:ln>
        </p:spPr>
      </p:sp>
      <p:sp>
        <p:nvSpPr>
          <p:cNvPr id="24" name="Text 22"/>
          <p:cNvSpPr/>
          <p:nvPr/>
        </p:nvSpPr>
        <p:spPr>
          <a:xfrm>
            <a:off x="6345936" y="1463040"/>
            <a:ext cx="2596896" cy="182880"/>
          </a:xfrm>
          <a:prstGeom prst="rect">
            <a:avLst/>
          </a:prstGeom>
          <a:noFill/>
          <a:ln/>
        </p:spPr>
        <p:txBody>
          <a:bodyPr wrap="square" rtlCol="0" anchor="t"/>
          <a:lstStyle/>
          <a:p>
            <a:pPr algn="l" indent="0" marL="0">
              <a:buNone/>
            </a:pPr>
            <a:r>
              <a:rPr lang="en-US" sz="650" b="1" spc="150" kern="0" dirty="0">
                <a:solidFill>
                  <a:srgbClr val="B8923A"/>
                </a:solidFill>
                <a:latin typeface="Calibri" pitchFamily="34" charset="0"/>
                <a:ea typeface="Calibri" pitchFamily="34" charset="-122"/>
                <a:cs typeface="Calibri" pitchFamily="34" charset="-120"/>
              </a:rPr>
              <a:t>MARIE CLAIRE NIGERIA</a:t>
            </a:r>
            <a:endParaRPr lang="en-US" sz="650" dirty="0"/>
          </a:p>
        </p:txBody>
      </p:sp>
      <p:sp>
        <p:nvSpPr>
          <p:cNvPr id="25" name="Text 23"/>
          <p:cNvSpPr/>
          <p:nvPr/>
        </p:nvSpPr>
        <p:spPr>
          <a:xfrm>
            <a:off x="6345936" y="1645920"/>
            <a:ext cx="2596896" cy="237744"/>
          </a:xfrm>
          <a:prstGeom prst="rect">
            <a:avLst/>
          </a:prstGeom>
          <a:noFill/>
          <a:ln/>
        </p:spPr>
        <p:txBody>
          <a:bodyPr wrap="square" rtlCol="0" anchor="t"/>
          <a:lstStyle/>
          <a:p>
            <a:pPr algn="l" indent="0" marL="0">
              <a:buNone/>
            </a:pPr>
            <a:r>
              <a:rPr lang="en-US" sz="950" b="1" dirty="0">
                <a:solidFill>
                  <a:srgbClr val="F5EFE0"/>
                </a:solidFill>
                <a:latin typeface="Calibri" pitchFamily="34" charset="0"/>
                <a:ea typeface="Calibri" pitchFamily="34" charset="-122"/>
                <a:cs typeface="Calibri" pitchFamily="34" charset="-120"/>
              </a:rPr>
              <a:t>L'Oréal Professionnel</a:t>
            </a:r>
            <a:endParaRPr lang="en-US" sz="950" dirty="0"/>
          </a:p>
        </p:txBody>
      </p:sp>
      <p:sp>
        <p:nvSpPr>
          <p:cNvPr id="26" name="Text 24"/>
          <p:cNvSpPr/>
          <p:nvPr/>
        </p:nvSpPr>
        <p:spPr>
          <a:xfrm>
            <a:off x="6345936" y="1901952"/>
            <a:ext cx="2596896" cy="347472"/>
          </a:xfrm>
          <a:prstGeom prst="rect">
            <a:avLst/>
          </a:prstGeom>
          <a:noFill/>
          <a:ln/>
        </p:spPr>
        <p:txBody>
          <a:bodyPr wrap="square" rtlCol="0" anchor="t"/>
          <a:lstStyle/>
          <a:p>
            <a:pPr algn="l" indent="0" marL="0">
              <a:buNone/>
            </a:pPr>
            <a:r>
              <a:rPr lang="en-US" sz="750" dirty="0">
                <a:solidFill>
                  <a:srgbClr val="E0D4BC"/>
                </a:solidFill>
                <a:latin typeface="Calibri" pitchFamily="34" charset="0"/>
                <a:ea typeface="Calibri" pitchFamily="34" charset="-122"/>
                <a:cs typeface="Calibri" pitchFamily="34" charset="-120"/>
              </a:rPr>
              <a:t>Coverage of the L'Oréal Professionnel Paris Nigeria debut.</a:t>
            </a:r>
            <a:endParaRPr lang="en-US" sz="750" dirty="0"/>
          </a:p>
        </p:txBody>
      </p:sp>
      <p:sp>
        <p:nvSpPr>
          <p:cNvPr id="27" name="Text 25">
            <a:hlinkClick r:id="rId3" tooltip=""/>
          </p:cNvPr>
          <p:cNvSpPr/>
          <p:nvPr/>
        </p:nvSpPr>
        <p:spPr>
          <a:xfrm>
            <a:off x="6345936" y="2267712"/>
            <a:ext cx="2596896" cy="146304"/>
          </a:xfrm>
          <a:prstGeom prst="rect">
            <a:avLst/>
          </a:prstGeom>
          <a:noFill/>
          <a:ln/>
        </p:spPr>
        <p:txBody>
          <a:bodyPr wrap="square" rtlCol="0" anchor="ctr"/>
          <a:lstStyle/>
          <a:p>
            <a:pPr indent="0" marL="0">
              <a:buNone/>
            </a:pPr>
            <a:r>
              <a:rPr lang="en-US" sz="700" u="sng" dirty="0">
                <a:solidFill>
                  <a:srgbClr val="D4A84B"/>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 Read article</a:t>
            </a:r>
            <a:endParaRPr lang="en-US" sz="700" dirty="0"/>
          </a:p>
        </p:txBody>
      </p:sp>
      <p:sp>
        <p:nvSpPr>
          <p:cNvPr id="28" name="Shape 26"/>
          <p:cNvSpPr/>
          <p:nvPr/>
        </p:nvSpPr>
        <p:spPr>
          <a:xfrm>
            <a:off x="347472" y="2496312"/>
            <a:ext cx="2816352" cy="1060704"/>
          </a:xfrm>
          <a:prstGeom prst="rect">
            <a:avLst/>
          </a:prstGeom>
          <a:solidFill>
            <a:srgbClr val="7A3B53"/>
          </a:solidFill>
          <a:ln w="12700">
            <a:solidFill>
              <a:srgbClr val="7A3B53"/>
            </a:solidFill>
            <a:prstDash val="solid"/>
          </a:ln>
        </p:spPr>
      </p:sp>
      <p:sp>
        <p:nvSpPr>
          <p:cNvPr id="29" name="Shape 27"/>
          <p:cNvSpPr/>
          <p:nvPr/>
        </p:nvSpPr>
        <p:spPr>
          <a:xfrm>
            <a:off x="347472" y="2496312"/>
            <a:ext cx="2816352" cy="54864"/>
          </a:xfrm>
          <a:prstGeom prst="rect">
            <a:avLst/>
          </a:prstGeom>
          <a:solidFill>
            <a:srgbClr val="B8923A"/>
          </a:solidFill>
          <a:ln w="12700">
            <a:solidFill>
              <a:srgbClr val="B8923A"/>
            </a:solidFill>
            <a:prstDash val="solid"/>
          </a:ln>
        </p:spPr>
      </p:sp>
      <p:sp>
        <p:nvSpPr>
          <p:cNvPr id="30" name="Text 28"/>
          <p:cNvSpPr/>
          <p:nvPr/>
        </p:nvSpPr>
        <p:spPr>
          <a:xfrm>
            <a:off x="457200" y="2606040"/>
            <a:ext cx="2596896" cy="182880"/>
          </a:xfrm>
          <a:prstGeom prst="rect">
            <a:avLst/>
          </a:prstGeom>
          <a:noFill/>
          <a:ln/>
        </p:spPr>
        <p:txBody>
          <a:bodyPr wrap="square" rtlCol="0" anchor="t"/>
          <a:lstStyle/>
          <a:p>
            <a:pPr algn="l" indent="0" marL="0">
              <a:buNone/>
            </a:pPr>
            <a:r>
              <a:rPr lang="en-US" sz="650" b="1" spc="150" kern="0" dirty="0">
                <a:solidFill>
                  <a:srgbClr val="B8923A"/>
                </a:solidFill>
                <a:latin typeface="Calibri" pitchFamily="34" charset="0"/>
                <a:ea typeface="Calibri" pitchFamily="34" charset="-122"/>
                <a:cs typeface="Calibri" pitchFamily="34" charset="-120"/>
              </a:rPr>
              <a:t>PRNEWSWIRE LONDON</a:t>
            </a:r>
            <a:endParaRPr lang="en-US" sz="650" dirty="0"/>
          </a:p>
        </p:txBody>
      </p:sp>
      <p:sp>
        <p:nvSpPr>
          <p:cNvPr id="31" name="Text 29"/>
          <p:cNvSpPr/>
          <p:nvPr/>
        </p:nvSpPr>
        <p:spPr>
          <a:xfrm>
            <a:off x="457200" y="2788920"/>
            <a:ext cx="2596896" cy="237744"/>
          </a:xfrm>
          <a:prstGeom prst="rect">
            <a:avLst/>
          </a:prstGeom>
          <a:noFill/>
          <a:ln/>
        </p:spPr>
        <p:txBody>
          <a:bodyPr wrap="square" rtlCol="0" anchor="t"/>
          <a:lstStyle/>
          <a:p>
            <a:pPr algn="l" indent="0" marL="0">
              <a:buNone/>
            </a:pPr>
            <a:r>
              <a:rPr lang="en-US" sz="950" b="1" dirty="0">
                <a:solidFill>
                  <a:srgbClr val="F5EFE0"/>
                </a:solidFill>
                <a:latin typeface="Calibri" pitchFamily="34" charset="0"/>
                <a:ea typeface="Calibri" pitchFamily="34" charset="-122"/>
                <a:cs typeface="Calibri" pitchFamily="34" charset="-120"/>
              </a:rPr>
              <a:t>Golden Kiss</a:t>
            </a:r>
            <a:endParaRPr lang="en-US" sz="950" dirty="0"/>
          </a:p>
        </p:txBody>
      </p:sp>
      <p:sp>
        <p:nvSpPr>
          <p:cNvPr id="32" name="Text 30"/>
          <p:cNvSpPr/>
          <p:nvPr/>
        </p:nvSpPr>
        <p:spPr>
          <a:xfrm>
            <a:off x="457200" y="3044952"/>
            <a:ext cx="2596896" cy="347472"/>
          </a:xfrm>
          <a:prstGeom prst="rect">
            <a:avLst/>
          </a:prstGeom>
          <a:noFill/>
          <a:ln/>
        </p:spPr>
        <p:txBody>
          <a:bodyPr wrap="square" rtlCol="0" anchor="t"/>
          <a:lstStyle/>
          <a:p>
            <a:pPr algn="l" indent="0" marL="0">
              <a:buNone/>
            </a:pPr>
            <a:r>
              <a:rPr lang="en-US" sz="750" dirty="0">
                <a:solidFill>
                  <a:srgbClr val="E0D4BC"/>
                </a:solidFill>
                <a:latin typeface="Calibri" pitchFamily="34" charset="0"/>
                <a:ea typeface="Calibri" pitchFamily="34" charset="-122"/>
                <a:cs typeface="Calibri" pitchFamily="34" charset="-120"/>
              </a:rPr>
              <a:t>International press wire — Nigeria, UK, US, Canada.</a:t>
            </a:r>
            <a:endParaRPr lang="en-US" sz="750" dirty="0"/>
          </a:p>
        </p:txBody>
      </p:sp>
      <p:sp>
        <p:nvSpPr>
          <p:cNvPr id="33" name="Text 31">
            <a:hlinkClick r:id="rId4" tooltip=""/>
          </p:cNvPr>
          <p:cNvSpPr/>
          <p:nvPr/>
        </p:nvSpPr>
        <p:spPr>
          <a:xfrm>
            <a:off x="457200" y="3410712"/>
            <a:ext cx="2596896" cy="146304"/>
          </a:xfrm>
          <a:prstGeom prst="rect">
            <a:avLst/>
          </a:prstGeom>
          <a:noFill/>
          <a:ln/>
        </p:spPr>
        <p:txBody>
          <a:bodyPr wrap="square" rtlCol="0" anchor="ctr"/>
          <a:lstStyle/>
          <a:p>
            <a:pPr indent="0" marL="0">
              <a:buNone/>
            </a:pPr>
            <a:r>
              <a:rPr lang="en-US" sz="700" u="sng" dirty="0">
                <a:solidFill>
                  <a:srgbClr val="D4A84B"/>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 Read article</a:t>
            </a:r>
            <a:endParaRPr lang="en-US" sz="700" dirty="0"/>
          </a:p>
        </p:txBody>
      </p:sp>
      <p:sp>
        <p:nvSpPr>
          <p:cNvPr id="34" name="Shape 32"/>
          <p:cNvSpPr/>
          <p:nvPr/>
        </p:nvSpPr>
        <p:spPr>
          <a:xfrm>
            <a:off x="3291840" y="2496312"/>
            <a:ext cx="2816352" cy="1060704"/>
          </a:xfrm>
          <a:prstGeom prst="rect">
            <a:avLst/>
          </a:prstGeom>
          <a:solidFill>
            <a:srgbClr val="7A3B53"/>
          </a:solidFill>
          <a:ln w="12700">
            <a:solidFill>
              <a:srgbClr val="7A3B53"/>
            </a:solidFill>
            <a:prstDash val="solid"/>
          </a:ln>
        </p:spPr>
      </p:sp>
      <p:sp>
        <p:nvSpPr>
          <p:cNvPr id="35" name="Shape 33"/>
          <p:cNvSpPr/>
          <p:nvPr/>
        </p:nvSpPr>
        <p:spPr>
          <a:xfrm>
            <a:off x="3291840" y="2496312"/>
            <a:ext cx="2816352" cy="54864"/>
          </a:xfrm>
          <a:prstGeom prst="rect">
            <a:avLst/>
          </a:prstGeom>
          <a:solidFill>
            <a:srgbClr val="B8923A"/>
          </a:solidFill>
          <a:ln w="12700">
            <a:solidFill>
              <a:srgbClr val="B8923A"/>
            </a:solidFill>
            <a:prstDash val="solid"/>
          </a:ln>
        </p:spPr>
      </p:sp>
      <p:sp>
        <p:nvSpPr>
          <p:cNvPr id="36" name="Text 34"/>
          <p:cNvSpPr/>
          <p:nvPr/>
        </p:nvSpPr>
        <p:spPr>
          <a:xfrm>
            <a:off x="3401568" y="2606040"/>
            <a:ext cx="2596896" cy="182880"/>
          </a:xfrm>
          <a:prstGeom prst="rect">
            <a:avLst/>
          </a:prstGeom>
          <a:noFill/>
          <a:ln/>
        </p:spPr>
        <p:txBody>
          <a:bodyPr wrap="square" rtlCol="0" anchor="t"/>
          <a:lstStyle/>
          <a:p>
            <a:pPr algn="l" indent="0" marL="0">
              <a:buNone/>
            </a:pPr>
            <a:r>
              <a:rPr lang="en-US" sz="650" b="1" spc="150" kern="0" dirty="0">
                <a:solidFill>
                  <a:srgbClr val="B8923A"/>
                </a:solidFill>
                <a:latin typeface="Calibri" pitchFamily="34" charset="0"/>
                <a:ea typeface="Calibri" pitchFamily="34" charset="-122"/>
                <a:cs typeface="Calibri" pitchFamily="34" charset="-120"/>
              </a:rPr>
              <a:t>BUSINESS OF FASHION</a:t>
            </a:r>
            <a:endParaRPr lang="en-US" sz="650" dirty="0"/>
          </a:p>
        </p:txBody>
      </p:sp>
      <p:sp>
        <p:nvSpPr>
          <p:cNvPr id="37" name="Text 35"/>
          <p:cNvSpPr/>
          <p:nvPr/>
        </p:nvSpPr>
        <p:spPr>
          <a:xfrm>
            <a:off x="3401568" y="2788920"/>
            <a:ext cx="2596896" cy="237744"/>
          </a:xfrm>
          <a:prstGeom prst="rect">
            <a:avLst/>
          </a:prstGeom>
          <a:noFill/>
          <a:ln/>
        </p:spPr>
        <p:txBody>
          <a:bodyPr wrap="square" rtlCol="0" anchor="t"/>
          <a:lstStyle/>
          <a:p>
            <a:pPr algn="l" indent="0" marL="0">
              <a:buNone/>
            </a:pPr>
            <a:r>
              <a:rPr lang="en-US" sz="950" b="1" dirty="0">
                <a:solidFill>
                  <a:srgbClr val="F5EFE0"/>
                </a:solidFill>
                <a:latin typeface="Calibri" pitchFamily="34" charset="0"/>
                <a:ea typeface="Calibri" pitchFamily="34" charset="-122"/>
                <a:cs typeface="Calibri" pitchFamily="34" charset="-120"/>
              </a:rPr>
              <a:t>Danessa Myricks + Detty Dec</a:t>
            </a:r>
            <a:endParaRPr lang="en-US" sz="950" dirty="0"/>
          </a:p>
        </p:txBody>
      </p:sp>
      <p:sp>
        <p:nvSpPr>
          <p:cNvPr id="38" name="Text 36"/>
          <p:cNvSpPr/>
          <p:nvPr/>
        </p:nvSpPr>
        <p:spPr>
          <a:xfrm>
            <a:off x="3401568" y="3044952"/>
            <a:ext cx="2596896" cy="347472"/>
          </a:xfrm>
          <a:prstGeom prst="rect">
            <a:avLst/>
          </a:prstGeom>
          <a:noFill/>
          <a:ln/>
        </p:spPr>
        <p:txBody>
          <a:bodyPr wrap="square" rtlCol="0" anchor="t"/>
          <a:lstStyle/>
          <a:p>
            <a:pPr algn="l" indent="0" marL="0">
              <a:buNone/>
            </a:pPr>
            <a:r>
              <a:rPr lang="en-US" sz="750" dirty="0">
                <a:solidFill>
                  <a:srgbClr val="E0D4BC"/>
                </a:solidFill>
                <a:latin typeface="Calibri" pitchFamily="34" charset="0"/>
                <a:ea typeface="Calibri" pitchFamily="34" charset="-122"/>
                <a:cs typeface="Calibri" pitchFamily="34" charset="-120"/>
              </a:rPr>
              <a:t>BoF feature on global beauty brands entering Nigeria via Beauty Hut.</a:t>
            </a:r>
            <a:endParaRPr lang="en-US" sz="750" dirty="0"/>
          </a:p>
        </p:txBody>
      </p:sp>
      <p:sp>
        <p:nvSpPr>
          <p:cNvPr id="39" name="Text 37">
            <a:hlinkClick r:id="rId5" tooltip=""/>
          </p:cNvPr>
          <p:cNvSpPr/>
          <p:nvPr/>
        </p:nvSpPr>
        <p:spPr>
          <a:xfrm>
            <a:off x="3401568" y="3410712"/>
            <a:ext cx="2596896" cy="146304"/>
          </a:xfrm>
          <a:prstGeom prst="rect">
            <a:avLst/>
          </a:prstGeom>
          <a:noFill/>
          <a:ln/>
        </p:spPr>
        <p:txBody>
          <a:bodyPr wrap="square" rtlCol="0" anchor="ctr"/>
          <a:lstStyle/>
          <a:p>
            <a:pPr indent="0" marL="0">
              <a:buNone/>
            </a:pPr>
            <a:r>
              <a:rPr lang="en-US" sz="700" u="sng" dirty="0">
                <a:solidFill>
                  <a:srgbClr val="D4A84B"/>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 Read article</a:t>
            </a:r>
            <a:endParaRPr lang="en-US" sz="700" dirty="0"/>
          </a:p>
        </p:txBody>
      </p:sp>
      <p:sp>
        <p:nvSpPr>
          <p:cNvPr id="40" name="Shape 38"/>
          <p:cNvSpPr/>
          <p:nvPr/>
        </p:nvSpPr>
        <p:spPr>
          <a:xfrm>
            <a:off x="6236208" y="2496312"/>
            <a:ext cx="2816352" cy="1060704"/>
          </a:xfrm>
          <a:prstGeom prst="rect">
            <a:avLst/>
          </a:prstGeom>
          <a:solidFill>
            <a:srgbClr val="7A3B53"/>
          </a:solidFill>
          <a:ln w="12700">
            <a:solidFill>
              <a:srgbClr val="7A3B53"/>
            </a:solidFill>
            <a:prstDash val="solid"/>
          </a:ln>
        </p:spPr>
      </p:sp>
      <p:sp>
        <p:nvSpPr>
          <p:cNvPr id="41" name="Shape 39"/>
          <p:cNvSpPr/>
          <p:nvPr/>
        </p:nvSpPr>
        <p:spPr>
          <a:xfrm>
            <a:off x="6236208" y="2496312"/>
            <a:ext cx="2816352" cy="54864"/>
          </a:xfrm>
          <a:prstGeom prst="rect">
            <a:avLst/>
          </a:prstGeom>
          <a:solidFill>
            <a:srgbClr val="B8923A"/>
          </a:solidFill>
          <a:ln w="12700">
            <a:solidFill>
              <a:srgbClr val="B8923A"/>
            </a:solidFill>
            <a:prstDash val="solid"/>
          </a:ln>
        </p:spPr>
      </p:sp>
      <p:sp>
        <p:nvSpPr>
          <p:cNvPr id="42" name="Text 40"/>
          <p:cNvSpPr/>
          <p:nvPr/>
        </p:nvSpPr>
        <p:spPr>
          <a:xfrm>
            <a:off x="6345936" y="2606040"/>
            <a:ext cx="2596896" cy="182880"/>
          </a:xfrm>
          <a:prstGeom prst="rect">
            <a:avLst/>
          </a:prstGeom>
          <a:noFill/>
          <a:ln/>
        </p:spPr>
        <p:txBody>
          <a:bodyPr wrap="square" rtlCol="0" anchor="t"/>
          <a:lstStyle/>
          <a:p>
            <a:pPr algn="l" indent="0" marL="0">
              <a:buNone/>
            </a:pPr>
            <a:r>
              <a:rPr lang="en-US" sz="650" b="1" spc="150" kern="0" dirty="0">
                <a:solidFill>
                  <a:srgbClr val="B8923A"/>
                </a:solidFill>
                <a:latin typeface="Calibri" pitchFamily="34" charset="0"/>
                <a:ea typeface="Calibri" pitchFamily="34" charset="-122"/>
                <a:cs typeface="Calibri" pitchFamily="34" charset="-120"/>
              </a:rPr>
              <a:t>AFRICA REIMAGINED</a:t>
            </a:r>
            <a:endParaRPr lang="en-US" sz="650" dirty="0"/>
          </a:p>
        </p:txBody>
      </p:sp>
      <p:sp>
        <p:nvSpPr>
          <p:cNvPr id="43" name="Text 41"/>
          <p:cNvSpPr/>
          <p:nvPr/>
        </p:nvSpPr>
        <p:spPr>
          <a:xfrm>
            <a:off x="6345936" y="2788920"/>
            <a:ext cx="2596896" cy="237744"/>
          </a:xfrm>
          <a:prstGeom prst="rect">
            <a:avLst/>
          </a:prstGeom>
          <a:noFill/>
          <a:ln/>
        </p:spPr>
        <p:txBody>
          <a:bodyPr wrap="square" rtlCol="0" anchor="t"/>
          <a:lstStyle/>
          <a:p>
            <a:pPr algn="l" indent="0" marL="0">
              <a:buNone/>
            </a:pPr>
            <a:r>
              <a:rPr lang="en-US" sz="950" b="1" dirty="0">
                <a:solidFill>
                  <a:srgbClr val="F5EFE0"/>
                </a:solidFill>
                <a:latin typeface="Calibri" pitchFamily="34" charset="0"/>
                <a:ea typeface="Calibri" pitchFamily="34" charset="-122"/>
                <a:cs typeface="Calibri" pitchFamily="34" charset="-120"/>
              </a:rPr>
              <a:t>2025 Turning Point</a:t>
            </a:r>
            <a:endParaRPr lang="en-US" sz="950" dirty="0"/>
          </a:p>
        </p:txBody>
      </p:sp>
      <p:sp>
        <p:nvSpPr>
          <p:cNvPr id="44" name="Text 42"/>
          <p:cNvSpPr/>
          <p:nvPr/>
        </p:nvSpPr>
        <p:spPr>
          <a:xfrm>
            <a:off x="6345936" y="3044952"/>
            <a:ext cx="2596896" cy="347472"/>
          </a:xfrm>
          <a:prstGeom prst="rect">
            <a:avLst/>
          </a:prstGeom>
          <a:noFill/>
          <a:ln/>
        </p:spPr>
        <p:txBody>
          <a:bodyPr wrap="square" rtlCol="0" anchor="t"/>
          <a:lstStyle/>
          <a:p>
            <a:pPr algn="l" indent="0" marL="0">
              <a:buNone/>
            </a:pPr>
            <a:r>
              <a:rPr lang="en-US" sz="750" dirty="0">
                <a:solidFill>
                  <a:srgbClr val="E0D4BC"/>
                </a:solidFill>
                <a:latin typeface="Calibri" pitchFamily="34" charset="0"/>
                <a:ea typeface="Calibri" pitchFamily="34" charset="-122"/>
                <a:cs typeface="Calibri" pitchFamily="34" charset="-120"/>
              </a:rPr>
              <a:t>Danessa Myricks via Beauty Hut cited as a key market entry story.</a:t>
            </a:r>
            <a:endParaRPr lang="en-US" sz="750" dirty="0"/>
          </a:p>
        </p:txBody>
      </p:sp>
      <p:sp>
        <p:nvSpPr>
          <p:cNvPr id="45" name="Text 43">
            <a:hlinkClick r:id="rId6" tooltip=""/>
          </p:cNvPr>
          <p:cNvSpPr/>
          <p:nvPr/>
        </p:nvSpPr>
        <p:spPr>
          <a:xfrm>
            <a:off x="6345936" y="3410712"/>
            <a:ext cx="2596896" cy="146304"/>
          </a:xfrm>
          <a:prstGeom prst="rect">
            <a:avLst/>
          </a:prstGeom>
          <a:noFill/>
          <a:ln/>
        </p:spPr>
        <p:txBody>
          <a:bodyPr wrap="square" rtlCol="0" anchor="ctr"/>
          <a:lstStyle/>
          <a:p>
            <a:pPr indent="0" marL="0">
              <a:buNone/>
            </a:pPr>
            <a:r>
              <a:rPr lang="en-US" sz="700" u="sng" dirty="0">
                <a:solidFill>
                  <a:srgbClr val="D4A84B"/>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 Read article</a:t>
            </a:r>
            <a:endParaRPr lang="en-US" sz="700" dirty="0"/>
          </a:p>
        </p:txBody>
      </p:sp>
      <p:sp>
        <p:nvSpPr>
          <p:cNvPr id="46" name="Shape 44"/>
          <p:cNvSpPr/>
          <p:nvPr/>
        </p:nvSpPr>
        <p:spPr>
          <a:xfrm>
            <a:off x="347472" y="3639312"/>
            <a:ext cx="2816352" cy="1060704"/>
          </a:xfrm>
          <a:prstGeom prst="rect">
            <a:avLst/>
          </a:prstGeom>
          <a:solidFill>
            <a:srgbClr val="7A3B53"/>
          </a:solidFill>
          <a:ln w="12700">
            <a:solidFill>
              <a:srgbClr val="7A3B53"/>
            </a:solidFill>
            <a:prstDash val="solid"/>
          </a:ln>
        </p:spPr>
      </p:sp>
      <p:sp>
        <p:nvSpPr>
          <p:cNvPr id="47" name="Shape 45"/>
          <p:cNvSpPr/>
          <p:nvPr/>
        </p:nvSpPr>
        <p:spPr>
          <a:xfrm>
            <a:off x="347472" y="3639312"/>
            <a:ext cx="2816352" cy="54864"/>
          </a:xfrm>
          <a:prstGeom prst="rect">
            <a:avLst/>
          </a:prstGeom>
          <a:solidFill>
            <a:srgbClr val="B8923A"/>
          </a:solidFill>
          <a:ln w="12700">
            <a:solidFill>
              <a:srgbClr val="B8923A"/>
            </a:solidFill>
            <a:prstDash val="solid"/>
          </a:ln>
        </p:spPr>
      </p:sp>
      <p:sp>
        <p:nvSpPr>
          <p:cNvPr id="48" name="Text 46"/>
          <p:cNvSpPr/>
          <p:nvPr/>
        </p:nvSpPr>
        <p:spPr>
          <a:xfrm>
            <a:off x="457200" y="3749040"/>
            <a:ext cx="2596896" cy="182880"/>
          </a:xfrm>
          <a:prstGeom prst="rect">
            <a:avLst/>
          </a:prstGeom>
          <a:noFill/>
          <a:ln/>
        </p:spPr>
        <p:txBody>
          <a:bodyPr wrap="square" rtlCol="0" anchor="t"/>
          <a:lstStyle/>
          <a:p>
            <a:pPr algn="l" indent="0" marL="0">
              <a:buNone/>
            </a:pPr>
            <a:r>
              <a:rPr lang="en-US" sz="650" b="1" spc="150" kern="0" dirty="0">
                <a:solidFill>
                  <a:srgbClr val="B8923A"/>
                </a:solidFill>
                <a:latin typeface="Calibri" pitchFamily="34" charset="0"/>
                <a:ea typeface="Calibri" pitchFamily="34" charset="-122"/>
                <a:cs typeface="Calibri" pitchFamily="34" charset="-120"/>
              </a:rPr>
              <a:t>BEAUTYMATTER</a:t>
            </a:r>
            <a:endParaRPr lang="en-US" sz="650" dirty="0"/>
          </a:p>
        </p:txBody>
      </p:sp>
      <p:sp>
        <p:nvSpPr>
          <p:cNvPr id="49" name="Text 47"/>
          <p:cNvSpPr/>
          <p:nvPr/>
        </p:nvSpPr>
        <p:spPr>
          <a:xfrm>
            <a:off x="457200" y="3931920"/>
            <a:ext cx="2596896" cy="237744"/>
          </a:xfrm>
          <a:prstGeom prst="rect">
            <a:avLst/>
          </a:prstGeom>
          <a:noFill/>
          <a:ln/>
        </p:spPr>
        <p:txBody>
          <a:bodyPr wrap="square" rtlCol="0" anchor="t"/>
          <a:lstStyle/>
          <a:p>
            <a:pPr algn="l" indent="0" marL="0">
              <a:buNone/>
            </a:pPr>
            <a:r>
              <a:rPr lang="en-US" sz="950" b="1" dirty="0">
                <a:solidFill>
                  <a:srgbClr val="F5EFE0"/>
                </a:solidFill>
                <a:latin typeface="Calibri" pitchFamily="34" charset="0"/>
                <a:ea typeface="Calibri" pitchFamily="34" charset="-122"/>
                <a:cs typeface="Calibri" pitchFamily="34" charset="-120"/>
              </a:rPr>
              <a:t>Redrick PR Profile</a:t>
            </a:r>
            <a:endParaRPr lang="en-US" sz="950" dirty="0"/>
          </a:p>
        </p:txBody>
      </p:sp>
      <p:sp>
        <p:nvSpPr>
          <p:cNvPr id="50" name="Text 48"/>
          <p:cNvSpPr/>
          <p:nvPr/>
        </p:nvSpPr>
        <p:spPr>
          <a:xfrm>
            <a:off x="457200" y="4187952"/>
            <a:ext cx="2596896" cy="347472"/>
          </a:xfrm>
          <a:prstGeom prst="rect">
            <a:avLst/>
          </a:prstGeom>
          <a:noFill/>
          <a:ln/>
        </p:spPr>
        <p:txBody>
          <a:bodyPr wrap="square" rtlCol="0" anchor="t"/>
          <a:lstStyle/>
          <a:p>
            <a:pPr algn="l" indent="0" marL="0">
              <a:buNone/>
            </a:pPr>
            <a:r>
              <a:rPr lang="en-US" sz="750" dirty="0">
                <a:solidFill>
                  <a:srgbClr val="E0D4BC"/>
                </a:solidFill>
                <a:latin typeface="Calibri" pitchFamily="34" charset="0"/>
                <a:ea typeface="Calibri" pitchFamily="34" charset="-122"/>
                <a:cs typeface="Calibri" pitchFamily="34" charset="-120"/>
              </a:rPr>
              <a:t>Profile of the agency where Onyeka worked on LVMH and L'Oréal accounts.</a:t>
            </a:r>
            <a:endParaRPr lang="en-US" sz="750" dirty="0"/>
          </a:p>
        </p:txBody>
      </p:sp>
      <p:sp>
        <p:nvSpPr>
          <p:cNvPr id="51" name="Text 49">
            <a:hlinkClick r:id="rId7" tooltip=""/>
          </p:cNvPr>
          <p:cNvSpPr/>
          <p:nvPr/>
        </p:nvSpPr>
        <p:spPr>
          <a:xfrm>
            <a:off x="457200" y="4553712"/>
            <a:ext cx="2596896" cy="146304"/>
          </a:xfrm>
          <a:prstGeom prst="rect">
            <a:avLst/>
          </a:prstGeom>
          <a:noFill/>
          <a:ln/>
        </p:spPr>
        <p:txBody>
          <a:bodyPr wrap="square" rtlCol="0" anchor="ctr"/>
          <a:lstStyle/>
          <a:p>
            <a:pPr indent="0" marL="0">
              <a:buNone/>
            </a:pPr>
            <a:r>
              <a:rPr lang="en-US" sz="700" u="sng" dirty="0">
                <a:solidFill>
                  <a:srgbClr val="D4A84B"/>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 Read article</a:t>
            </a:r>
            <a:endParaRPr lang="en-US" sz="700" dirty="0"/>
          </a:p>
        </p:txBody>
      </p:sp>
      <p:sp>
        <p:nvSpPr>
          <p:cNvPr id="52" name="Shape 50"/>
          <p:cNvSpPr/>
          <p:nvPr/>
        </p:nvSpPr>
        <p:spPr>
          <a:xfrm>
            <a:off x="3291840" y="3639312"/>
            <a:ext cx="2816352" cy="1060704"/>
          </a:xfrm>
          <a:prstGeom prst="rect">
            <a:avLst/>
          </a:prstGeom>
          <a:solidFill>
            <a:srgbClr val="7A3B53"/>
          </a:solidFill>
          <a:ln w="12700">
            <a:solidFill>
              <a:srgbClr val="7A3B53"/>
            </a:solidFill>
            <a:prstDash val="solid"/>
          </a:ln>
        </p:spPr>
      </p:sp>
      <p:sp>
        <p:nvSpPr>
          <p:cNvPr id="53" name="Shape 51"/>
          <p:cNvSpPr/>
          <p:nvPr/>
        </p:nvSpPr>
        <p:spPr>
          <a:xfrm>
            <a:off x="3291840" y="3639312"/>
            <a:ext cx="2816352" cy="54864"/>
          </a:xfrm>
          <a:prstGeom prst="rect">
            <a:avLst/>
          </a:prstGeom>
          <a:solidFill>
            <a:srgbClr val="B8923A"/>
          </a:solidFill>
          <a:ln w="12700">
            <a:solidFill>
              <a:srgbClr val="B8923A"/>
            </a:solidFill>
            <a:prstDash val="solid"/>
          </a:ln>
        </p:spPr>
      </p:sp>
      <p:sp>
        <p:nvSpPr>
          <p:cNvPr id="54" name="Text 52"/>
          <p:cNvSpPr/>
          <p:nvPr/>
        </p:nvSpPr>
        <p:spPr>
          <a:xfrm>
            <a:off x="3401568" y="3749040"/>
            <a:ext cx="2596896" cy="182880"/>
          </a:xfrm>
          <a:prstGeom prst="rect">
            <a:avLst/>
          </a:prstGeom>
          <a:noFill/>
          <a:ln/>
        </p:spPr>
        <p:txBody>
          <a:bodyPr wrap="square" rtlCol="0" anchor="t"/>
          <a:lstStyle/>
          <a:p>
            <a:pPr algn="l" indent="0" marL="0">
              <a:buNone/>
            </a:pPr>
            <a:r>
              <a:rPr lang="en-US" sz="650" b="1" spc="150" kern="0" dirty="0">
                <a:solidFill>
                  <a:srgbClr val="B8923A"/>
                </a:solidFill>
                <a:latin typeface="Calibri" pitchFamily="34" charset="0"/>
                <a:ea typeface="Calibri" pitchFamily="34" charset="-122"/>
                <a:cs typeface="Calibri" pitchFamily="34" charset="-120"/>
              </a:rPr>
              <a:t>CULTURE CUSTODIAN</a:t>
            </a:r>
            <a:endParaRPr lang="en-US" sz="650" dirty="0"/>
          </a:p>
        </p:txBody>
      </p:sp>
      <p:sp>
        <p:nvSpPr>
          <p:cNvPr id="55" name="Text 53"/>
          <p:cNvSpPr/>
          <p:nvPr/>
        </p:nvSpPr>
        <p:spPr>
          <a:xfrm>
            <a:off x="3401568" y="3931920"/>
            <a:ext cx="2596896" cy="237744"/>
          </a:xfrm>
          <a:prstGeom prst="rect">
            <a:avLst/>
          </a:prstGeom>
          <a:noFill/>
          <a:ln/>
        </p:spPr>
        <p:txBody>
          <a:bodyPr wrap="square" rtlCol="0" anchor="t"/>
          <a:lstStyle/>
          <a:p>
            <a:pPr algn="l" indent="0" marL="0">
              <a:buNone/>
            </a:pPr>
            <a:r>
              <a:rPr lang="en-US" sz="950" b="1" dirty="0">
                <a:solidFill>
                  <a:srgbClr val="F5EFE0"/>
                </a:solidFill>
                <a:latin typeface="Calibri" pitchFamily="34" charset="0"/>
                <a:ea typeface="Calibri" pitchFamily="34" charset="-122"/>
                <a:cs typeface="Calibri" pitchFamily="34" charset="-120"/>
              </a:rPr>
              <a:t>Ayra Starr &amp; Tyla Soundtracking Our Summer</a:t>
            </a:r>
            <a:endParaRPr lang="en-US" sz="950" dirty="0"/>
          </a:p>
        </p:txBody>
      </p:sp>
      <p:sp>
        <p:nvSpPr>
          <p:cNvPr id="56" name="Text 54"/>
          <p:cNvSpPr/>
          <p:nvPr/>
        </p:nvSpPr>
        <p:spPr>
          <a:xfrm>
            <a:off x="3401568" y="4187952"/>
            <a:ext cx="2596896" cy="347472"/>
          </a:xfrm>
          <a:prstGeom prst="rect">
            <a:avLst/>
          </a:prstGeom>
          <a:noFill/>
          <a:ln/>
        </p:spPr>
        <p:txBody>
          <a:bodyPr wrap="square" rtlCol="0" anchor="t"/>
          <a:lstStyle/>
          <a:p>
            <a:pPr algn="l" indent="0" marL="0">
              <a:buNone/>
            </a:pPr>
            <a:r>
              <a:rPr lang="en-US" sz="750" dirty="0">
                <a:solidFill>
                  <a:srgbClr val="E0D4BC"/>
                </a:solidFill>
                <a:latin typeface="Calibri" pitchFamily="34" charset="0"/>
                <a:ea typeface="Calibri" pitchFamily="34" charset="-122"/>
                <a:cs typeface="Calibri" pitchFamily="34" charset="-120"/>
              </a:rPr>
              <a:t>818, Beauty Hut &amp; Mavin Records celebrated World Tequila Day with an exclusive first listen of Hot Body by Ayra Starr.</a:t>
            </a:r>
            <a:endParaRPr lang="en-US" sz="750" dirty="0"/>
          </a:p>
        </p:txBody>
      </p:sp>
      <p:sp>
        <p:nvSpPr>
          <p:cNvPr id="57" name="Text 55">
            <a:hlinkClick r:id="rId8" tooltip=""/>
          </p:cNvPr>
          <p:cNvSpPr/>
          <p:nvPr/>
        </p:nvSpPr>
        <p:spPr>
          <a:xfrm>
            <a:off x="3401568" y="4553712"/>
            <a:ext cx="2596896" cy="146304"/>
          </a:xfrm>
          <a:prstGeom prst="rect">
            <a:avLst/>
          </a:prstGeom>
          <a:noFill/>
          <a:ln/>
        </p:spPr>
        <p:txBody>
          <a:bodyPr wrap="square" rtlCol="0" anchor="ctr"/>
          <a:lstStyle/>
          <a:p>
            <a:pPr indent="0" marL="0">
              <a:buNone/>
            </a:pPr>
            <a:r>
              <a:rPr lang="en-US" sz="700" u="sng" dirty="0">
                <a:solidFill>
                  <a:srgbClr val="D4A84B"/>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 Read article</a:t>
            </a:r>
            <a:endParaRPr lang="en-US" sz="700" dirty="0"/>
          </a:p>
        </p:txBody>
      </p:sp>
      <p:sp>
        <p:nvSpPr>
          <p:cNvPr id="58" name="Shape 56"/>
          <p:cNvSpPr/>
          <p:nvPr/>
        </p:nvSpPr>
        <p:spPr>
          <a:xfrm>
            <a:off x="6236208" y="3639312"/>
            <a:ext cx="2816352" cy="1060704"/>
          </a:xfrm>
          <a:prstGeom prst="rect">
            <a:avLst/>
          </a:prstGeom>
          <a:solidFill>
            <a:srgbClr val="7A3B53"/>
          </a:solidFill>
          <a:ln w="12700">
            <a:solidFill>
              <a:srgbClr val="7A3B53"/>
            </a:solidFill>
            <a:prstDash val="solid"/>
          </a:ln>
        </p:spPr>
      </p:sp>
      <p:sp>
        <p:nvSpPr>
          <p:cNvPr id="59" name="Shape 57"/>
          <p:cNvSpPr/>
          <p:nvPr/>
        </p:nvSpPr>
        <p:spPr>
          <a:xfrm>
            <a:off x="6236208" y="3639312"/>
            <a:ext cx="2816352" cy="54864"/>
          </a:xfrm>
          <a:prstGeom prst="rect">
            <a:avLst/>
          </a:prstGeom>
          <a:solidFill>
            <a:srgbClr val="B8923A"/>
          </a:solidFill>
          <a:ln w="12700">
            <a:solidFill>
              <a:srgbClr val="B8923A"/>
            </a:solidFill>
            <a:prstDash val="solid"/>
          </a:ln>
        </p:spPr>
      </p:sp>
      <p:sp>
        <p:nvSpPr>
          <p:cNvPr id="60" name="Text 58"/>
          <p:cNvSpPr/>
          <p:nvPr/>
        </p:nvSpPr>
        <p:spPr>
          <a:xfrm>
            <a:off x="6345936" y="3749040"/>
            <a:ext cx="2596896" cy="182880"/>
          </a:xfrm>
          <a:prstGeom prst="rect">
            <a:avLst/>
          </a:prstGeom>
          <a:noFill/>
          <a:ln/>
        </p:spPr>
        <p:txBody>
          <a:bodyPr wrap="square" rtlCol="0" anchor="t"/>
          <a:lstStyle/>
          <a:p>
            <a:pPr algn="l" indent="0" marL="0">
              <a:buNone/>
            </a:pPr>
            <a:r>
              <a:rPr lang="en-US" sz="650" b="1" spc="150" kern="0" dirty="0">
                <a:solidFill>
                  <a:srgbClr val="B8923A"/>
                </a:solidFill>
                <a:latin typeface="Calibri" pitchFamily="34" charset="0"/>
                <a:ea typeface="Calibri" pitchFamily="34" charset="-122"/>
                <a:cs typeface="Calibri" pitchFamily="34" charset="-120"/>
              </a:rPr>
              <a:t>THE REDRICK GAZETTE</a:t>
            </a:r>
            <a:endParaRPr lang="en-US" sz="650" dirty="0"/>
          </a:p>
        </p:txBody>
      </p:sp>
      <p:sp>
        <p:nvSpPr>
          <p:cNvPr id="61" name="Text 59"/>
          <p:cNvSpPr/>
          <p:nvPr/>
        </p:nvSpPr>
        <p:spPr>
          <a:xfrm>
            <a:off x="6345936" y="3931920"/>
            <a:ext cx="2596896" cy="237744"/>
          </a:xfrm>
          <a:prstGeom prst="rect">
            <a:avLst/>
          </a:prstGeom>
          <a:noFill/>
          <a:ln/>
        </p:spPr>
        <p:txBody>
          <a:bodyPr wrap="square" rtlCol="0" anchor="t"/>
          <a:lstStyle/>
          <a:p>
            <a:pPr algn="l" indent="0" marL="0">
              <a:buNone/>
            </a:pPr>
            <a:r>
              <a:rPr lang="en-US" sz="950" b="1" dirty="0">
                <a:solidFill>
                  <a:srgbClr val="F5EFE0"/>
                </a:solidFill>
                <a:latin typeface="Calibri" pitchFamily="34" charset="0"/>
                <a:ea typeface="Calibri" pitchFamily="34" charset="-122"/>
                <a:cs typeface="Calibri" pitchFamily="34" charset="-120"/>
              </a:rPr>
              <a:t>Published Article</a:t>
            </a:r>
            <a:endParaRPr lang="en-US" sz="950" dirty="0"/>
          </a:p>
        </p:txBody>
      </p:sp>
      <p:sp>
        <p:nvSpPr>
          <p:cNvPr id="62" name="Text 60"/>
          <p:cNvSpPr/>
          <p:nvPr/>
        </p:nvSpPr>
        <p:spPr>
          <a:xfrm>
            <a:off x="6345936" y="4187952"/>
            <a:ext cx="2596896" cy="347472"/>
          </a:xfrm>
          <a:prstGeom prst="rect">
            <a:avLst/>
          </a:prstGeom>
          <a:noFill/>
          <a:ln/>
        </p:spPr>
        <p:txBody>
          <a:bodyPr wrap="square" rtlCol="0" anchor="t"/>
          <a:lstStyle/>
          <a:p>
            <a:pPr algn="l" indent="0" marL="0">
              <a:buNone/>
            </a:pPr>
            <a:r>
              <a:rPr lang="en-US" sz="750" dirty="0">
                <a:solidFill>
                  <a:srgbClr val="E0D4BC"/>
                </a:solidFill>
                <a:latin typeface="Calibri" pitchFamily="34" charset="0"/>
                <a:ea typeface="Calibri" pitchFamily="34" charset="-122"/>
                <a:cs typeface="Calibri" pitchFamily="34" charset="-120"/>
              </a:rPr>
              <a:t>'Why Is Everyone Obsessed With Gen Z's?' — bylined Medium piece.</a:t>
            </a:r>
            <a:endParaRPr lang="en-US" sz="750" dirty="0"/>
          </a:p>
        </p:txBody>
      </p:sp>
      <p:sp>
        <p:nvSpPr>
          <p:cNvPr id="63" name="Text 61">
            <a:hlinkClick r:id="rId9" tooltip=""/>
          </p:cNvPr>
          <p:cNvSpPr/>
          <p:nvPr/>
        </p:nvSpPr>
        <p:spPr>
          <a:xfrm>
            <a:off x="6345936" y="4553712"/>
            <a:ext cx="2596896" cy="146304"/>
          </a:xfrm>
          <a:prstGeom prst="rect">
            <a:avLst/>
          </a:prstGeom>
          <a:noFill/>
          <a:ln/>
        </p:spPr>
        <p:txBody>
          <a:bodyPr wrap="square" rtlCol="0" anchor="ctr"/>
          <a:lstStyle/>
          <a:p>
            <a:pPr indent="0" marL="0">
              <a:buNone/>
            </a:pPr>
            <a:r>
              <a:rPr lang="en-US" sz="700" u="sng" dirty="0">
                <a:solidFill>
                  <a:srgbClr val="D4A84B"/>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 Read article</a:t>
            </a:r>
            <a:endParaRPr lang="en-US" sz="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00810"/>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B8923A"/>
          </a:solidFill>
          <a:ln w="12700">
            <a:solidFill>
              <a:srgbClr val="B8923A"/>
            </a:solidFill>
            <a:prstDash val="solid"/>
          </a:ln>
        </p:spPr>
      </p:sp>
      <p:sp>
        <p:nvSpPr>
          <p:cNvPr id="3" name="Shape 1"/>
          <p:cNvSpPr/>
          <p:nvPr/>
        </p:nvSpPr>
        <p:spPr>
          <a:xfrm>
            <a:off x="0" y="0"/>
            <a:ext cx="4754880" cy="5143500"/>
          </a:xfrm>
          <a:prstGeom prst="rect">
            <a:avLst/>
          </a:prstGeom>
          <a:solidFill>
            <a:srgbClr val="7A3B53"/>
          </a:solidFill>
          <a:ln w="12700">
            <a:solidFill>
              <a:srgbClr val="7A3B53"/>
            </a:solidFill>
            <a:prstDash val="solid"/>
          </a:ln>
        </p:spPr>
      </p:sp>
      <p:sp>
        <p:nvSpPr>
          <p:cNvPr id="4" name="Shape 2"/>
          <p:cNvSpPr/>
          <p:nvPr/>
        </p:nvSpPr>
        <p:spPr>
          <a:xfrm>
            <a:off x="-731520" y="-731520"/>
            <a:ext cx="3200400" cy="3200400"/>
          </a:xfrm>
          <a:prstGeom prst="ellipse">
            <a:avLst/>
          </a:prstGeom>
          <a:solidFill>
            <a:srgbClr val="9E4F6B">
              <a:alpha val="30000"/>
            </a:srgbClr>
          </a:solidFill>
          <a:ln w="12700">
            <a:solidFill>
              <a:srgbClr val="9E4F6B">
                <a:alpha val="30000"/>
              </a:srgbClr>
            </a:solidFill>
            <a:prstDash val="solid"/>
          </a:ln>
        </p:spPr>
      </p:sp>
      <p:sp>
        <p:nvSpPr>
          <p:cNvPr id="5" name="Shape 3"/>
          <p:cNvSpPr/>
          <p:nvPr/>
        </p:nvSpPr>
        <p:spPr>
          <a:xfrm>
            <a:off x="2286000" y="3474720"/>
            <a:ext cx="3657600" cy="3657600"/>
          </a:xfrm>
          <a:prstGeom prst="ellipse">
            <a:avLst/>
          </a:prstGeom>
          <a:solidFill>
            <a:srgbClr val="9E4F6B">
              <a:alpha val="35000"/>
            </a:srgbClr>
          </a:solidFill>
          <a:ln w="12700">
            <a:solidFill>
              <a:srgbClr val="9E4F6B">
                <a:alpha val="35000"/>
              </a:srgbClr>
            </a:solidFill>
            <a:prstDash val="solid"/>
          </a:ln>
        </p:spPr>
      </p:sp>
      <p:sp>
        <p:nvSpPr>
          <p:cNvPr id="6" name="Shape 4"/>
          <p:cNvSpPr/>
          <p:nvPr/>
        </p:nvSpPr>
        <p:spPr>
          <a:xfrm>
            <a:off x="6858000" y="3200400"/>
            <a:ext cx="3200400" cy="3200400"/>
          </a:xfrm>
          <a:prstGeom prst="ellipse">
            <a:avLst/>
          </a:prstGeom>
          <a:solidFill>
            <a:srgbClr val="1A0810">
              <a:alpha val="40000"/>
            </a:srgbClr>
          </a:solidFill>
          <a:ln w="12700">
            <a:solidFill>
              <a:srgbClr val="1A0810">
                <a:alpha val="40000"/>
              </a:srgbClr>
            </a:solidFill>
            <a:prstDash val="solid"/>
          </a:ln>
        </p:spPr>
      </p:sp>
      <p:pic>
        <p:nvPicPr>
          <p:cNvPr id="7" name="Image 0" descr="preencoded.png">    </p:cNvPr>
          <p:cNvPicPr>
            <a:picLocks noChangeAspect="1"/>
          </p:cNvPicPr>
          <p:nvPr/>
        </p:nvPicPr>
        <p:blipFill>
          <a:blip r:embed="rId1"/>
          <a:stretch>
            <a:fillRect/>
          </a:stretch>
        </p:blipFill>
        <p:spPr>
          <a:xfrm>
            <a:off x="548640" y="411480"/>
            <a:ext cx="2926080" cy="932688"/>
          </a:xfrm>
          <a:prstGeom prst="rect">
            <a:avLst/>
          </a:prstGeom>
        </p:spPr>
      </p:pic>
      <p:sp>
        <p:nvSpPr>
          <p:cNvPr id="8" name="Text 5"/>
          <p:cNvSpPr/>
          <p:nvPr/>
        </p:nvSpPr>
        <p:spPr>
          <a:xfrm>
            <a:off x="548640" y="1463040"/>
            <a:ext cx="3566160" cy="292608"/>
          </a:xfrm>
          <a:prstGeom prst="rect">
            <a:avLst/>
          </a:prstGeom>
          <a:noFill/>
          <a:ln/>
        </p:spPr>
        <p:txBody>
          <a:bodyPr wrap="square" rtlCol="0" anchor="t"/>
          <a:lstStyle/>
          <a:p>
            <a:pPr algn="ctr" indent="0" marL="0">
              <a:buNone/>
            </a:pPr>
            <a:r>
              <a:rPr lang="en-US" sz="1000" i="1" dirty="0">
                <a:solidFill>
                  <a:srgbClr val="E0D4BC"/>
                </a:solidFill>
                <a:latin typeface="Georgia" pitchFamily="34" charset="0"/>
                <a:ea typeface="Georgia" pitchFamily="34" charset="-122"/>
                <a:cs typeface="Georgia" pitchFamily="34" charset="-120"/>
              </a:rPr>
              <a:t>Perception is Different</a:t>
            </a:r>
            <a:endParaRPr lang="en-US" sz="1000" dirty="0"/>
          </a:p>
        </p:txBody>
      </p:sp>
      <p:sp>
        <p:nvSpPr>
          <p:cNvPr id="9" name="Shape 6"/>
          <p:cNvSpPr/>
          <p:nvPr/>
        </p:nvSpPr>
        <p:spPr>
          <a:xfrm>
            <a:off x="914400" y="1828800"/>
            <a:ext cx="2926080" cy="0"/>
          </a:xfrm>
          <a:prstGeom prst="line">
            <a:avLst/>
          </a:prstGeom>
          <a:noFill/>
          <a:ln w="5080">
            <a:solidFill>
              <a:srgbClr val="E0D4BC"/>
            </a:solidFill>
            <a:prstDash val="solid"/>
          </a:ln>
        </p:spPr>
      </p:sp>
      <p:sp>
        <p:nvSpPr>
          <p:cNvPr id="10" name="Text 7"/>
          <p:cNvSpPr/>
          <p:nvPr/>
        </p:nvSpPr>
        <p:spPr>
          <a:xfrm>
            <a:off x="365760" y="1993392"/>
            <a:ext cx="4023360" cy="868680"/>
          </a:xfrm>
          <a:prstGeom prst="rect">
            <a:avLst/>
          </a:prstGeom>
          <a:noFill/>
          <a:ln/>
        </p:spPr>
        <p:txBody>
          <a:bodyPr wrap="square" rtlCol="0" anchor="t"/>
          <a:lstStyle/>
          <a:p>
            <a:pPr algn="ctr" indent="0" marL="0">
              <a:buNone/>
            </a:pPr>
            <a:r>
              <a:rPr lang="en-US" sz="2000" i="1" dirty="0">
                <a:solidFill>
                  <a:srgbClr val="F5EFE0"/>
                </a:solidFill>
                <a:latin typeface="Georgia" pitchFamily="34" charset="0"/>
                <a:ea typeface="Georgia" pitchFamily="34" charset="-122"/>
                <a:cs typeface="Georgia" pitchFamily="34" charset="-120"/>
              </a:rPr>
              <a:t>Let's build something</a:t>
            </a:r>
            <a:endParaRPr lang="en-US" sz="2000" dirty="0"/>
          </a:p>
          <a:p>
            <a:pPr algn="ctr" indent="0" marL="0">
              <a:buNone/>
            </a:pPr>
            <a:r>
              <a:rPr lang="en-US" sz="2000" i="1" dirty="0">
                <a:solidFill>
                  <a:srgbClr val="F5EFE0"/>
                </a:solidFill>
                <a:latin typeface="Georgia" pitchFamily="34" charset="0"/>
                <a:ea typeface="Georgia" pitchFamily="34" charset="-122"/>
                <a:cs typeface="Georgia" pitchFamily="34" charset="-120"/>
              </a:rPr>
              <a:t>that shifts perception.</a:t>
            </a:r>
            <a:endParaRPr lang="en-US" sz="2000" dirty="0"/>
          </a:p>
        </p:txBody>
      </p:sp>
      <p:sp>
        <p:nvSpPr>
          <p:cNvPr id="11" name="Text 8"/>
          <p:cNvSpPr/>
          <p:nvPr/>
        </p:nvSpPr>
        <p:spPr>
          <a:xfrm>
            <a:off x="5029200" y="640080"/>
            <a:ext cx="3840480" cy="960120"/>
          </a:xfrm>
          <a:prstGeom prst="rect">
            <a:avLst/>
          </a:prstGeom>
          <a:noFill/>
          <a:ln/>
        </p:spPr>
        <p:txBody>
          <a:bodyPr wrap="square" rtlCol="0" anchor="t"/>
          <a:lstStyle/>
          <a:p>
            <a:pPr algn="l" indent="0" marL="0">
              <a:buNone/>
            </a:pPr>
            <a:r>
              <a:rPr lang="en-US" sz="3600" i="1" dirty="0">
                <a:solidFill>
                  <a:srgbClr val="F5EFE0"/>
                </a:solidFill>
                <a:latin typeface="Georgia" pitchFamily="34" charset="0"/>
                <a:ea typeface="Georgia" pitchFamily="34" charset="-122"/>
                <a:cs typeface="Georgia" pitchFamily="34" charset="-120"/>
              </a:rPr>
              <a:t>Get In</a:t>
            </a:r>
            <a:endParaRPr lang="en-US" sz="3600" dirty="0"/>
          </a:p>
          <a:p>
            <a:pPr algn="l" indent="0" marL="0">
              <a:buNone/>
            </a:pPr>
            <a:r>
              <a:rPr lang="en-US" sz="3600" i="1" dirty="0">
                <a:solidFill>
                  <a:srgbClr val="F5EFE0"/>
                </a:solidFill>
                <a:latin typeface="Georgia" pitchFamily="34" charset="0"/>
                <a:ea typeface="Georgia" pitchFamily="34" charset="-122"/>
                <a:cs typeface="Georgia" pitchFamily="34" charset="-120"/>
              </a:rPr>
              <a:t>Touch</a:t>
            </a:r>
            <a:endParaRPr lang="en-US" sz="3600" dirty="0"/>
          </a:p>
        </p:txBody>
      </p:sp>
      <p:sp>
        <p:nvSpPr>
          <p:cNvPr id="12" name="Shape 9"/>
          <p:cNvSpPr/>
          <p:nvPr/>
        </p:nvSpPr>
        <p:spPr>
          <a:xfrm>
            <a:off x="5029200" y="1691640"/>
            <a:ext cx="3840480" cy="0"/>
          </a:xfrm>
          <a:prstGeom prst="line">
            <a:avLst/>
          </a:prstGeom>
          <a:noFill/>
          <a:ln w="15240">
            <a:solidFill>
              <a:srgbClr val="B8923A"/>
            </a:solidFill>
            <a:prstDash val="solid"/>
          </a:ln>
        </p:spPr>
      </p:sp>
      <p:sp>
        <p:nvSpPr>
          <p:cNvPr id="13" name="Text 10"/>
          <p:cNvSpPr/>
          <p:nvPr/>
        </p:nvSpPr>
        <p:spPr>
          <a:xfrm>
            <a:off x="5029200" y="1828800"/>
            <a:ext cx="3840480" cy="237744"/>
          </a:xfrm>
          <a:prstGeom prst="rect">
            <a:avLst/>
          </a:prstGeom>
          <a:noFill/>
          <a:ln/>
        </p:spPr>
        <p:txBody>
          <a:bodyPr wrap="square" rtlCol="0" anchor="t"/>
          <a:lstStyle/>
          <a:p>
            <a:pPr algn="l" indent="0" marL="0">
              <a:buNone/>
            </a:pPr>
            <a:r>
              <a:rPr lang="en-US" sz="1300" b="1" dirty="0">
                <a:solidFill>
                  <a:srgbClr val="F5EFE0"/>
                </a:solidFill>
                <a:latin typeface="Calibri" pitchFamily="34" charset="0"/>
                <a:ea typeface="Calibri" pitchFamily="34" charset="-122"/>
                <a:cs typeface="Calibri" pitchFamily="34" charset="-120"/>
              </a:rPr>
              <a:t>Onyeka Nwonah</a:t>
            </a:r>
            <a:endParaRPr lang="en-US" sz="1300" dirty="0"/>
          </a:p>
        </p:txBody>
      </p:sp>
      <p:sp>
        <p:nvSpPr>
          <p:cNvPr id="14" name="Text 11"/>
          <p:cNvSpPr/>
          <p:nvPr/>
        </p:nvSpPr>
        <p:spPr>
          <a:xfrm>
            <a:off x="5029200" y="2322576"/>
            <a:ext cx="3840480" cy="237744"/>
          </a:xfrm>
          <a:prstGeom prst="rect">
            <a:avLst/>
          </a:prstGeom>
          <a:noFill/>
          <a:ln/>
        </p:spPr>
        <p:txBody>
          <a:bodyPr wrap="square" rtlCol="0" anchor="t"/>
          <a:lstStyle/>
          <a:p>
            <a:pPr algn="l" indent="0" marL="0">
              <a:buNone/>
            </a:pPr>
            <a:r>
              <a:rPr lang="en-US" sz="1000" dirty="0">
                <a:solidFill>
                  <a:srgbClr val="D4A84B"/>
                </a:solidFill>
                <a:latin typeface="Calibri" pitchFamily="34" charset="0"/>
                <a:ea typeface="Calibri" pitchFamily="34" charset="-122"/>
                <a:cs typeface="Calibri" pitchFamily="34" charset="-120"/>
              </a:rPr>
              <a:t>Founder &amp; CEO, marktn PR</a:t>
            </a:r>
            <a:endParaRPr lang="en-US" sz="1000" dirty="0"/>
          </a:p>
        </p:txBody>
      </p:sp>
      <p:sp>
        <p:nvSpPr>
          <p:cNvPr id="15" name="Text 12"/>
          <p:cNvSpPr/>
          <p:nvPr/>
        </p:nvSpPr>
        <p:spPr>
          <a:xfrm>
            <a:off x="5029200" y="2816352"/>
            <a:ext cx="3840480" cy="237744"/>
          </a:xfrm>
          <a:prstGeom prst="rect">
            <a:avLst/>
          </a:prstGeom>
          <a:noFill/>
          <a:ln/>
        </p:spPr>
        <p:txBody>
          <a:bodyPr wrap="square" rtlCol="0" anchor="t"/>
          <a:lstStyle/>
          <a:p>
            <a:pPr algn="l" indent="0" marL="0">
              <a:buNone/>
            </a:pPr>
            <a:r>
              <a:rPr lang="en-US" sz="900" dirty="0">
                <a:solidFill>
                  <a:srgbClr val="8A7A82"/>
                </a:solidFill>
                <a:latin typeface="Calibri" pitchFamily="34" charset="0"/>
                <a:ea typeface="Calibri" pitchFamily="34" charset="-122"/>
                <a:cs typeface="Calibri" pitchFamily="34" charset="-120"/>
              </a:rPr>
              <a:t>Onyekachukwunwonah@gmail.com</a:t>
            </a:r>
            <a:endParaRPr lang="en-US" sz="900" dirty="0"/>
          </a:p>
        </p:txBody>
      </p:sp>
      <p:sp>
        <p:nvSpPr>
          <p:cNvPr id="16" name="Text 13"/>
          <p:cNvSpPr/>
          <p:nvPr/>
        </p:nvSpPr>
        <p:spPr>
          <a:xfrm>
            <a:off x="5029200" y="3310128"/>
            <a:ext cx="3840480" cy="237744"/>
          </a:xfrm>
          <a:prstGeom prst="rect">
            <a:avLst/>
          </a:prstGeom>
          <a:noFill/>
          <a:ln/>
        </p:spPr>
        <p:txBody>
          <a:bodyPr wrap="square" rtlCol="0" anchor="t"/>
          <a:lstStyle/>
          <a:p>
            <a:pPr algn="l" indent="0" marL="0">
              <a:buNone/>
            </a:pPr>
            <a:r>
              <a:rPr lang="en-US" sz="900" dirty="0">
                <a:solidFill>
                  <a:srgbClr val="8A7A82"/>
                </a:solidFill>
                <a:latin typeface="Calibri" pitchFamily="34" charset="0"/>
                <a:ea typeface="Calibri" pitchFamily="34" charset="-122"/>
                <a:cs typeface="Calibri" pitchFamily="34" charset="-120"/>
              </a:rPr>
              <a:t>+234 815 750 1696</a:t>
            </a:r>
            <a:endParaRPr lang="en-US" sz="900" dirty="0"/>
          </a:p>
        </p:txBody>
      </p:sp>
      <p:sp>
        <p:nvSpPr>
          <p:cNvPr id="17" name="Text 14"/>
          <p:cNvSpPr/>
          <p:nvPr/>
        </p:nvSpPr>
        <p:spPr>
          <a:xfrm>
            <a:off x="5029200" y="3803904"/>
            <a:ext cx="3840480" cy="237744"/>
          </a:xfrm>
          <a:prstGeom prst="rect">
            <a:avLst/>
          </a:prstGeom>
          <a:noFill/>
          <a:ln/>
        </p:spPr>
        <p:txBody>
          <a:bodyPr wrap="square" rtlCol="0" anchor="t"/>
          <a:lstStyle/>
          <a:p>
            <a:pPr algn="l" indent="0" marL="0">
              <a:buNone/>
            </a:pPr>
            <a:r>
              <a:rPr lang="en-US" sz="900" dirty="0">
                <a:solidFill>
                  <a:srgbClr val="8A7A82"/>
                </a:solidFill>
                <a:latin typeface="Calibri" pitchFamily="34" charset="0"/>
                <a:ea typeface="Calibri" pitchFamily="34" charset="-122"/>
                <a:cs typeface="Calibri" pitchFamily="34" charset="-120"/>
              </a:rPr>
              <a:t>linkedin.com/in/onyekachukwu-nwonah-2166a023a</a:t>
            </a:r>
            <a:endParaRPr lang="en-US" sz="900" dirty="0"/>
          </a:p>
        </p:txBody>
      </p:sp>
      <p:sp>
        <p:nvSpPr>
          <p:cNvPr id="18" name="Shape 15"/>
          <p:cNvSpPr/>
          <p:nvPr/>
        </p:nvSpPr>
        <p:spPr>
          <a:xfrm>
            <a:off x="5029200" y="4434840"/>
            <a:ext cx="3840480" cy="365760"/>
          </a:xfrm>
          <a:prstGeom prst="rect">
            <a:avLst/>
          </a:prstGeom>
          <a:solidFill>
            <a:srgbClr val="9E4F6B"/>
          </a:solidFill>
          <a:ln w="12700">
            <a:solidFill>
              <a:srgbClr val="9E4F6B"/>
            </a:solidFill>
            <a:prstDash val="solid"/>
          </a:ln>
        </p:spPr>
      </p:sp>
      <p:sp>
        <p:nvSpPr>
          <p:cNvPr id="19" name="Text 16"/>
          <p:cNvSpPr/>
          <p:nvPr/>
        </p:nvSpPr>
        <p:spPr>
          <a:xfrm>
            <a:off x="5029200" y="4434840"/>
            <a:ext cx="3840480" cy="365760"/>
          </a:xfrm>
          <a:prstGeom prst="rect">
            <a:avLst/>
          </a:prstGeom>
          <a:noFill/>
          <a:ln/>
        </p:spPr>
        <p:txBody>
          <a:bodyPr wrap="square" rtlCol="0" anchor="ctr"/>
          <a:lstStyle/>
          <a:p>
            <a:pPr algn="ctr" indent="0" marL="0">
              <a:buNone/>
            </a:pPr>
            <a:r>
              <a:rPr lang="en-US" sz="750" spc="100" kern="0" dirty="0">
                <a:solidFill>
                  <a:srgbClr val="E0D4BC"/>
                </a:solidFill>
                <a:latin typeface="Calibri" pitchFamily="34" charset="0"/>
                <a:ea typeface="Calibri" pitchFamily="34" charset="-122"/>
                <a:cs typeface="Calibri" pitchFamily="34" charset="-120"/>
              </a:rPr>
              <a:t>marktn PR  ·  Lagos, Nigeria  ·  2026  ·  Perception is Different</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Onyeka Nwonah — marktn PR</dc:title>
  <dc:subject>PptxGenJS Presentation</dc:subject>
  <dc:creator>PptxGenJS</dc:creator>
  <cp:lastModifiedBy>PptxGenJS</cp:lastModifiedBy>
  <cp:revision>1</cp:revision>
  <dcterms:created xsi:type="dcterms:W3CDTF">2026-05-16T22:13:14Z</dcterms:created>
  <dcterms:modified xsi:type="dcterms:W3CDTF">2026-05-16T22:13:14Z</dcterms:modified>
</cp:coreProperties>
</file>